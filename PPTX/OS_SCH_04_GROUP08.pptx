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sldIdLst>
    <p:sldId id="256" r:id="rId2"/>
    <p:sldId id="257" r:id="rId3"/>
    <p:sldId id="267" r:id="rId4"/>
    <p:sldId id="268" r:id="rId5"/>
    <p:sldId id="269" r:id="rId6"/>
    <p:sldId id="271" r:id="rId7"/>
    <p:sldId id="270" r:id="rId8"/>
    <p:sldId id="272" r:id="rId9"/>
    <p:sldId id="273" r:id="rId10"/>
    <p:sldId id="274" r:id="rId11"/>
    <p:sldId id="275" r:id="rId12"/>
    <p:sldId id="276" r:id="rId13"/>
    <p:sldId id="278" r:id="rId14"/>
    <p:sldId id="277" r:id="rId15"/>
    <p:sldId id="279" r:id="rId16"/>
    <p:sldId id="280" r:id="rId17"/>
    <p:sldId id="281" r:id="rId18"/>
    <p:sldId id="282" r:id="rId19"/>
    <p:sldId id="284" r:id="rId20"/>
    <p:sldId id="283" r:id="rId21"/>
    <p:sldId id="285" r:id="rId22"/>
    <p:sldId id="286" r:id="rId23"/>
  </p:sldIdLst>
  <p:sldSz cx="12192000" cy="6858000"/>
  <p:notesSz cx="6858000" cy="9144000"/>
  <p:defaultTextStyle>
    <a:defPPr>
      <a:defRPr lang="en-US"/>
    </a:defPPr>
    <a:lvl1pPr marL="0" algn="l" defTabSz="914218" rtl="0" eaLnBrk="1" latinLnBrk="0" hangingPunct="1">
      <a:defRPr sz="1800" kern="1200">
        <a:solidFill>
          <a:schemeClr val="tx1"/>
        </a:solidFill>
        <a:latin typeface="+mn-lt"/>
        <a:ea typeface="+mn-ea"/>
        <a:cs typeface="+mn-cs"/>
      </a:defRPr>
    </a:lvl1pPr>
    <a:lvl2pPr marL="457108" algn="l" defTabSz="914218" rtl="0" eaLnBrk="1" latinLnBrk="0" hangingPunct="1">
      <a:defRPr sz="1800" kern="1200">
        <a:solidFill>
          <a:schemeClr val="tx1"/>
        </a:solidFill>
        <a:latin typeface="+mn-lt"/>
        <a:ea typeface="+mn-ea"/>
        <a:cs typeface="+mn-cs"/>
      </a:defRPr>
    </a:lvl2pPr>
    <a:lvl3pPr marL="914218" algn="l" defTabSz="914218" rtl="0" eaLnBrk="1" latinLnBrk="0" hangingPunct="1">
      <a:defRPr sz="1800" kern="1200">
        <a:solidFill>
          <a:schemeClr val="tx1"/>
        </a:solidFill>
        <a:latin typeface="+mn-lt"/>
        <a:ea typeface="+mn-ea"/>
        <a:cs typeface="+mn-cs"/>
      </a:defRPr>
    </a:lvl3pPr>
    <a:lvl4pPr marL="1371326" algn="l" defTabSz="914218" rtl="0" eaLnBrk="1" latinLnBrk="0" hangingPunct="1">
      <a:defRPr sz="1800" kern="1200">
        <a:solidFill>
          <a:schemeClr val="tx1"/>
        </a:solidFill>
        <a:latin typeface="+mn-lt"/>
        <a:ea typeface="+mn-ea"/>
        <a:cs typeface="+mn-cs"/>
      </a:defRPr>
    </a:lvl4pPr>
    <a:lvl5pPr marL="1828434" algn="l" defTabSz="914218" rtl="0" eaLnBrk="1" latinLnBrk="0" hangingPunct="1">
      <a:defRPr sz="1800" kern="1200">
        <a:solidFill>
          <a:schemeClr val="tx1"/>
        </a:solidFill>
        <a:latin typeface="+mn-lt"/>
        <a:ea typeface="+mn-ea"/>
        <a:cs typeface="+mn-cs"/>
      </a:defRPr>
    </a:lvl5pPr>
    <a:lvl6pPr marL="2285543" algn="l" defTabSz="914218" rtl="0" eaLnBrk="1" latinLnBrk="0" hangingPunct="1">
      <a:defRPr sz="1800" kern="1200">
        <a:solidFill>
          <a:schemeClr val="tx1"/>
        </a:solidFill>
        <a:latin typeface="+mn-lt"/>
        <a:ea typeface="+mn-ea"/>
        <a:cs typeface="+mn-cs"/>
      </a:defRPr>
    </a:lvl6pPr>
    <a:lvl7pPr marL="2742652" algn="l" defTabSz="914218" rtl="0" eaLnBrk="1" latinLnBrk="0" hangingPunct="1">
      <a:defRPr sz="1800" kern="1200">
        <a:solidFill>
          <a:schemeClr val="tx1"/>
        </a:solidFill>
        <a:latin typeface="+mn-lt"/>
        <a:ea typeface="+mn-ea"/>
        <a:cs typeface="+mn-cs"/>
      </a:defRPr>
    </a:lvl7pPr>
    <a:lvl8pPr marL="3199760" algn="l" defTabSz="914218" rtl="0" eaLnBrk="1" latinLnBrk="0" hangingPunct="1">
      <a:defRPr sz="1800" kern="1200">
        <a:solidFill>
          <a:schemeClr val="tx1"/>
        </a:solidFill>
        <a:latin typeface="+mn-lt"/>
        <a:ea typeface="+mn-ea"/>
        <a:cs typeface="+mn-cs"/>
      </a:defRPr>
    </a:lvl8pPr>
    <a:lvl9pPr marL="3656868" algn="l" defTabSz="91421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4800">
                <a:solidFill>
                  <a:srgbClr val="C00000"/>
                </a:solidFill>
                <a:latin typeface="Segoe UI Black" panose="020B0A02040204020203" pitchFamily="34" charset="0"/>
                <a:ea typeface="Segoe UI Black" panose="020B0A02040204020203" pitchFamily="34" charset="0"/>
              </a:defRPr>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rgbClr val="008080"/>
                </a:solidFill>
                <a:latin typeface="Segoe UI Black" panose="020B0A02040204020203" pitchFamily="34" charset="0"/>
                <a:ea typeface="Segoe UI Black" panose="020B0A02040204020203" pitchFamily="34" charset="0"/>
              </a:defRPr>
            </a:lvl1pPr>
            <a:lvl2pPr marL="457246" indent="0" algn="ctr">
              <a:buNone/>
              <a:defRPr sz="2000"/>
            </a:lvl2pPr>
            <a:lvl3pPr marL="914492" indent="0" algn="ctr">
              <a:buNone/>
              <a:defRPr sz="1800"/>
            </a:lvl3pPr>
            <a:lvl4pPr marL="1371738" indent="0" algn="ctr">
              <a:buNone/>
              <a:defRPr sz="1600"/>
            </a:lvl4pPr>
            <a:lvl5pPr marL="1828983" indent="0" algn="ctr">
              <a:buNone/>
              <a:defRPr sz="1600"/>
            </a:lvl5pPr>
            <a:lvl6pPr marL="2286228" indent="0" algn="ctr">
              <a:buNone/>
              <a:defRPr sz="1600"/>
            </a:lvl6pPr>
            <a:lvl7pPr marL="2743475" indent="0" algn="ctr">
              <a:buNone/>
              <a:defRPr sz="1600"/>
            </a:lvl7pPr>
            <a:lvl8pPr marL="3200720" indent="0" algn="ctr">
              <a:buNone/>
              <a:defRPr sz="1600"/>
            </a:lvl8pPr>
            <a:lvl9pPr marL="3657966"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A3340687-F0A6-4844-9D0E-4A71047B582E}" type="datetime1">
              <a:rPr lang="en-GB" smtClean="0"/>
              <a:t>14/04/2026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2069007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5848B"/>
                </a:solidFill>
              </a:defRPr>
            </a:lvl1pPr>
          </a:lstStyle>
          <a:p>
            <a:r>
              <a:rPr lang="en-US"/>
              <a:t>Click to edit Master title style</a:t>
            </a:r>
            <a:endParaRPr lang="en-GB"/>
          </a:p>
        </p:txBody>
      </p:sp>
      <p:sp>
        <p:nvSpPr>
          <p:cNvPr id="3" name="Content Placeholder 2"/>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solidFill>
                  <a:schemeClr val="bg1"/>
                </a:solidFill>
              </a:defRPr>
            </a:lvl1pPr>
          </a:lstStyle>
          <a:p>
            <a:fld id="{19E0BBC2-331D-455A-8F34-6CACAAA7B272}" type="datetime1">
              <a:rPr lang="en-GB" smtClean="0"/>
              <a:pPr/>
              <a:t>14/04/2026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A3D6EC1-CEF0-44B9-AC69-1554EEB371D5}" type="slidenum">
              <a:rPr lang="en-GB" smtClean="0"/>
              <a:pPr/>
              <a:t>‹#›</a:t>
            </a:fld>
            <a:endParaRPr lang="en-GB"/>
          </a:p>
        </p:txBody>
      </p:sp>
    </p:spTree>
    <p:extLst>
      <p:ext uri="{BB962C8B-B14F-4D97-AF65-F5344CB8AC3E}">
        <p14:creationId xmlns:p14="http://schemas.microsoft.com/office/powerpoint/2010/main" val="4264427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42"/>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7"/>
            <a:ext cx="10515600" cy="1500187"/>
          </a:xfrm>
        </p:spPr>
        <p:txBody>
          <a:bodyPr/>
          <a:lstStyle>
            <a:lvl1pPr marL="0" indent="0">
              <a:buNone/>
              <a:defRPr sz="2400">
                <a:solidFill>
                  <a:schemeClr val="tx1">
                    <a:tint val="75000"/>
                  </a:schemeClr>
                </a:solidFill>
              </a:defRPr>
            </a:lvl1pPr>
            <a:lvl2pPr marL="457246" indent="0">
              <a:buNone/>
              <a:defRPr sz="2000">
                <a:solidFill>
                  <a:schemeClr val="tx1">
                    <a:tint val="75000"/>
                  </a:schemeClr>
                </a:solidFill>
              </a:defRPr>
            </a:lvl2pPr>
            <a:lvl3pPr marL="914492" indent="0">
              <a:buNone/>
              <a:defRPr sz="1800">
                <a:solidFill>
                  <a:schemeClr val="tx1">
                    <a:tint val="75000"/>
                  </a:schemeClr>
                </a:solidFill>
              </a:defRPr>
            </a:lvl3pPr>
            <a:lvl4pPr marL="1371738" indent="0">
              <a:buNone/>
              <a:defRPr sz="1600">
                <a:solidFill>
                  <a:schemeClr val="tx1">
                    <a:tint val="75000"/>
                  </a:schemeClr>
                </a:solidFill>
              </a:defRPr>
            </a:lvl4pPr>
            <a:lvl5pPr marL="1828983" indent="0">
              <a:buNone/>
              <a:defRPr sz="1600">
                <a:solidFill>
                  <a:schemeClr val="tx1">
                    <a:tint val="75000"/>
                  </a:schemeClr>
                </a:solidFill>
              </a:defRPr>
            </a:lvl5pPr>
            <a:lvl6pPr marL="2286228" indent="0">
              <a:buNone/>
              <a:defRPr sz="1600">
                <a:solidFill>
                  <a:schemeClr val="tx1">
                    <a:tint val="75000"/>
                  </a:schemeClr>
                </a:solidFill>
              </a:defRPr>
            </a:lvl6pPr>
            <a:lvl7pPr marL="2743475" indent="0">
              <a:buNone/>
              <a:defRPr sz="1600">
                <a:solidFill>
                  <a:schemeClr val="tx1">
                    <a:tint val="75000"/>
                  </a:schemeClr>
                </a:solidFill>
              </a:defRPr>
            </a:lvl7pPr>
            <a:lvl8pPr marL="3200720" indent="0">
              <a:buNone/>
              <a:defRPr sz="1600">
                <a:solidFill>
                  <a:schemeClr val="tx1">
                    <a:tint val="75000"/>
                  </a:schemeClr>
                </a:solidFill>
              </a:defRPr>
            </a:lvl8pPr>
            <a:lvl9pPr marL="3657966"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796F3C-EA11-4B8E-A5D6-898715DAA61A}" type="datetime1">
              <a:rPr lang="en-GB" smtClean="0"/>
              <a:t>14/04/2026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4053709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8080"/>
                </a:solidFill>
              </a:defRPr>
            </a:lvl1pPr>
          </a:lstStyle>
          <a:p>
            <a:r>
              <a:rPr lang="en-US"/>
              <a:t>Click to edit Master title style</a:t>
            </a:r>
            <a:endParaRPr lang="en-GB"/>
          </a:p>
        </p:txBody>
      </p:sp>
      <p:sp>
        <p:nvSpPr>
          <p:cNvPr id="3" name="Content Placeholder 2"/>
          <p:cNvSpPr>
            <a:spLocks noGrp="1"/>
          </p:cNvSpPr>
          <p:nvPr>
            <p:ph sz="half" idx="1"/>
          </p:nvPr>
        </p:nvSpPr>
        <p:spPr>
          <a:xfrm>
            <a:off x="838200" y="2095130"/>
            <a:ext cx="5181600" cy="40818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2095129"/>
            <a:ext cx="5181600" cy="40818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9DE42CF6-A011-4145-8138-B18222BE784F}" type="datetime1">
              <a:rPr lang="en-GB" smtClean="0"/>
              <a:t>14/04/2026</a:t>
            </a:fld>
            <a:endParaRPr lang="en-GB"/>
          </a:p>
        </p:txBody>
      </p:sp>
      <p:sp>
        <p:nvSpPr>
          <p:cNvPr id="6" name="Footer Placeholder 5"/>
          <p:cNvSpPr>
            <a:spLocks noGrp="1"/>
          </p:cNvSpPr>
          <p:nvPr>
            <p:ph type="ftr" sz="quarter" idx="11"/>
          </p:nvPr>
        </p:nvSpPr>
        <p:spPr/>
        <p:txBody>
          <a:bodyPr/>
          <a:lstStyle/>
          <a:p>
            <a:r>
              <a:rPr lang="en-GB"/>
              <a:t>KIẾN THỨC - KỸ NĂNG - SÁNG TẠO - HỘI NHẬP</a:t>
            </a:r>
          </a:p>
        </p:txBody>
      </p:sp>
      <p:sp>
        <p:nvSpPr>
          <p:cNvPr id="7" name="Slide Number Placeholder 6"/>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1710018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866776"/>
            <a:ext cx="10515600" cy="823912"/>
          </a:xfrm>
        </p:spPr>
        <p:txBody>
          <a:bodyPr/>
          <a:lstStyle/>
          <a:p>
            <a:r>
              <a:rPr lang="en-US"/>
              <a:t>Click to edit Master title style</a:t>
            </a:r>
            <a:endParaRPr lang="en-GB"/>
          </a:p>
        </p:txBody>
      </p:sp>
      <p:sp>
        <p:nvSpPr>
          <p:cNvPr id="3" name="Text Placeholder 2"/>
          <p:cNvSpPr>
            <a:spLocks noGrp="1"/>
          </p:cNvSpPr>
          <p:nvPr>
            <p:ph type="body" idx="1"/>
          </p:nvPr>
        </p:nvSpPr>
        <p:spPr>
          <a:xfrm>
            <a:off x="839791" y="1857375"/>
            <a:ext cx="5157787" cy="647700"/>
          </a:xfrm>
        </p:spPr>
        <p:txBody>
          <a:bodyPr anchor="b"/>
          <a:lstStyle>
            <a:lvl1pPr marL="0" indent="0">
              <a:buNone/>
              <a:defRPr sz="2400" b="1"/>
            </a:lvl1pPr>
            <a:lvl2pPr marL="457246" indent="0">
              <a:buNone/>
              <a:defRPr sz="2000" b="1"/>
            </a:lvl2pPr>
            <a:lvl3pPr marL="914492" indent="0">
              <a:buNone/>
              <a:defRPr sz="1800" b="1"/>
            </a:lvl3pPr>
            <a:lvl4pPr marL="1371738" indent="0">
              <a:buNone/>
              <a:defRPr sz="1600" b="1"/>
            </a:lvl4pPr>
            <a:lvl5pPr marL="1828983" indent="0">
              <a:buNone/>
              <a:defRPr sz="1600" b="1"/>
            </a:lvl5pPr>
            <a:lvl6pPr marL="2286228" indent="0">
              <a:buNone/>
              <a:defRPr sz="1600" b="1"/>
            </a:lvl6pPr>
            <a:lvl7pPr marL="2743475" indent="0">
              <a:buNone/>
              <a:defRPr sz="1600" b="1"/>
            </a:lvl7pPr>
            <a:lvl8pPr marL="3200720" indent="0">
              <a:buNone/>
              <a:defRPr sz="1600" b="1"/>
            </a:lvl8pPr>
            <a:lvl9pPr marL="3657966"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91"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857375"/>
            <a:ext cx="5183188" cy="647700"/>
          </a:xfrm>
        </p:spPr>
        <p:txBody>
          <a:bodyPr anchor="b"/>
          <a:lstStyle>
            <a:lvl1pPr marL="0" indent="0">
              <a:buNone/>
              <a:defRPr sz="2400" b="1"/>
            </a:lvl1pPr>
            <a:lvl2pPr marL="457246" indent="0">
              <a:buNone/>
              <a:defRPr sz="2000" b="1"/>
            </a:lvl2pPr>
            <a:lvl3pPr marL="914492" indent="0">
              <a:buNone/>
              <a:defRPr sz="1800" b="1"/>
            </a:lvl3pPr>
            <a:lvl4pPr marL="1371738" indent="0">
              <a:buNone/>
              <a:defRPr sz="1600" b="1"/>
            </a:lvl4pPr>
            <a:lvl5pPr marL="1828983" indent="0">
              <a:buNone/>
              <a:defRPr sz="1600" b="1"/>
            </a:lvl5pPr>
            <a:lvl6pPr marL="2286228" indent="0">
              <a:buNone/>
              <a:defRPr sz="1600" b="1"/>
            </a:lvl6pPr>
            <a:lvl7pPr marL="2743475" indent="0">
              <a:buNone/>
              <a:defRPr sz="1600" b="1"/>
            </a:lvl7pPr>
            <a:lvl8pPr marL="3200720" indent="0">
              <a:buNone/>
              <a:defRPr sz="1600" b="1"/>
            </a:lvl8pPr>
            <a:lvl9pPr marL="365796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6776141-2144-4216-A5D8-625EEC9D46A7}" type="datetime1">
              <a:rPr lang="en-GB" smtClean="0"/>
              <a:t>14/04/2026</a:t>
            </a:fld>
            <a:endParaRPr lang="en-GB"/>
          </a:p>
        </p:txBody>
      </p:sp>
      <p:sp>
        <p:nvSpPr>
          <p:cNvPr id="8" name="Footer Placeholder 7"/>
          <p:cNvSpPr>
            <a:spLocks noGrp="1"/>
          </p:cNvSpPr>
          <p:nvPr>
            <p:ph type="ftr" sz="quarter" idx="11"/>
          </p:nvPr>
        </p:nvSpPr>
        <p:spPr/>
        <p:txBody>
          <a:bodyPr/>
          <a:lstStyle/>
          <a:p>
            <a:r>
              <a:rPr lang="en-GB"/>
              <a:t>KIẾN THỨC - KỸ NĂNG - SÁNG TẠO - HỘI NHẬP</a:t>
            </a:r>
          </a:p>
        </p:txBody>
      </p:sp>
      <p:sp>
        <p:nvSpPr>
          <p:cNvPr id="9" name="Slide Number Placeholder 8"/>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913579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5231884-8841-474E-B980-3663B77BB24B}" type="datetime1">
              <a:rPr lang="en-GB" smtClean="0"/>
              <a:t>14/04/2026</a:t>
            </a:fld>
            <a:endParaRPr lang="en-GB"/>
          </a:p>
        </p:txBody>
      </p:sp>
      <p:sp>
        <p:nvSpPr>
          <p:cNvPr id="4" name="Footer Placeholder 3"/>
          <p:cNvSpPr>
            <a:spLocks noGrp="1"/>
          </p:cNvSpPr>
          <p:nvPr>
            <p:ph type="ftr" sz="quarter" idx="11"/>
          </p:nvPr>
        </p:nvSpPr>
        <p:spPr/>
        <p:txBody>
          <a:bodyPr/>
          <a:lstStyle/>
          <a:p>
            <a:r>
              <a:rPr lang="en-GB"/>
              <a:t>KIẾN THỨC - KỸ NĂNG - SÁNG TẠO - HỘI NHẬP</a:t>
            </a:r>
          </a:p>
        </p:txBody>
      </p:sp>
      <p:sp>
        <p:nvSpPr>
          <p:cNvPr id="5" name="Slide Number Placeholder 4"/>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2539901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1E740A-6F50-4770-9109-746EC93EBE8F}" type="datetime1">
              <a:rPr lang="en-GB" smtClean="0"/>
              <a:t>14/04/2026</a:t>
            </a:fld>
            <a:endParaRPr lang="en-GB"/>
          </a:p>
        </p:txBody>
      </p:sp>
      <p:sp>
        <p:nvSpPr>
          <p:cNvPr id="3" name="Footer Placeholder 2"/>
          <p:cNvSpPr>
            <a:spLocks noGrp="1"/>
          </p:cNvSpPr>
          <p:nvPr>
            <p:ph type="ftr" sz="quarter" idx="11"/>
          </p:nvPr>
        </p:nvSpPr>
        <p:spPr/>
        <p:txBody>
          <a:bodyPr/>
          <a:lstStyle/>
          <a:p>
            <a:r>
              <a:rPr lang="en-GB"/>
              <a:t>KIẾN THỨC - KỸ NĂNG - SÁNG TẠO - HỘI NHẬP</a:t>
            </a:r>
          </a:p>
        </p:txBody>
      </p:sp>
      <p:sp>
        <p:nvSpPr>
          <p:cNvPr id="4" name="Slide Number Placeholder 3"/>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4057016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1" y="987428"/>
            <a:ext cx="3932237" cy="1069975"/>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9"/>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91" y="2057400"/>
            <a:ext cx="3932237" cy="3811588"/>
          </a:xfrm>
        </p:spPr>
        <p:txBody>
          <a:bodyPr/>
          <a:lstStyle>
            <a:lvl1pPr marL="0" indent="0">
              <a:buNone/>
              <a:defRPr sz="1600"/>
            </a:lvl1pPr>
            <a:lvl2pPr marL="457246" indent="0">
              <a:buNone/>
              <a:defRPr sz="1400"/>
            </a:lvl2pPr>
            <a:lvl3pPr marL="914492" indent="0">
              <a:buNone/>
              <a:defRPr sz="1200"/>
            </a:lvl3pPr>
            <a:lvl4pPr marL="1371738" indent="0">
              <a:buNone/>
              <a:defRPr sz="1000"/>
            </a:lvl4pPr>
            <a:lvl5pPr marL="1828983" indent="0">
              <a:buNone/>
              <a:defRPr sz="1000"/>
            </a:lvl5pPr>
            <a:lvl6pPr marL="2286228" indent="0">
              <a:buNone/>
              <a:defRPr sz="1000"/>
            </a:lvl6pPr>
            <a:lvl7pPr marL="2743475" indent="0">
              <a:buNone/>
              <a:defRPr sz="1000"/>
            </a:lvl7pPr>
            <a:lvl8pPr marL="3200720" indent="0">
              <a:buNone/>
              <a:defRPr sz="1000"/>
            </a:lvl8pPr>
            <a:lvl9pPr marL="365796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933542-D7FF-4C5D-BCD1-FC068661ADB1}" type="datetime1">
              <a:rPr lang="en-GB" smtClean="0"/>
              <a:t>14/04/2026</a:t>
            </a:fld>
            <a:endParaRPr lang="en-GB"/>
          </a:p>
        </p:txBody>
      </p:sp>
      <p:sp>
        <p:nvSpPr>
          <p:cNvPr id="6" name="Footer Placeholder 5"/>
          <p:cNvSpPr>
            <a:spLocks noGrp="1"/>
          </p:cNvSpPr>
          <p:nvPr>
            <p:ph type="ftr" sz="quarter" idx="11"/>
          </p:nvPr>
        </p:nvSpPr>
        <p:spPr/>
        <p:txBody>
          <a:bodyPr/>
          <a:lstStyle/>
          <a:p>
            <a:r>
              <a:rPr lang="en-GB"/>
              <a:t>KIẾN THỨC - KỸ NĂNG - SÁNG TẠO - HỘI NHẬP</a:t>
            </a:r>
          </a:p>
        </p:txBody>
      </p:sp>
      <p:sp>
        <p:nvSpPr>
          <p:cNvPr id="7" name="Slide Number Placeholder 6"/>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255682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1"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9"/>
            <a:ext cx="6172200" cy="4873625"/>
          </a:xfrm>
        </p:spPr>
        <p:txBody>
          <a:bodyPr/>
          <a:lstStyle>
            <a:lvl1pPr marL="0" indent="0">
              <a:buNone/>
              <a:defRPr sz="3200"/>
            </a:lvl1pPr>
            <a:lvl2pPr marL="457246" indent="0">
              <a:buNone/>
              <a:defRPr sz="2800"/>
            </a:lvl2pPr>
            <a:lvl3pPr marL="914492" indent="0">
              <a:buNone/>
              <a:defRPr sz="2400"/>
            </a:lvl3pPr>
            <a:lvl4pPr marL="1371738" indent="0">
              <a:buNone/>
              <a:defRPr sz="2000"/>
            </a:lvl4pPr>
            <a:lvl5pPr marL="1828983" indent="0">
              <a:buNone/>
              <a:defRPr sz="2000"/>
            </a:lvl5pPr>
            <a:lvl6pPr marL="2286228" indent="0">
              <a:buNone/>
              <a:defRPr sz="2000"/>
            </a:lvl6pPr>
            <a:lvl7pPr marL="2743475" indent="0">
              <a:buNone/>
              <a:defRPr sz="2000"/>
            </a:lvl7pPr>
            <a:lvl8pPr marL="3200720" indent="0">
              <a:buNone/>
              <a:defRPr sz="2000"/>
            </a:lvl8pPr>
            <a:lvl9pPr marL="3657966"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839791" y="2057400"/>
            <a:ext cx="3932237" cy="3811588"/>
          </a:xfrm>
        </p:spPr>
        <p:txBody>
          <a:bodyPr/>
          <a:lstStyle>
            <a:lvl1pPr marL="0" indent="0">
              <a:buNone/>
              <a:defRPr sz="1600"/>
            </a:lvl1pPr>
            <a:lvl2pPr marL="457246" indent="0">
              <a:buNone/>
              <a:defRPr sz="1400"/>
            </a:lvl2pPr>
            <a:lvl3pPr marL="914492" indent="0">
              <a:buNone/>
              <a:defRPr sz="1200"/>
            </a:lvl3pPr>
            <a:lvl4pPr marL="1371738" indent="0">
              <a:buNone/>
              <a:defRPr sz="1000"/>
            </a:lvl4pPr>
            <a:lvl5pPr marL="1828983" indent="0">
              <a:buNone/>
              <a:defRPr sz="1000"/>
            </a:lvl5pPr>
            <a:lvl6pPr marL="2286228" indent="0">
              <a:buNone/>
              <a:defRPr sz="1000"/>
            </a:lvl6pPr>
            <a:lvl7pPr marL="2743475" indent="0">
              <a:buNone/>
              <a:defRPr sz="1000"/>
            </a:lvl7pPr>
            <a:lvl8pPr marL="3200720" indent="0">
              <a:buNone/>
              <a:defRPr sz="1000"/>
            </a:lvl8pPr>
            <a:lvl9pPr marL="365796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A70A37-54E1-46AB-854A-7F4CAEAC5932}" type="datetime1">
              <a:rPr lang="en-GB" smtClean="0"/>
              <a:t>14/04/2026</a:t>
            </a:fld>
            <a:endParaRPr lang="en-GB"/>
          </a:p>
        </p:txBody>
      </p:sp>
      <p:sp>
        <p:nvSpPr>
          <p:cNvPr id="6" name="Footer Placeholder 5"/>
          <p:cNvSpPr>
            <a:spLocks noGrp="1"/>
          </p:cNvSpPr>
          <p:nvPr>
            <p:ph type="ftr" sz="quarter" idx="11"/>
          </p:nvPr>
        </p:nvSpPr>
        <p:spPr/>
        <p:txBody>
          <a:bodyPr/>
          <a:lstStyle/>
          <a:p>
            <a:r>
              <a:rPr lang="en-GB"/>
              <a:t>KIẾN THỨC - KỸ NĂNG - SÁNG TẠO - HỘI NHẬP</a:t>
            </a:r>
          </a:p>
        </p:txBody>
      </p:sp>
      <p:sp>
        <p:nvSpPr>
          <p:cNvPr id="7" name="Slide Number Placeholder 6"/>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1289903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85F13F3-5CA4-464A-A58E-B619976AB19A}" type="datetime1">
              <a:rPr lang="en-GB" smtClean="0"/>
              <a:t>14/04/2026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2767026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6"/>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6"/>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580203B-5407-419A-8A7D-10870893C35F}" type="datetime1">
              <a:rPr lang="en-GB" smtClean="0"/>
              <a:t>14/04/2026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587122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E417B-C7F0-2F47-3739-55BAF6A3049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FA3FD393-479F-6B95-E04D-5CBF571B112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D744F3-E8B9-894F-F087-C08755B0D4FD}"/>
              </a:ext>
            </a:extLst>
          </p:cNvPr>
          <p:cNvSpPr>
            <a:spLocks noGrp="1"/>
          </p:cNvSpPr>
          <p:nvPr>
            <p:ph type="dt" sz="half" idx="10"/>
          </p:nvPr>
        </p:nvSpPr>
        <p:spPr/>
        <p:txBody>
          <a:bodyPr/>
          <a:lstStyle/>
          <a:p>
            <a:fld id="{B973FF66-1A70-4141-A9B3-B6752FF84A84}" type="datetimeFigureOut">
              <a:rPr lang="en-US" smtClean="0"/>
              <a:t>4/14/2026</a:t>
            </a:fld>
            <a:endParaRPr lang="en-US"/>
          </a:p>
        </p:txBody>
      </p:sp>
      <p:sp>
        <p:nvSpPr>
          <p:cNvPr id="5" name="Footer Placeholder 4">
            <a:extLst>
              <a:ext uri="{FF2B5EF4-FFF2-40B4-BE49-F238E27FC236}">
                <a16:creationId xmlns:a16="http://schemas.microsoft.com/office/drawing/2014/main" id="{B24698F1-6816-F208-84ED-228925D246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65FDB5-0B63-569A-3191-B50CC5CAC744}"/>
              </a:ext>
            </a:extLst>
          </p:cNvPr>
          <p:cNvSpPr>
            <a:spLocks noGrp="1"/>
          </p:cNvSpPr>
          <p:nvPr>
            <p:ph type="sldNum" sz="quarter" idx="12"/>
          </p:nvPr>
        </p:nvSpPr>
        <p:spPr/>
        <p:txBody>
          <a:bodyPr/>
          <a:lstStyle/>
          <a:p>
            <a:fld id="{6C56B8FA-5C00-4693-8C7F-3776FF570F07}" type="slidenum">
              <a:rPr lang="en-US" smtClean="0"/>
              <a:t>‹#›</a:t>
            </a:fld>
            <a:endParaRPr lang="en-US"/>
          </a:p>
        </p:txBody>
      </p:sp>
    </p:spTree>
    <p:extLst>
      <p:ext uri="{BB962C8B-B14F-4D97-AF65-F5344CB8AC3E}">
        <p14:creationId xmlns:p14="http://schemas.microsoft.com/office/powerpoint/2010/main" val="3079830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228232"/>
            <a:ext cx="10515600" cy="76741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2175030"/>
            <a:ext cx="10515600" cy="40019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bg1"/>
                </a:solidFill>
              </a:defRPr>
            </a:lvl1pPr>
          </a:lstStyle>
          <a:p>
            <a:fld id="{4C18046E-BA9B-4548-A8AC-F9F2F702B23B}" type="datetime1">
              <a:rPr lang="en-GB" smtClean="0"/>
              <a:pPr/>
              <a:t>14/04/2026</a:t>
            </a:fld>
            <a:endParaRPr lang="en-GB"/>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rgbClr val="C00000"/>
                </a:solidFill>
              </a:defRPr>
            </a:lvl1pPr>
          </a:lstStyle>
          <a:p>
            <a:r>
              <a:rPr lang="en-GB"/>
              <a:t>KIẾN THỨC - KỸ NĂNG - SÁNG TẠO - HỘI NHẬP</a:t>
            </a:r>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bg1"/>
                </a:solidFill>
              </a:defRPr>
            </a:lvl1pPr>
          </a:lstStyle>
          <a:p>
            <a:fld id="{AA3D6EC1-CEF0-44B9-AC69-1554EEB371D5}" type="slidenum">
              <a:rPr lang="en-GB" smtClean="0"/>
              <a:pPr/>
              <a:t>‹#›</a:t>
            </a:fld>
            <a:endParaRPr lang="en-GB"/>
          </a:p>
        </p:txBody>
      </p:sp>
      <p:sp>
        <p:nvSpPr>
          <p:cNvPr id="7" name="Title 1">
            <a:extLst>
              <a:ext uri="{FF2B5EF4-FFF2-40B4-BE49-F238E27FC236}">
                <a16:creationId xmlns:a16="http://schemas.microsoft.com/office/drawing/2014/main" id="{03F9058A-D643-E990-0257-69C3B7F9EF2C}"/>
              </a:ext>
            </a:extLst>
          </p:cNvPr>
          <p:cNvSpPr txBox="1">
            <a:spLocks/>
          </p:cNvSpPr>
          <p:nvPr/>
        </p:nvSpPr>
        <p:spPr>
          <a:xfrm>
            <a:off x="5344358" y="228539"/>
            <a:ext cx="6847642" cy="68909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ctr"/>
            <a:r>
              <a:rPr lang="en-US" sz="2400" b="1">
                <a:solidFill>
                  <a:srgbClr val="008080"/>
                </a:solidFill>
              </a:rPr>
              <a:t>TRƯỜNG ĐẠI HỌC GIAO THÔNG VẬN TẢI </a:t>
            </a:r>
            <a:br>
              <a:rPr lang="en-US" sz="2400" b="1">
                <a:solidFill>
                  <a:srgbClr val="008080"/>
                </a:solidFill>
              </a:rPr>
            </a:br>
            <a:r>
              <a:rPr lang="en-US" sz="2400" b="1">
                <a:solidFill>
                  <a:srgbClr val="008080"/>
                </a:solidFill>
              </a:rPr>
              <a:t>THÀNH PHỐ HỒ CHÍ MINH</a:t>
            </a:r>
            <a:endParaRPr lang="en-GB" sz="2400" b="1" dirty="0"/>
          </a:p>
        </p:txBody>
      </p:sp>
    </p:spTree>
    <p:extLst>
      <p:ext uri="{BB962C8B-B14F-4D97-AF65-F5344CB8AC3E}">
        <p14:creationId xmlns:p14="http://schemas.microsoft.com/office/powerpoint/2010/main" val="3760992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92" rtl="0" eaLnBrk="1" latinLnBrk="0" hangingPunct="1">
        <a:lnSpc>
          <a:spcPct val="90000"/>
        </a:lnSpc>
        <a:spcBef>
          <a:spcPct val="0"/>
        </a:spcBef>
        <a:buNone/>
        <a:defRPr sz="4400" kern="1200">
          <a:solidFill>
            <a:srgbClr val="15848B"/>
          </a:solidFill>
          <a:latin typeface="Segoe UI Black" panose="020B0A02040204020203" pitchFamily="34" charset="0"/>
          <a:ea typeface="Segoe UI Black" panose="020B0A02040204020203" pitchFamily="34" charset="0"/>
          <a:cs typeface="Times New Roman" panose="02020603050405020304" pitchFamily="18" charset="0"/>
        </a:defRPr>
      </a:lvl1pPr>
    </p:titleStyle>
    <p:bodyStyle>
      <a:lvl1pPr marL="228623" indent="-228623" algn="l" defTabSz="914492"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68" indent="-228623" algn="l" defTabSz="914492"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114" indent="-228623" algn="l" defTabSz="914492"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360" indent="-228623" algn="l" defTabSz="914492"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606" indent="-228623" algn="l" defTabSz="914492"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852"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98"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343"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88"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92" rtl="0" eaLnBrk="1" latinLnBrk="0" hangingPunct="1">
        <a:defRPr sz="1800" kern="1200">
          <a:solidFill>
            <a:schemeClr val="tx1"/>
          </a:solidFill>
          <a:latin typeface="+mn-lt"/>
          <a:ea typeface="+mn-ea"/>
          <a:cs typeface="+mn-cs"/>
        </a:defRPr>
      </a:lvl1pPr>
      <a:lvl2pPr marL="457246" algn="l" defTabSz="914492" rtl="0" eaLnBrk="1" latinLnBrk="0" hangingPunct="1">
        <a:defRPr sz="1800" kern="1200">
          <a:solidFill>
            <a:schemeClr val="tx1"/>
          </a:solidFill>
          <a:latin typeface="+mn-lt"/>
          <a:ea typeface="+mn-ea"/>
          <a:cs typeface="+mn-cs"/>
        </a:defRPr>
      </a:lvl2pPr>
      <a:lvl3pPr marL="914492" algn="l" defTabSz="914492" rtl="0" eaLnBrk="1" latinLnBrk="0" hangingPunct="1">
        <a:defRPr sz="1800" kern="1200">
          <a:solidFill>
            <a:schemeClr val="tx1"/>
          </a:solidFill>
          <a:latin typeface="+mn-lt"/>
          <a:ea typeface="+mn-ea"/>
          <a:cs typeface="+mn-cs"/>
        </a:defRPr>
      </a:lvl3pPr>
      <a:lvl4pPr marL="1371738" algn="l" defTabSz="914492" rtl="0" eaLnBrk="1" latinLnBrk="0" hangingPunct="1">
        <a:defRPr sz="1800" kern="1200">
          <a:solidFill>
            <a:schemeClr val="tx1"/>
          </a:solidFill>
          <a:latin typeface="+mn-lt"/>
          <a:ea typeface="+mn-ea"/>
          <a:cs typeface="+mn-cs"/>
        </a:defRPr>
      </a:lvl4pPr>
      <a:lvl5pPr marL="1828983" algn="l" defTabSz="914492" rtl="0" eaLnBrk="1" latinLnBrk="0" hangingPunct="1">
        <a:defRPr sz="1800" kern="1200">
          <a:solidFill>
            <a:schemeClr val="tx1"/>
          </a:solidFill>
          <a:latin typeface="+mn-lt"/>
          <a:ea typeface="+mn-ea"/>
          <a:cs typeface="+mn-cs"/>
        </a:defRPr>
      </a:lvl5pPr>
      <a:lvl6pPr marL="2286228" algn="l" defTabSz="914492" rtl="0" eaLnBrk="1" latinLnBrk="0" hangingPunct="1">
        <a:defRPr sz="1800" kern="1200">
          <a:solidFill>
            <a:schemeClr val="tx1"/>
          </a:solidFill>
          <a:latin typeface="+mn-lt"/>
          <a:ea typeface="+mn-ea"/>
          <a:cs typeface="+mn-cs"/>
        </a:defRPr>
      </a:lvl6pPr>
      <a:lvl7pPr marL="2743475" algn="l" defTabSz="914492" rtl="0" eaLnBrk="1" latinLnBrk="0" hangingPunct="1">
        <a:defRPr sz="1800" kern="1200">
          <a:solidFill>
            <a:schemeClr val="tx1"/>
          </a:solidFill>
          <a:latin typeface="+mn-lt"/>
          <a:ea typeface="+mn-ea"/>
          <a:cs typeface="+mn-cs"/>
        </a:defRPr>
      </a:lvl7pPr>
      <a:lvl8pPr marL="3200720" algn="l" defTabSz="914492" rtl="0" eaLnBrk="1" latinLnBrk="0" hangingPunct="1">
        <a:defRPr sz="1800" kern="1200">
          <a:solidFill>
            <a:schemeClr val="tx1"/>
          </a:solidFill>
          <a:latin typeface="+mn-lt"/>
          <a:ea typeface="+mn-ea"/>
          <a:cs typeface="+mn-cs"/>
        </a:defRPr>
      </a:lvl8pPr>
      <a:lvl9pPr marL="3657966" algn="l" defTabSz="91449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E95E5-5A7B-ECEB-1B77-A3A81C8C2F2B}"/>
              </a:ext>
            </a:extLst>
          </p:cNvPr>
          <p:cNvSpPr>
            <a:spLocks noGrp="1"/>
          </p:cNvSpPr>
          <p:nvPr>
            <p:ph type="ctrTitle"/>
          </p:nvPr>
        </p:nvSpPr>
        <p:spPr>
          <a:xfrm>
            <a:off x="0" y="853513"/>
            <a:ext cx="12192000" cy="2054054"/>
          </a:xfrm>
        </p:spPr>
        <p:txBody>
          <a:bodyPr>
            <a:normAutofit/>
          </a:bodyPr>
          <a:lstStyle/>
          <a:p>
            <a:pPr marL="291465" marR="629920">
              <a:lnSpc>
                <a:spcPct val="150000"/>
              </a:lnSpc>
              <a:spcAft>
                <a:spcPts val="0"/>
              </a:spcAft>
            </a:pPr>
            <a:r>
              <a:rPr lang="vi-VN" sz="2800" b="1" dirty="0">
                <a:effectLst/>
                <a:latin typeface="Times New Roman" panose="02020603050405020304" pitchFamily="18" charset="0"/>
                <a:ea typeface="Calibri" panose="020F0502020204030204" pitchFamily="34" charset="0"/>
                <a:cs typeface="Times New Roman" panose="02020603050405020304" pitchFamily="18" charset="0"/>
              </a:rPr>
              <a:t>OS_SCH_04:</a:t>
            </a:r>
            <a:br>
              <a:rPr lang="en-US" sz="2800" dirty="0">
                <a:effectLst/>
                <a:latin typeface="Calibri" panose="020F0502020204030204" pitchFamily="34" charset="0"/>
                <a:ea typeface="Calibri" panose="020F0502020204030204" pitchFamily="34" charset="0"/>
                <a:cs typeface="Times New Roman" panose="02020603050405020304" pitchFamily="18" charset="0"/>
              </a:rPr>
            </a:br>
            <a:r>
              <a:rPr lang="vi-VN" sz="2800" b="1" dirty="0" err="1">
                <a:effectLst/>
                <a:latin typeface="Times New Roman" panose="02020603050405020304" pitchFamily="18" charset="0"/>
                <a:ea typeface="Calibri" panose="020F0502020204030204" pitchFamily="34" charset="0"/>
                <a:cs typeface="Times New Roman" panose="02020603050405020304" pitchFamily="18" charset="0"/>
              </a:rPr>
              <a:t>Build</a:t>
            </a:r>
            <a:r>
              <a:rPr lang="vi-VN" sz="2800" b="1" dirty="0">
                <a:effectLst/>
                <a:latin typeface="Times New Roman" panose="02020603050405020304" pitchFamily="18" charset="0"/>
                <a:ea typeface="Calibri" panose="020F0502020204030204" pitchFamily="34" charset="0"/>
                <a:cs typeface="Times New Roman" panose="02020603050405020304" pitchFamily="18" charset="0"/>
              </a:rPr>
              <a:t> an APP </a:t>
            </a:r>
            <a:r>
              <a:rPr lang="vi-VN" sz="2800" b="1" dirty="0" err="1">
                <a:effectLst/>
                <a:latin typeface="Times New Roman" panose="02020603050405020304" pitchFamily="18" charset="0"/>
                <a:ea typeface="Calibri" panose="020F0502020204030204" pitchFamily="34" charset="0"/>
                <a:cs typeface="Times New Roman" panose="02020603050405020304" pitchFamily="18" charset="0"/>
              </a:rPr>
              <a:t>for</a:t>
            </a:r>
            <a:r>
              <a:rPr lang="vi-VN" sz="2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vi-VN" sz="2800" b="1" dirty="0" err="1">
                <a:effectLst/>
                <a:latin typeface="Times New Roman" panose="02020603050405020304" pitchFamily="18" charset="0"/>
                <a:ea typeface="Calibri" panose="020F0502020204030204" pitchFamily="34" charset="0"/>
                <a:cs typeface="Times New Roman" panose="02020603050405020304" pitchFamily="18" charset="0"/>
              </a:rPr>
              <a:t>demonstration</a:t>
            </a:r>
            <a:r>
              <a:rPr lang="vi-VN" sz="2800" b="1" dirty="0">
                <a:effectLst/>
                <a:latin typeface="Times New Roman" panose="02020603050405020304" pitchFamily="18" charset="0"/>
                <a:ea typeface="Calibri" panose="020F0502020204030204" pitchFamily="34" charset="0"/>
                <a:cs typeface="Times New Roman" panose="02020603050405020304" pitchFamily="18" charset="0"/>
              </a:rPr>
              <a:t> CPU </a:t>
            </a:r>
            <a:r>
              <a:rPr lang="vi-VN" sz="2800" b="1" dirty="0" err="1">
                <a:effectLst/>
                <a:latin typeface="Times New Roman" panose="02020603050405020304" pitchFamily="18" charset="0"/>
                <a:ea typeface="Calibri" panose="020F0502020204030204" pitchFamily="34" charset="0"/>
                <a:cs typeface="Times New Roman" panose="02020603050405020304" pitchFamily="18" charset="0"/>
              </a:rPr>
              <a:t>Scheduling</a:t>
            </a:r>
            <a:r>
              <a:rPr lang="vi-VN" sz="2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vi-VN" sz="2800" b="1" dirty="0" err="1">
                <a:effectLst/>
                <a:latin typeface="Times New Roman" panose="02020603050405020304" pitchFamily="18" charset="0"/>
                <a:ea typeface="Calibri" panose="020F0502020204030204" pitchFamily="34" charset="0"/>
                <a:cs typeface="Times New Roman" panose="02020603050405020304" pitchFamily="18" charset="0"/>
              </a:rPr>
              <a:t>algorithm</a:t>
            </a:r>
            <a:r>
              <a:rPr lang="vi-VN" sz="2800" b="1" dirty="0">
                <a:effectLst/>
                <a:latin typeface="Times New Roman" panose="02020603050405020304" pitchFamily="18" charset="0"/>
                <a:ea typeface="Calibri" panose="020F0502020204030204" pitchFamily="34" charset="0"/>
                <a:cs typeface="Times New Roman" panose="02020603050405020304" pitchFamily="18" charset="0"/>
              </a:rPr>
              <a:t>:</a:t>
            </a:r>
            <a:br>
              <a:rPr lang="vi-VN" sz="2800" b="1" dirty="0">
                <a:effectLst/>
                <a:latin typeface="Times New Roman" panose="02020603050405020304" pitchFamily="18" charset="0"/>
                <a:ea typeface="Calibri" panose="020F0502020204030204" pitchFamily="34" charset="0"/>
                <a:cs typeface="Times New Roman" panose="02020603050405020304" pitchFamily="18" charset="0"/>
              </a:rPr>
            </a:br>
            <a:r>
              <a:rPr lang="vi-VN" sz="2800" b="1" dirty="0">
                <a:effectLst/>
                <a:latin typeface="Times New Roman" panose="02020603050405020304" pitchFamily="18" charset="0"/>
                <a:ea typeface="Calibri" panose="020F0502020204030204" pitchFamily="34" charset="0"/>
                <a:cs typeface="Times New Roman" panose="02020603050405020304" pitchFamily="18" charset="0"/>
              </a:rPr>
              <a:t>SJF (non-</a:t>
            </a:r>
            <a:r>
              <a:rPr lang="vi-VN" sz="2800" b="1" dirty="0" err="1">
                <a:effectLst/>
                <a:latin typeface="Times New Roman" panose="02020603050405020304" pitchFamily="18" charset="0"/>
                <a:ea typeface="Calibri" panose="020F0502020204030204" pitchFamily="34" charset="0"/>
                <a:cs typeface="Times New Roman" panose="02020603050405020304" pitchFamily="18" charset="0"/>
              </a:rPr>
              <a:t>preemptive</a:t>
            </a:r>
            <a:r>
              <a:rPr lang="vi-VN" sz="2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vi-VN" sz="2800" b="1" dirty="0" err="1">
                <a:effectLst/>
                <a:latin typeface="Times New Roman" panose="02020603050405020304" pitchFamily="18" charset="0"/>
                <a:ea typeface="Calibri" panose="020F0502020204030204" pitchFamily="34" charset="0"/>
                <a:cs typeface="Times New Roman" panose="02020603050405020304" pitchFamily="18" charset="0"/>
              </a:rPr>
              <a:t>and</a:t>
            </a:r>
            <a:r>
              <a:rPr lang="vi-VN" sz="2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vi-VN" sz="2800" b="1" dirty="0" err="1">
                <a:effectLst/>
                <a:latin typeface="Times New Roman" panose="02020603050405020304" pitchFamily="18" charset="0"/>
                <a:ea typeface="Calibri" panose="020F0502020204030204" pitchFamily="34" charset="0"/>
                <a:cs typeface="Times New Roman" panose="02020603050405020304" pitchFamily="18" charset="0"/>
              </a:rPr>
              <a:t>Priority</a:t>
            </a:r>
            <a:r>
              <a:rPr lang="vi-VN" sz="2800" b="1" dirty="0">
                <a:effectLst/>
                <a:latin typeface="Times New Roman" panose="02020603050405020304" pitchFamily="18" charset="0"/>
                <a:ea typeface="Calibri" panose="020F0502020204030204" pitchFamily="34" charset="0"/>
                <a:cs typeface="Times New Roman" panose="02020603050405020304" pitchFamily="18" charset="0"/>
              </a:rPr>
              <a:t> (non-</a:t>
            </a:r>
            <a:r>
              <a:rPr lang="vi-VN" sz="2800" b="1" dirty="0" err="1">
                <a:effectLst/>
                <a:latin typeface="Times New Roman" panose="02020603050405020304" pitchFamily="18" charset="0"/>
                <a:ea typeface="Calibri" panose="020F0502020204030204" pitchFamily="34" charset="0"/>
                <a:cs typeface="Times New Roman" panose="02020603050405020304" pitchFamily="18" charset="0"/>
              </a:rPr>
              <a:t>preemptive</a:t>
            </a:r>
            <a:r>
              <a:rPr lang="vi-VN" sz="28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6600" dirty="0"/>
          </a:p>
        </p:txBody>
      </p:sp>
      <p:sp>
        <p:nvSpPr>
          <p:cNvPr id="3" name="Subtitle 2">
            <a:extLst>
              <a:ext uri="{FF2B5EF4-FFF2-40B4-BE49-F238E27FC236}">
                <a16:creationId xmlns:a16="http://schemas.microsoft.com/office/drawing/2014/main" id="{B6ACDBE1-1D8E-1F40-4B9E-DB2B0C02B8B7}"/>
              </a:ext>
            </a:extLst>
          </p:cNvPr>
          <p:cNvSpPr>
            <a:spLocks noGrp="1"/>
          </p:cNvSpPr>
          <p:nvPr>
            <p:ph type="subTitle" idx="1"/>
          </p:nvPr>
        </p:nvSpPr>
        <p:spPr>
          <a:xfrm>
            <a:off x="597159" y="3359443"/>
            <a:ext cx="11184294" cy="1655762"/>
          </a:xfrm>
        </p:spPr>
        <p:txBody>
          <a:bodyPr/>
          <a:lstStyle/>
          <a:p>
            <a:pPr marL="292100" algn="l">
              <a:lnSpc>
                <a:spcPct val="100000"/>
              </a:lnSpc>
              <a:spcBef>
                <a:spcPts val="1640"/>
              </a:spcBef>
              <a:spcAft>
                <a:spcPts val="0"/>
              </a:spcAft>
            </a:pPr>
            <a:r>
              <a:rPr lang="vi-VN" sz="1800" b="1" dirty="0">
                <a:effectLst/>
                <a:latin typeface="Times New Roman" panose="02020603050405020304" pitchFamily="18" charset="0"/>
                <a:ea typeface="Calibri" panose="020F0502020204030204" pitchFamily="34" charset="0"/>
                <a:cs typeface="Times New Roman" panose="02020603050405020304" pitchFamily="18" charset="0"/>
              </a:rPr>
              <a:t>MÔN</a:t>
            </a:r>
            <a:r>
              <a:rPr lang="vi-VN" sz="1800" b="1" spc="-45" dirty="0">
                <a:effectLst/>
                <a:latin typeface="Times New Roman" panose="02020603050405020304" pitchFamily="18" charset="0"/>
                <a:ea typeface="Calibri" panose="020F0502020204030204" pitchFamily="34" charset="0"/>
                <a:cs typeface="Times New Roman" panose="02020603050405020304" pitchFamily="18" charset="0"/>
              </a:rPr>
              <a:t> </a:t>
            </a:r>
            <a:r>
              <a:rPr lang="vi-VN" sz="1800" b="1" dirty="0">
                <a:effectLst/>
                <a:latin typeface="Times New Roman" panose="02020603050405020304" pitchFamily="18" charset="0"/>
                <a:ea typeface="Calibri" panose="020F0502020204030204" pitchFamily="34" charset="0"/>
                <a:cs typeface="Times New Roman" panose="02020603050405020304" pitchFamily="18" charset="0"/>
              </a:rPr>
              <a:t>HỌC:</a:t>
            </a:r>
            <a:r>
              <a:rPr lang="vi-VN" sz="18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vi-VN" sz="1800" b="1" dirty="0">
                <a:effectLst/>
                <a:latin typeface="Times New Roman" panose="02020603050405020304" pitchFamily="18" charset="0"/>
                <a:ea typeface="Calibri" panose="020F0502020204030204" pitchFamily="34" charset="0"/>
                <a:cs typeface="Times New Roman" panose="02020603050405020304" pitchFamily="18" charset="0"/>
              </a:rPr>
              <a:t>HỆ ĐIỀU HÀNH</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92100" algn="l">
              <a:lnSpc>
                <a:spcPct val="100000"/>
              </a:lnSpc>
              <a:spcBef>
                <a:spcPts val="1640"/>
              </a:spcBef>
              <a:spcAft>
                <a:spcPts val="0"/>
              </a:spcAft>
            </a:pPr>
            <a:r>
              <a:rPr lang="vi-VN" sz="1800" b="1" dirty="0">
                <a:effectLst/>
                <a:latin typeface="Times New Roman" panose="02020603050405020304" pitchFamily="18" charset="0"/>
                <a:ea typeface="Calibri" panose="020F0502020204030204" pitchFamily="34" charset="0"/>
                <a:cs typeface="Times New Roman" panose="02020603050405020304" pitchFamily="18" charset="0"/>
              </a:rPr>
              <a:t>GIẢNG VIÊN: MAI NGỌC CHÂU</a:t>
            </a:r>
          </a:p>
          <a:p>
            <a:pPr marL="292100" algn="l">
              <a:lnSpc>
                <a:spcPct val="100000"/>
              </a:lnSpc>
              <a:spcBef>
                <a:spcPts val="1640"/>
              </a:spcBef>
            </a:pPr>
            <a:r>
              <a:rPr lang="vi-VN" sz="1800" b="1" dirty="0">
                <a:effectLst/>
                <a:latin typeface="Times New Roman" panose="02020603050405020304" pitchFamily="18" charset="0"/>
                <a:ea typeface="Calibri" panose="020F0502020204030204" pitchFamily="34" charset="0"/>
                <a:cs typeface="Times New Roman" panose="02020603050405020304" pitchFamily="18" charset="0"/>
              </a:rPr>
              <a:t>OS GROUP 08: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92100" algn="l">
              <a:lnSpc>
                <a:spcPct val="100000"/>
              </a:lnSpc>
              <a:spcBef>
                <a:spcPts val="164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06047F89-3710-4653-90D3-BA50C3D02E39}"/>
              </a:ext>
            </a:extLst>
          </p:cNvPr>
          <p:cNvGraphicFramePr>
            <a:graphicFrameLocks noGrp="1"/>
          </p:cNvGraphicFramePr>
          <p:nvPr>
            <p:extLst>
              <p:ext uri="{D42A27DB-BD31-4B8C-83A1-F6EECF244321}">
                <p14:modId xmlns:p14="http://schemas.microsoft.com/office/powerpoint/2010/main" val="793494732"/>
              </p:ext>
            </p:extLst>
          </p:nvPr>
        </p:nvGraphicFramePr>
        <p:xfrm>
          <a:off x="2689289" y="4429920"/>
          <a:ext cx="6402874" cy="2064188"/>
        </p:xfrm>
        <a:graphic>
          <a:graphicData uri="http://schemas.openxmlformats.org/drawingml/2006/table">
            <a:tbl>
              <a:tblPr firstRow="1" bandRow="1">
                <a:tableStyleId>{69CF1AB2-1976-4502-BF36-3FF5EA218861}</a:tableStyleId>
              </a:tblPr>
              <a:tblGrid>
                <a:gridCol w="3201437">
                  <a:extLst>
                    <a:ext uri="{9D8B030D-6E8A-4147-A177-3AD203B41FA5}">
                      <a16:colId xmlns:a16="http://schemas.microsoft.com/office/drawing/2014/main" val="1930828786"/>
                    </a:ext>
                  </a:extLst>
                </a:gridCol>
                <a:gridCol w="3201437">
                  <a:extLst>
                    <a:ext uri="{9D8B030D-6E8A-4147-A177-3AD203B41FA5}">
                      <a16:colId xmlns:a16="http://schemas.microsoft.com/office/drawing/2014/main" val="1348496732"/>
                    </a:ext>
                  </a:extLst>
                </a:gridCol>
              </a:tblGrid>
              <a:tr h="294884">
                <a:tc>
                  <a:txBody>
                    <a:bodyPr/>
                    <a:lstStyle/>
                    <a:p>
                      <a:pPr algn="ctr">
                        <a:lnSpc>
                          <a:spcPct val="150000"/>
                        </a:lnSpc>
                      </a:pPr>
                      <a:r>
                        <a:rPr lang="vi-VN" sz="1400" b="1" dirty="0">
                          <a:solidFill>
                            <a:schemeClr val="accent1"/>
                          </a:solidFill>
                          <a:effectLst/>
                        </a:rPr>
                        <a:t>HỌ VÀ TÊN</a:t>
                      </a:r>
                      <a:endParaRPr lang="en-US" sz="1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pPr>
                      <a:r>
                        <a:rPr lang="vi-VN" sz="1400" b="1" dirty="0">
                          <a:solidFill>
                            <a:schemeClr val="accent1"/>
                          </a:solidFill>
                          <a:effectLst/>
                        </a:rPr>
                        <a:t>MSSV</a:t>
                      </a:r>
                      <a:endParaRPr lang="en-US" sz="1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61211771"/>
                  </a:ext>
                </a:extLst>
              </a:tr>
              <a:tr h="294884">
                <a:tc>
                  <a:txBody>
                    <a:bodyPr/>
                    <a:lstStyle/>
                    <a:p>
                      <a:pPr algn="ctr">
                        <a:lnSpc>
                          <a:spcPct val="150000"/>
                        </a:lnSpc>
                      </a:pPr>
                      <a:r>
                        <a:rPr lang="vi-VN" sz="1400" b="1" dirty="0">
                          <a:effectLst/>
                        </a:rPr>
                        <a:t>Nguyễn Ngọc Bảo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pPr>
                      <a:r>
                        <a:rPr lang="vi-VN" sz="1400" b="1">
                          <a:effectLst/>
                        </a:rPr>
                        <a:t>066206017701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986037"/>
                  </a:ext>
                </a:extLst>
              </a:tr>
              <a:tr h="294884">
                <a:tc>
                  <a:txBody>
                    <a:bodyPr/>
                    <a:lstStyle/>
                    <a:p>
                      <a:pPr marL="636905" indent="-229870" algn="ctr">
                        <a:lnSpc>
                          <a:spcPct val="150000"/>
                        </a:lnSpc>
                      </a:pPr>
                      <a:r>
                        <a:rPr lang="vi-VN" sz="1400" b="1" dirty="0">
                          <a:effectLst/>
                        </a:rPr>
                        <a:t>Nguyễn Huy Công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pPr>
                      <a:r>
                        <a:rPr lang="vi-VN" sz="1400" b="1">
                          <a:effectLst/>
                        </a:rPr>
                        <a:t>066206001968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17037502"/>
                  </a:ext>
                </a:extLst>
              </a:tr>
              <a:tr h="294884">
                <a:tc>
                  <a:txBody>
                    <a:bodyPr/>
                    <a:lstStyle/>
                    <a:p>
                      <a:pPr algn="ctr">
                        <a:lnSpc>
                          <a:spcPct val="150000"/>
                        </a:lnSpc>
                      </a:pPr>
                      <a:r>
                        <a:rPr lang="vi-VN" sz="1400" b="1" dirty="0">
                          <a:effectLst/>
                        </a:rPr>
                        <a:t>Trần Xuân Huấn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pPr>
                      <a:r>
                        <a:rPr lang="vi-VN" sz="1400" b="1">
                          <a:effectLst/>
                        </a:rPr>
                        <a:t>001206002736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06630729"/>
                  </a:ext>
                </a:extLst>
              </a:tr>
              <a:tr h="294884">
                <a:tc>
                  <a:txBody>
                    <a:bodyPr/>
                    <a:lstStyle/>
                    <a:p>
                      <a:pPr marL="636905" indent="-229870" algn="ctr">
                        <a:lnSpc>
                          <a:spcPct val="150000"/>
                        </a:lnSpc>
                      </a:pPr>
                      <a:r>
                        <a:rPr lang="vi-VN" sz="1400" b="1" dirty="0">
                          <a:effectLst/>
                        </a:rPr>
                        <a:t>Nguyễn Văn Tiến Minh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pPr>
                      <a:r>
                        <a:rPr lang="vi-VN" sz="1400" b="1">
                          <a:effectLst/>
                        </a:rPr>
                        <a:t>070206010073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6671564"/>
                  </a:ext>
                </a:extLst>
              </a:tr>
              <a:tr h="294884">
                <a:tc>
                  <a:txBody>
                    <a:bodyPr/>
                    <a:lstStyle/>
                    <a:p>
                      <a:pPr marL="636905" indent="-229870" algn="ctr">
                        <a:lnSpc>
                          <a:spcPct val="150000"/>
                        </a:lnSpc>
                      </a:pPr>
                      <a:r>
                        <a:rPr lang="vi-VN" sz="1400" b="1">
                          <a:effectLst/>
                        </a:rPr>
                        <a:t>Trần Thị Kim Ngân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pPr>
                      <a:r>
                        <a:rPr lang="vi-VN" sz="1400" b="1" dirty="0">
                          <a:effectLst/>
                        </a:rPr>
                        <a:t>056306006618</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23122496"/>
                  </a:ext>
                </a:extLst>
              </a:tr>
              <a:tr h="294884">
                <a:tc>
                  <a:txBody>
                    <a:bodyPr/>
                    <a:lstStyle/>
                    <a:p>
                      <a:pPr algn="ctr">
                        <a:lnSpc>
                          <a:spcPct val="150000"/>
                        </a:lnSpc>
                      </a:pPr>
                      <a:r>
                        <a:rPr lang="vi-VN" sz="1400" b="1">
                          <a:effectLst/>
                        </a:rPr>
                        <a:t>Vũ Hồng Quân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pPr>
                      <a:r>
                        <a:rPr lang="vi-VN" sz="1400" b="1" dirty="0">
                          <a:effectLst/>
                        </a:rPr>
                        <a:t>070206003068</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30525032"/>
                  </a:ext>
                </a:extLst>
              </a:tr>
            </a:tbl>
          </a:graphicData>
        </a:graphic>
      </p:graphicFrame>
    </p:spTree>
    <p:extLst>
      <p:ext uri="{BB962C8B-B14F-4D97-AF65-F5344CB8AC3E}">
        <p14:creationId xmlns:p14="http://schemas.microsoft.com/office/powerpoint/2010/main" val="3919841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ED220-4D37-2F54-7729-CD8F2CF3D496}"/>
              </a:ext>
            </a:extLst>
          </p:cNvPr>
          <p:cNvSpPr>
            <a:spLocks noGrp="1"/>
          </p:cNvSpPr>
          <p:nvPr>
            <p:ph type="title"/>
          </p:nvPr>
        </p:nvSpPr>
        <p:spPr>
          <a:xfrm>
            <a:off x="743339" y="436786"/>
            <a:ext cx="3463212" cy="3216696"/>
          </a:xfrm>
        </p:spPr>
        <p:txBody>
          <a:bodyPr>
            <a:normAutofit/>
          </a:bodyPr>
          <a:lstStyle/>
          <a:p>
            <a:pPr algn="ctr"/>
            <a:r>
              <a:rPr lang="vi-VN" b="1" dirty="0">
                <a:latin typeface="+mj-lt"/>
              </a:rPr>
              <a:t>MỤC LỤC</a:t>
            </a:r>
            <a:endParaRPr lang="en-US" dirty="0">
              <a:latin typeface="+mj-lt"/>
            </a:endParaRPr>
          </a:p>
        </p:txBody>
      </p:sp>
      <p:sp>
        <p:nvSpPr>
          <p:cNvPr id="3" name="Content Placeholder 2">
            <a:extLst>
              <a:ext uri="{FF2B5EF4-FFF2-40B4-BE49-F238E27FC236}">
                <a16:creationId xmlns:a16="http://schemas.microsoft.com/office/drawing/2014/main" id="{4E198F96-6D8C-8B29-79AF-127C0AC4E6FF}"/>
              </a:ext>
            </a:extLst>
          </p:cNvPr>
          <p:cNvSpPr>
            <a:spLocks noGrp="1"/>
          </p:cNvSpPr>
          <p:nvPr>
            <p:ph idx="1"/>
          </p:nvPr>
        </p:nvSpPr>
        <p:spPr>
          <a:xfrm>
            <a:off x="4706517" y="1652515"/>
            <a:ext cx="7485483" cy="4001934"/>
          </a:xfrm>
        </p:spPr>
        <p:txBody>
          <a:bodyPr/>
          <a:lstStyle/>
          <a:p>
            <a:pPr algn="l"/>
            <a:r>
              <a:rPr lang="vi-VN" dirty="0"/>
              <a:t>Giới thiệu</a:t>
            </a:r>
          </a:p>
          <a:p>
            <a:pPr algn="l"/>
            <a:r>
              <a:rPr lang="vi-VN" dirty="0"/>
              <a:t>Cấu trúc và triển khai chương trình</a:t>
            </a:r>
          </a:p>
          <a:p>
            <a:pPr algn="l"/>
            <a:r>
              <a:rPr lang="vi-VN" dirty="0"/>
              <a:t>Xử lý và trực quan hóa dữ liệu</a:t>
            </a:r>
          </a:p>
          <a:p>
            <a:pPr algn="l"/>
            <a:r>
              <a:rPr lang="vi-VN" dirty="0"/>
              <a:t>Thử nghiệm và Thách thức</a:t>
            </a:r>
          </a:p>
          <a:p>
            <a:pPr algn="l"/>
            <a:r>
              <a:rPr lang="vi-VN" dirty="0"/>
              <a:t>Những bài học kinh nghiệm và hạn chế</a:t>
            </a:r>
          </a:p>
          <a:p>
            <a:pPr algn="l"/>
            <a:r>
              <a:rPr lang="vi-VN" dirty="0"/>
              <a:t>Phần kết luận</a:t>
            </a:r>
          </a:p>
          <a:p>
            <a:pPr marL="0" indent="0">
              <a:buNone/>
            </a:pPr>
            <a:endParaRPr lang="en-US" dirty="0"/>
          </a:p>
        </p:txBody>
      </p:sp>
      <p:sp>
        <p:nvSpPr>
          <p:cNvPr id="4" name="Date Placeholder 3">
            <a:extLst>
              <a:ext uri="{FF2B5EF4-FFF2-40B4-BE49-F238E27FC236}">
                <a16:creationId xmlns:a16="http://schemas.microsoft.com/office/drawing/2014/main" id="{62375E6D-CD10-3195-798C-93531ECCA166}"/>
              </a:ext>
            </a:extLst>
          </p:cNvPr>
          <p:cNvSpPr>
            <a:spLocks noGrp="1"/>
          </p:cNvSpPr>
          <p:nvPr>
            <p:ph type="dt" sz="half" idx="10"/>
          </p:nvPr>
        </p:nvSpPr>
        <p:spPr/>
        <p:txBody>
          <a:bodyPr/>
          <a:lstStyle/>
          <a:p>
            <a:fld id="{19E0BBC2-331D-455A-8F34-6CACAAA7B272}" type="datetime1">
              <a:rPr lang="en-GB" smtClean="0"/>
              <a:pPr/>
              <a:t>14/04/2026</a:t>
            </a:fld>
            <a:endParaRPr lang="en-GB"/>
          </a:p>
        </p:txBody>
      </p:sp>
      <p:sp>
        <p:nvSpPr>
          <p:cNvPr id="5" name="Footer Placeholder 4">
            <a:extLst>
              <a:ext uri="{FF2B5EF4-FFF2-40B4-BE49-F238E27FC236}">
                <a16:creationId xmlns:a16="http://schemas.microsoft.com/office/drawing/2014/main" id="{F9336731-F793-6BE8-53D7-A655471A3D94}"/>
              </a:ext>
            </a:extLst>
          </p:cNvPr>
          <p:cNvSpPr>
            <a:spLocks noGrp="1"/>
          </p:cNvSpPr>
          <p:nvPr>
            <p:ph type="ftr" sz="quarter" idx="11"/>
          </p:nvPr>
        </p:nvSpPr>
        <p:spPr/>
        <p:txBody>
          <a:bodyPr/>
          <a:lstStyle/>
          <a:p>
            <a:r>
              <a:rPr lang="en-GB"/>
              <a:t>KIẾN THỨC - KỸ NĂNG - SÁNG TẠO - HỘI NHẬP</a:t>
            </a:r>
          </a:p>
        </p:txBody>
      </p:sp>
      <p:sp>
        <p:nvSpPr>
          <p:cNvPr id="6" name="Slide Number Placeholder 5">
            <a:extLst>
              <a:ext uri="{FF2B5EF4-FFF2-40B4-BE49-F238E27FC236}">
                <a16:creationId xmlns:a16="http://schemas.microsoft.com/office/drawing/2014/main" id="{45D0DC66-2968-09E9-4281-C446FB25E1A3}"/>
              </a:ext>
            </a:extLst>
          </p:cNvPr>
          <p:cNvSpPr>
            <a:spLocks noGrp="1"/>
          </p:cNvSpPr>
          <p:nvPr>
            <p:ph type="sldNum" sz="quarter" idx="12"/>
          </p:nvPr>
        </p:nvSpPr>
        <p:spPr/>
        <p:txBody>
          <a:bodyPr/>
          <a:lstStyle/>
          <a:p>
            <a:fld id="{AA3D6EC1-CEF0-44B9-AC69-1554EEB371D5}" type="slidenum">
              <a:rPr lang="en-GB" smtClean="0"/>
              <a:pPr/>
              <a:t>2</a:t>
            </a:fld>
            <a:endParaRPr lang="en-GB"/>
          </a:p>
        </p:txBody>
      </p:sp>
    </p:spTree>
    <p:extLst>
      <p:ext uri="{BB962C8B-B14F-4D97-AF65-F5344CB8AC3E}">
        <p14:creationId xmlns:p14="http://schemas.microsoft.com/office/powerpoint/2010/main" val="676484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39F20-131D-C72D-992E-777DBC6A680B}"/>
              </a:ext>
            </a:extLst>
          </p:cNvPr>
          <p:cNvSpPr>
            <a:spLocks noGrp="1"/>
          </p:cNvSpPr>
          <p:nvPr>
            <p:ph type="title"/>
          </p:nvPr>
        </p:nvSpPr>
        <p:spPr>
          <a:xfrm>
            <a:off x="0" y="1492898"/>
            <a:ext cx="12192000" cy="2500604"/>
          </a:xfrm>
        </p:spPr>
        <p:txBody>
          <a:bodyPr>
            <a:noAutofit/>
          </a:bodyPr>
          <a:lstStyle/>
          <a:p>
            <a:pPr algn="ctr"/>
            <a:r>
              <a:rPr lang="vi-VN" sz="6000" b="1" dirty="0">
                <a:latin typeface="Times New Roman" panose="02020603050405020304" pitchFamily="18" charset="0"/>
              </a:rPr>
              <a:t>01. </a:t>
            </a:r>
            <a:r>
              <a:rPr lang="en-US" sz="6000" b="1" dirty="0" err="1">
                <a:latin typeface="Times New Roman" panose="02020603050405020304" pitchFamily="18" charset="0"/>
              </a:rPr>
              <a:t>Giới</a:t>
            </a:r>
            <a:r>
              <a:rPr lang="en-US" sz="6000" b="1" dirty="0">
                <a:latin typeface="Times New Roman" panose="02020603050405020304" pitchFamily="18" charset="0"/>
              </a:rPr>
              <a:t> </a:t>
            </a:r>
            <a:r>
              <a:rPr lang="en-US" sz="6000" b="1" dirty="0" err="1">
                <a:latin typeface="Times New Roman" panose="02020603050405020304" pitchFamily="18" charset="0"/>
              </a:rPr>
              <a:t>thiệu</a:t>
            </a:r>
            <a:endParaRPr lang="en-US" sz="6000" dirty="0">
              <a:latin typeface="Times New Roman" panose="02020603050405020304" pitchFamily="18" charset="0"/>
            </a:endParaRPr>
          </a:p>
        </p:txBody>
      </p:sp>
      <p:sp>
        <p:nvSpPr>
          <p:cNvPr id="4" name="Date Placeholder 3">
            <a:extLst>
              <a:ext uri="{FF2B5EF4-FFF2-40B4-BE49-F238E27FC236}">
                <a16:creationId xmlns:a16="http://schemas.microsoft.com/office/drawing/2014/main" id="{D1CC1811-0F39-D0CE-1885-12EA8302820B}"/>
              </a:ext>
            </a:extLst>
          </p:cNvPr>
          <p:cNvSpPr>
            <a:spLocks noGrp="1"/>
          </p:cNvSpPr>
          <p:nvPr>
            <p:ph type="dt" sz="half" idx="10"/>
          </p:nvPr>
        </p:nvSpPr>
        <p:spPr/>
        <p:txBody>
          <a:bodyPr/>
          <a:lstStyle/>
          <a:p>
            <a:fld id="{F96A87E1-9421-4CB4-9C4B-92F8E5D00273}" type="datetime1">
              <a:rPr lang="en-US" smtClean="0"/>
              <a:t>4/14/2026</a:t>
            </a:fld>
            <a:endParaRPr lang="en-US"/>
          </a:p>
        </p:txBody>
      </p:sp>
      <p:sp>
        <p:nvSpPr>
          <p:cNvPr id="6" name="Slide Number Placeholder 5">
            <a:extLst>
              <a:ext uri="{FF2B5EF4-FFF2-40B4-BE49-F238E27FC236}">
                <a16:creationId xmlns:a16="http://schemas.microsoft.com/office/drawing/2014/main" id="{F468DF20-7200-DC62-0E48-5552E263A833}"/>
              </a:ext>
            </a:extLst>
          </p:cNvPr>
          <p:cNvSpPr>
            <a:spLocks noGrp="1"/>
          </p:cNvSpPr>
          <p:nvPr>
            <p:ph type="sldNum" sz="quarter" idx="12"/>
          </p:nvPr>
        </p:nvSpPr>
        <p:spPr/>
        <p:txBody>
          <a:bodyPr/>
          <a:lstStyle/>
          <a:p>
            <a:fld id="{6C56B8FA-5C00-4693-8C7F-3776FF570F07}" type="slidenum">
              <a:rPr lang="en-US" smtClean="0"/>
              <a:t>3</a:t>
            </a:fld>
            <a:endParaRPr lang="en-US"/>
          </a:p>
        </p:txBody>
      </p:sp>
    </p:spTree>
    <p:extLst>
      <p:ext uri="{BB962C8B-B14F-4D97-AF65-F5344CB8AC3E}">
        <p14:creationId xmlns:p14="http://schemas.microsoft.com/office/powerpoint/2010/main" val="3378748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78E8D-8FD2-0E7A-0817-6D30A29BFCB9}"/>
              </a:ext>
            </a:extLst>
          </p:cNvPr>
          <p:cNvSpPr>
            <a:spLocks noGrp="1"/>
          </p:cNvSpPr>
          <p:nvPr>
            <p:ph type="title"/>
          </p:nvPr>
        </p:nvSpPr>
        <p:spPr>
          <a:xfrm>
            <a:off x="0" y="1106939"/>
            <a:ext cx="12192000" cy="767410"/>
          </a:xfrm>
        </p:spPr>
        <p:txBody>
          <a:bodyPr>
            <a:normAutofit/>
          </a:bodyPr>
          <a:lstStyle/>
          <a:p>
            <a:r>
              <a:rPr lang="vi-VN" b="1" noProof="1">
                <a:latin typeface="Times New Roman" panose="02020603050405020304" pitchFamily="18" charset="0"/>
              </a:rPr>
              <a:t>Mục</a:t>
            </a:r>
            <a:r>
              <a:rPr lang="en-US" b="1" dirty="0">
                <a:latin typeface="Times New Roman" panose="02020603050405020304" pitchFamily="18" charset="0"/>
              </a:rPr>
              <a:t> </a:t>
            </a:r>
            <a:r>
              <a:rPr lang="en-US" b="1" dirty="0" err="1">
                <a:latin typeface="Times New Roman" panose="02020603050405020304" pitchFamily="18" charset="0"/>
              </a:rPr>
              <a:t>tiêu</a:t>
            </a:r>
            <a:endParaRPr lang="en-US" dirty="0">
              <a:latin typeface="Times New Roman" panose="02020603050405020304" pitchFamily="18" charset="0"/>
            </a:endParaRPr>
          </a:p>
        </p:txBody>
      </p:sp>
      <p:sp>
        <p:nvSpPr>
          <p:cNvPr id="3" name="Text Placeholder 2">
            <a:extLst>
              <a:ext uri="{FF2B5EF4-FFF2-40B4-BE49-F238E27FC236}">
                <a16:creationId xmlns:a16="http://schemas.microsoft.com/office/drawing/2014/main" id="{CA44A0C7-07B2-CD50-9430-543FECAA25B2}"/>
              </a:ext>
            </a:extLst>
          </p:cNvPr>
          <p:cNvSpPr>
            <a:spLocks noGrp="1"/>
          </p:cNvSpPr>
          <p:nvPr>
            <p:ph type="body" idx="1"/>
          </p:nvPr>
        </p:nvSpPr>
        <p:spPr>
          <a:xfrm>
            <a:off x="2911151" y="1341122"/>
            <a:ext cx="8994709" cy="5380357"/>
          </a:xfrm>
        </p:spPr>
        <p:txBody>
          <a:bodyPr>
            <a:noAutofit/>
          </a:bodyPr>
          <a:lstStyle/>
          <a:p>
            <a:pPr>
              <a:lnSpc>
                <a:spcPct val="150000"/>
              </a:lnSpc>
            </a:pPr>
            <a:r>
              <a:rPr lang="en-US" sz="2400" b="1" dirty="0" err="1"/>
              <a:t>Mô</a:t>
            </a:r>
            <a:r>
              <a:rPr lang="en-US" sz="2400" b="1" dirty="0"/>
              <a:t> </a:t>
            </a:r>
            <a:r>
              <a:rPr lang="en-US" sz="2400" b="1" dirty="0" err="1"/>
              <a:t>phỏng</a:t>
            </a:r>
            <a:r>
              <a:rPr lang="en-US" sz="2400" b="1" dirty="0"/>
              <a:t> </a:t>
            </a:r>
            <a:r>
              <a:rPr lang="en-US" sz="2400" b="1" dirty="0" err="1"/>
              <a:t>thuật</a:t>
            </a:r>
            <a:r>
              <a:rPr lang="en-US" sz="2400" b="1" dirty="0"/>
              <a:t> </a:t>
            </a:r>
            <a:r>
              <a:rPr lang="en-US" sz="2400" b="1" dirty="0" err="1"/>
              <a:t>toán</a:t>
            </a:r>
            <a:r>
              <a:rPr lang="en-US" sz="2400" b="1" dirty="0"/>
              <a:t> SJF </a:t>
            </a:r>
            <a:r>
              <a:rPr lang="en-US" sz="2400" b="1" dirty="0" err="1"/>
              <a:t>và</a:t>
            </a:r>
            <a:r>
              <a:rPr lang="en-US" sz="2400" b="1" dirty="0"/>
              <a:t> </a:t>
            </a:r>
            <a:r>
              <a:rPr lang="vi-VN" sz="2400" b="1" dirty="0" err="1"/>
              <a:t>Priority</a:t>
            </a:r>
            <a:r>
              <a:rPr lang="vi-VN" sz="2400" b="1" dirty="0"/>
              <a:t>: </a:t>
            </a:r>
            <a:r>
              <a:rPr lang="en-US" sz="2400" dirty="0" err="1"/>
              <a:t>Tái</a:t>
            </a:r>
            <a:r>
              <a:rPr lang="en-US" sz="2400" dirty="0"/>
              <a:t> </a:t>
            </a:r>
            <a:r>
              <a:rPr lang="en-US" sz="2400" dirty="0" err="1"/>
              <a:t>hiện</a:t>
            </a:r>
            <a:r>
              <a:rPr lang="en-US" sz="2400" dirty="0"/>
              <a:t> </a:t>
            </a:r>
            <a:r>
              <a:rPr lang="en-US" sz="2400" dirty="0" err="1"/>
              <a:t>quá</a:t>
            </a:r>
            <a:r>
              <a:rPr lang="en-US" sz="2400" dirty="0"/>
              <a:t> </a:t>
            </a:r>
            <a:r>
              <a:rPr lang="en-US" sz="2400" dirty="0" err="1"/>
              <a:t>trình</a:t>
            </a:r>
            <a:r>
              <a:rPr lang="en-US" sz="2400" dirty="0"/>
              <a:t> </a:t>
            </a:r>
            <a:r>
              <a:rPr lang="en-US" sz="2400" dirty="0" err="1"/>
              <a:t>hoạt</a:t>
            </a:r>
            <a:r>
              <a:rPr lang="en-US" sz="2400" dirty="0"/>
              <a:t> </a:t>
            </a:r>
            <a:r>
              <a:rPr lang="en-US" sz="2400" dirty="0" err="1"/>
              <a:t>động</a:t>
            </a:r>
            <a:r>
              <a:rPr lang="en-US" sz="2400" dirty="0"/>
              <a:t> </a:t>
            </a:r>
            <a:r>
              <a:rPr lang="en-US" sz="2400" dirty="0" err="1"/>
              <a:t>của</a:t>
            </a:r>
            <a:r>
              <a:rPr lang="en-US" sz="2400" dirty="0"/>
              <a:t> </a:t>
            </a:r>
            <a:r>
              <a:rPr lang="en-US" sz="2400" dirty="0" err="1"/>
              <a:t>hai</a:t>
            </a:r>
            <a:r>
              <a:rPr lang="en-US" sz="2400" dirty="0"/>
              <a:t> </a:t>
            </a:r>
            <a:r>
              <a:rPr lang="en-US" sz="2400" dirty="0" err="1"/>
              <a:t>thuật</a:t>
            </a:r>
            <a:r>
              <a:rPr lang="en-US" sz="2400" dirty="0"/>
              <a:t> </a:t>
            </a:r>
            <a:r>
              <a:rPr lang="en-US" sz="2400" dirty="0" err="1"/>
              <a:t>toán</a:t>
            </a:r>
            <a:r>
              <a:rPr lang="en-US" sz="2400" dirty="0"/>
              <a:t> </a:t>
            </a:r>
            <a:r>
              <a:rPr lang="en-US" sz="2400" dirty="0" err="1"/>
              <a:t>lập</a:t>
            </a:r>
            <a:r>
              <a:rPr lang="en-US" sz="2400" dirty="0"/>
              <a:t> </a:t>
            </a:r>
            <a:r>
              <a:rPr lang="en-US" sz="2400" dirty="0" err="1"/>
              <a:t>lịch</a:t>
            </a:r>
            <a:r>
              <a:rPr lang="en-US" sz="2400" dirty="0"/>
              <a:t> CPU </a:t>
            </a:r>
            <a:r>
              <a:rPr lang="en-US" sz="2400" dirty="0" err="1"/>
              <a:t>này</a:t>
            </a:r>
            <a:r>
              <a:rPr lang="en-US" sz="2400" dirty="0"/>
              <a:t>, </a:t>
            </a:r>
            <a:r>
              <a:rPr lang="en-US" sz="2400" dirty="0" err="1"/>
              <a:t>giúp</a:t>
            </a:r>
            <a:r>
              <a:rPr lang="en-US" sz="2400" dirty="0"/>
              <a:t> </a:t>
            </a:r>
            <a:r>
              <a:rPr lang="en-US" sz="2400" dirty="0" err="1"/>
              <a:t>hiểu</a:t>
            </a:r>
            <a:r>
              <a:rPr lang="en-US" sz="2400" dirty="0"/>
              <a:t> </a:t>
            </a:r>
            <a:r>
              <a:rPr lang="en-US" sz="2400" dirty="0" err="1"/>
              <a:t>rõ</a:t>
            </a:r>
            <a:r>
              <a:rPr lang="en-US" sz="2400" dirty="0"/>
              <a:t> </a:t>
            </a:r>
            <a:r>
              <a:rPr lang="en-US" sz="2400" dirty="0" err="1"/>
              <a:t>cách</a:t>
            </a:r>
            <a:r>
              <a:rPr lang="en-US" sz="2400" dirty="0"/>
              <a:t> </a:t>
            </a:r>
            <a:r>
              <a:rPr lang="en-US" sz="2400" dirty="0" err="1"/>
              <a:t>hệ</a:t>
            </a:r>
            <a:r>
              <a:rPr lang="en-US" sz="2400" dirty="0"/>
              <a:t> </a:t>
            </a:r>
            <a:r>
              <a:rPr lang="en-US" sz="2400" dirty="0" err="1"/>
              <a:t>điều</a:t>
            </a:r>
            <a:r>
              <a:rPr lang="en-US" sz="2400" dirty="0"/>
              <a:t> </a:t>
            </a:r>
            <a:r>
              <a:rPr lang="en-US" sz="2400" dirty="0" err="1"/>
              <a:t>hành</a:t>
            </a:r>
            <a:r>
              <a:rPr lang="en-US" sz="2400" dirty="0"/>
              <a:t> </a:t>
            </a:r>
            <a:r>
              <a:rPr lang="en-US" sz="2400" dirty="0" err="1"/>
              <a:t>phân</a:t>
            </a:r>
            <a:r>
              <a:rPr lang="en-US" sz="2400" dirty="0"/>
              <a:t> </a:t>
            </a:r>
            <a:r>
              <a:rPr lang="en-US" sz="2400" dirty="0" err="1"/>
              <a:t>bổ</a:t>
            </a:r>
            <a:r>
              <a:rPr lang="en-US" sz="2400" dirty="0"/>
              <a:t> </a:t>
            </a:r>
            <a:r>
              <a:rPr lang="en-US" sz="2400" dirty="0" err="1"/>
              <a:t>tài</a:t>
            </a:r>
            <a:r>
              <a:rPr lang="en-US" sz="2400" dirty="0"/>
              <a:t> </a:t>
            </a:r>
            <a:r>
              <a:rPr lang="en-US" sz="2400" dirty="0" err="1"/>
              <a:t>nguyên</a:t>
            </a:r>
            <a:r>
              <a:rPr lang="en-US" sz="2400" dirty="0"/>
              <a:t> </a:t>
            </a:r>
            <a:r>
              <a:rPr lang="en-US" sz="2400" dirty="0" err="1"/>
              <a:t>và</a:t>
            </a:r>
            <a:r>
              <a:rPr lang="en-US" sz="2400" dirty="0"/>
              <a:t> </a:t>
            </a:r>
            <a:r>
              <a:rPr lang="en-US" sz="2400" dirty="0" err="1"/>
              <a:t>xử</a:t>
            </a:r>
            <a:r>
              <a:rPr lang="en-US" sz="2400" dirty="0"/>
              <a:t> </a:t>
            </a:r>
            <a:r>
              <a:rPr lang="en-US" sz="2400" dirty="0" err="1"/>
              <a:t>lý</a:t>
            </a:r>
            <a:r>
              <a:rPr lang="en-US" sz="2400" dirty="0"/>
              <a:t> </a:t>
            </a:r>
            <a:r>
              <a:rPr lang="en-US" sz="2400" dirty="0" err="1"/>
              <a:t>tiến</a:t>
            </a:r>
            <a:r>
              <a:rPr lang="en-US" sz="2400" dirty="0"/>
              <a:t> </a:t>
            </a:r>
            <a:r>
              <a:rPr lang="en-US" sz="2400" dirty="0" err="1"/>
              <a:t>trình</a:t>
            </a:r>
            <a:r>
              <a:rPr lang="en-US" sz="2400" dirty="0"/>
              <a:t>.</a:t>
            </a:r>
          </a:p>
          <a:p>
            <a:pPr>
              <a:lnSpc>
                <a:spcPct val="150000"/>
              </a:lnSpc>
            </a:pPr>
            <a:r>
              <a:rPr lang="en-US" sz="2400" b="1" dirty="0" err="1"/>
              <a:t>Nâng</a:t>
            </a:r>
            <a:r>
              <a:rPr lang="en-US" sz="2400" b="1" dirty="0"/>
              <a:t> </a:t>
            </a:r>
            <a:r>
              <a:rPr lang="en-US" sz="2400" b="1" dirty="0" err="1"/>
              <a:t>cao</a:t>
            </a:r>
            <a:r>
              <a:rPr lang="en-US" sz="2400" b="1" dirty="0"/>
              <a:t> </a:t>
            </a:r>
            <a:r>
              <a:rPr lang="en-US" sz="2400" b="1" dirty="0" err="1"/>
              <a:t>hiểu</a:t>
            </a:r>
            <a:r>
              <a:rPr lang="en-US" sz="2400" b="1" dirty="0"/>
              <a:t> </a:t>
            </a:r>
            <a:r>
              <a:rPr lang="en-US" sz="2400" b="1" dirty="0" err="1"/>
              <a:t>biết</a:t>
            </a:r>
            <a:r>
              <a:rPr lang="en-US" sz="2400" b="1" dirty="0"/>
              <a:t> </a:t>
            </a:r>
            <a:r>
              <a:rPr lang="en-US" sz="2400" b="1" dirty="0" err="1"/>
              <a:t>về</a:t>
            </a:r>
            <a:r>
              <a:rPr lang="en-US" sz="2400" b="1" dirty="0"/>
              <a:t> </a:t>
            </a:r>
            <a:r>
              <a:rPr lang="en-US" sz="2400" b="1" dirty="0" err="1"/>
              <a:t>hệ</a:t>
            </a:r>
            <a:r>
              <a:rPr lang="en-US" sz="2400" b="1" dirty="0"/>
              <a:t> </a:t>
            </a:r>
            <a:r>
              <a:rPr lang="en-US" sz="2400" b="1" dirty="0" err="1"/>
              <a:t>điều</a:t>
            </a:r>
            <a:r>
              <a:rPr lang="en-US" sz="2400" b="1" dirty="0"/>
              <a:t> </a:t>
            </a:r>
            <a:r>
              <a:rPr lang="vi-VN" sz="2400" b="1" dirty="0"/>
              <a:t>hành: </a:t>
            </a:r>
            <a:r>
              <a:rPr lang="en-US" sz="2400" dirty="0" err="1"/>
              <a:t>Đào</a:t>
            </a:r>
            <a:r>
              <a:rPr lang="en-US" sz="2400" dirty="0"/>
              <a:t> </a:t>
            </a:r>
            <a:r>
              <a:rPr lang="en-US" sz="2400" dirty="0" err="1"/>
              <a:t>sâu</a:t>
            </a:r>
            <a:r>
              <a:rPr lang="en-US" sz="2400" dirty="0"/>
              <a:t> </a:t>
            </a:r>
            <a:r>
              <a:rPr lang="en-US" sz="2400" dirty="0" err="1"/>
              <a:t>vào</a:t>
            </a:r>
            <a:r>
              <a:rPr lang="en-US" sz="2400" dirty="0"/>
              <a:t> </a:t>
            </a:r>
            <a:r>
              <a:rPr lang="en-US" sz="2400" dirty="0" err="1"/>
              <a:t>cách</a:t>
            </a:r>
            <a:r>
              <a:rPr lang="en-US" sz="2400" dirty="0"/>
              <a:t> </a:t>
            </a:r>
            <a:r>
              <a:rPr lang="en-US" sz="2400" dirty="0" err="1"/>
              <a:t>hệ</a:t>
            </a:r>
            <a:r>
              <a:rPr lang="en-US" sz="2400" dirty="0"/>
              <a:t> </a:t>
            </a:r>
            <a:r>
              <a:rPr lang="en-US" sz="2400" dirty="0" err="1"/>
              <a:t>điều</a:t>
            </a:r>
            <a:r>
              <a:rPr lang="en-US" sz="2400" dirty="0"/>
              <a:t> </a:t>
            </a:r>
            <a:r>
              <a:rPr lang="en-US" sz="2400" dirty="0" err="1"/>
              <a:t>hành</a:t>
            </a:r>
            <a:r>
              <a:rPr lang="en-US" sz="2400" dirty="0"/>
              <a:t> </a:t>
            </a:r>
            <a:r>
              <a:rPr lang="en-US" sz="2400" dirty="0" err="1"/>
              <a:t>quản</a:t>
            </a:r>
            <a:r>
              <a:rPr lang="en-US" sz="2400" dirty="0"/>
              <a:t> </a:t>
            </a:r>
            <a:r>
              <a:rPr lang="en-US" sz="2400" dirty="0" err="1"/>
              <a:t>lý</a:t>
            </a:r>
            <a:r>
              <a:rPr lang="en-US" sz="2400" dirty="0"/>
              <a:t> </a:t>
            </a:r>
            <a:r>
              <a:rPr lang="en-US" sz="2400" dirty="0" err="1"/>
              <a:t>tài</a:t>
            </a:r>
            <a:r>
              <a:rPr lang="en-US" sz="2400" dirty="0"/>
              <a:t> </a:t>
            </a:r>
            <a:r>
              <a:rPr lang="en-US" sz="2400" dirty="0" err="1"/>
              <a:t>nguyên</a:t>
            </a:r>
            <a:r>
              <a:rPr lang="en-US" sz="2400" dirty="0"/>
              <a:t>, </a:t>
            </a:r>
            <a:r>
              <a:rPr lang="en-US" sz="2400" dirty="0" err="1"/>
              <a:t>tập</a:t>
            </a:r>
            <a:r>
              <a:rPr lang="en-US" sz="2400" dirty="0"/>
              <a:t> </a:t>
            </a:r>
            <a:r>
              <a:rPr lang="en-US" sz="2400" dirty="0" err="1"/>
              <a:t>trung</a:t>
            </a:r>
            <a:r>
              <a:rPr lang="en-US" sz="2400" dirty="0"/>
              <a:t> </a:t>
            </a:r>
            <a:r>
              <a:rPr lang="en-US" sz="2400" dirty="0" err="1"/>
              <a:t>vào</a:t>
            </a:r>
            <a:r>
              <a:rPr lang="en-US" sz="2400" dirty="0"/>
              <a:t> </a:t>
            </a:r>
            <a:r>
              <a:rPr lang="en-US" sz="2400" dirty="0" err="1"/>
              <a:t>chức</a:t>
            </a:r>
            <a:r>
              <a:rPr lang="en-US" sz="2400" dirty="0"/>
              <a:t> </a:t>
            </a:r>
            <a:r>
              <a:rPr lang="en-US" sz="2400" dirty="0" err="1"/>
              <a:t>năng</a:t>
            </a:r>
            <a:r>
              <a:rPr lang="en-US" sz="2400" dirty="0"/>
              <a:t> </a:t>
            </a:r>
            <a:r>
              <a:rPr lang="en-US" sz="2400" dirty="0" err="1"/>
              <a:t>của</a:t>
            </a:r>
            <a:r>
              <a:rPr lang="en-US" sz="2400" dirty="0"/>
              <a:t> </a:t>
            </a:r>
            <a:r>
              <a:rPr lang="en-US" sz="2400" dirty="0" err="1"/>
              <a:t>bộ</a:t>
            </a:r>
            <a:r>
              <a:rPr lang="en-US" sz="2400" dirty="0"/>
              <a:t> </a:t>
            </a:r>
            <a:r>
              <a:rPr lang="en-US" sz="2400" dirty="0" err="1"/>
              <a:t>lập</a:t>
            </a:r>
            <a:r>
              <a:rPr lang="en-US" sz="2400" dirty="0"/>
              <a:t> </a:t>
            </a:r>
            <a:r>
              <a:rPr lang="en-US" sz="2400" dirty="0" err="1"/>
              <a:t>lịch</a:t>
            </a:r>
            <a:r>
              <a:rPr lang="en-US" sz="2400" dirty="0"/>
              <a:t> CPU.</a:t>
            </a:r>
          </a:p>
          <a:p>
            <a:pPr>
              <a:lnSpc>
                <a:spcPct val="150000"/>
              </a:lnSpc>
            </a:pPr>
            <a:r>
              <a:rPr lang="en-US" sz="2400" b="1" dirty="0"/>
              <a:t>Cung </a:t>
            </a:r>
            <a:r>
              <a:rPr lang="en-US" sz="2400" b="1" dirty="0" err="1"/>
              <a:t>cấp</a:t>
            </a:r>
            <a:r>
              <a:rPr lang="en-US" sz="2400" b="1" dirty="0"/>
              <a:t> </a:t>
            </a:r>
            <a:r>
              <a:rPr lang="en-US" sz="2400" b="1" dirty="0" err="1"/>
              <a:t>minh</a:t>
            </a:r>
            <a:r>
              <a:rPr lang="en-US" sz="2400" b="1" dirty="0"/>
              <a:t> </a:t>
            </a:r>
            <a:r>
              <a:rPr lang="en-US" sz="2400" b="1" dirty="0" err="1"/>
              <a:t>họa</a:t>
            </a:r>
            <a:r>
              <a:rPr lang="en-US" sz="2400" b="1" dirty="0"/>
              <a:t> </a:t>
            </a:r>
            <a:r>
              <a:rPr lang="en-US" sz="2400" b="1" dirty="0" err="1"/>
              <a:t>trực</a:t>
            </a:r>
            <a:r>
              <a:rPr lang="en-US" sz="2400" b="1" dirty="0"/>
              <a:t> </a:t>
            </a:r>
            <a:r>
              <a:rPr lang="vi-VN" sz="2400" b="1" dirty="0"/>
              <a:t>quan: </a:t>
            </a:r>
            <a:r>
              <a:rPr lang="vi-VN" sz="2400" dirty="0"/>
              <a:t>Sử dụng các công cụ lập biểu đồ như Gantt Chart để biểu đạt hoạt động của thuật toán, hỗ trợ trong việc nghiên cứu và giảng dạy.</a:t>
            </a:r>
          </a:p>
          <a:p>
            <a:pPr marL="0" indent="0">
              <a:lnSpc>
                <a:spcPct val="150000"/>
              </a:lnSpc>
              <a:buNone/>
            </a:pPr>
            <a:endParaRPr lang="en-US" sz="2400" dirty="0"/>
          </a:p>
          <a:p>
            <a:pPr>
              <a:lnSpc>
                <a:spcPct val="150000"/>
              </a:lnSpc>
            </a:pPr>
            <a:endParaRPr lang="en-US" sz="2400" dirty="0"/>
          </a:p>
        </p:txBody>
      </p:sp>
      <p:sp>
        <p:nvSpPr>
          <p:cNvPr id="4" name="Date Placeholder 3">
            <a:extLst>
              <a:ext uri="{FF2B5EF4-FFF2-40B4-BE49-F238E27FC236}">
                <a16:creationId xmlns:a16="http://schemas.microsoft.com/office/drawing/2014/main" id="{ECA23F3E-C83A-5611-3271-F4A1673B562E}"/>
              </a:ext>
            </a:extLst>
          </p:cNvPr>
          <p:cNvSpPr>
            <a:spLocks noGrp="1"/>
          </p:cNvSpPr>
          <p:nvPr>
            <p:ph type="dt" sz="half" idx="10"/>
          </p:nvPr>
        </p:nvSpPr>
        <p:spPr/>
        <p:txBody>
          <a:bodyPr/>
          <a:lstStyle/>
          <a:p>
            <a:fld id="{8120E8D4-A788-401D-B4EB-986FE0AC4358}" type="datetime1">
              <a:rPr lang="en-US" smtClean="0"/>
              <a:t>4/14/2026</a:t>
            </a:fld>
            <a:endParaRPr lang="en-US"/>
          </a:p>
        </p:txBody>
      </p:sp>
      <p:sp>
        <p:nvSpPr>
          <p:cNvPr id="6" name="Slide Number Placeholder 5">
            <a:extLst>
              <a:ext uri="{FF2B5EF4-FFF2-40B4-BE49-F238E27FC236}">
                <a16:creationId xmlns:a16="http://schemas.microsoft.com/office/drawing/2014/main" id="{C5B39CEF-CAB0-668F-887F-9DBE96CD6A87}"/>
              </a:ext>
            </a:extLst>
          </p:cNvPr>
          <p:cNvSpPr>
            <a:spLocks noGrp="1"/>
          </p:cNvSpPr>
          <p:nvPr>
            <p:ph type="sldNum" sz="quarter" idx="12"/>
          </p:nvPr>
        </p:nvSpPr>
        <p:spPr/>
        <p:txBody>
          <a:bodyPr/>
          <a:lstStyle/>
          <a:p>
            <a:fld id="{6C56B8FA-5C00-4693-8C7F-3776FF570F07}" type="slidenum">
              <a:rPr lang="en-US" smtClean="0"/>
              <a:t>4</a:t>
            </a:fld>
            <a:endParaRPr lang="en-US"/>
          </a:p>
        </p:txBody>
      </p:sp>
      <p:pic>
        <p:nvPicPr>
          <p:cNvPr id="8" name="Picture 7">
            <a:extLst>
              <a:ext uri="{FF2B5EF4-FFF2-40B4-BE49-F238E27FC236}">
                <a16:creationId xmlns:a16="http://schemas.microsoft.com/office/drawing/2014/main" id="{D570BE07-2E20-27A6-B083-205351CFC9A0}"/>
              </a:ext>
            </a:extLst>
          </p:cNvPr>
          <p:cNvPicPr>
            <a:picLocks noChangeAspect="1"/>
          </p:cNvPicPr>
          <p:nvPr/>
        </p:nvPicPr>
        <p:blipFill>
          <a:blip r:embed="rId2"/>
          <a:srcRect l="9917" t="1703" r="10431" b="3400"/>
          <a:stretch/>
        </p:blipFill>
        <p:spPr>
          <a:xfrm>
            <a:off x="642257" y="2174032"/>
            <a:ext cx="1567543" cy="3582956"/>
          </a:xfrm>
          <a:prstGeom prst="rect">
            <a:avLst/>
          </a:prstGeom>
        </p:spPr>
      </p:pic>
    </p:spTree>
    <p:extLst>
      <p:ext uri="{BB962C8B-B14F-4D97-AF65-F5344CB8AC3E}">
        <p14:creationId xmlns:p14="http://schemas.microsoft.com/office/powerpoint/2010/main" val="2984785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BA61F-3805-1C2E-02C0-C0F141C57C09}"/>
              </a:ext>
            </a:extLst>
          </p:cNvPr>
          <p:cNvSpPr>
            <a:spLocks noGrp="1"/>
          </p:cNvSpPr>
          <p:nvPr>
            <p:ph type="title"/>
          </p:nvPr>
        </p:nvSpPr>
        <p:spPr/>
        <p:txBody>
          <a:bodyPr>
            <a:normAutofit/>
          </a:bodyPr>
          <a:lstStyle/>
          <a:p>
            <a:r>
              <a:rPr lang="en-US" b="1" dirty="0"/>
              <a:t>Phạm vi</a:t>
            </a:r>
            <a:endParaRPr lang="en-US" dirty="0"/>
          </a:p>
        </p:txBody>
      </p:sp>
      <p:sp>
        <p:nvSpPr>
          <p:cNvPr id="3" name="Text Placeholder 2">
            <a:extLst>
              <a:ext uri="{FF2B5EF4-FFF2-40B4-BE49-F238E27FC236}">
                <a16:creationId xmlns:a16="http://schemas.microsoft.com/office/drawing/2014/main" id="{F12FCDD9-6DCA-CB6D-622B-FCDB52D19B03}"/>
              </a:ext>
            </a:extLst>
          </p:cNvPr>
          <p:cNvSpPr>
            <a:spLocks noGrp="1"/>
          </p:cNvSpPr>
          <p:nvPr>
            <p:ph type="body" idx="1"/>
          </p:nvPr>
        </p:nvSpPr>
        <p:spPr/>
        <p:txBody>
          <a:bodyPr>
            <a:normAutofit/>
          </a:bodyPr>
          <a:lstStyle/>
          <a:p>
            <a:r>
              <a:rPr lang="vi-VN" sz="2800" b="1" dirty="0"/>
              <a:t>Triển khai thuật toán SJF không ưu tiên (non-preemptive)</a:t>
            </a:r>
            <a:endParaRPr lang="en-US" sz="2800" b="1" dirty="0"/>
          </a:p>
          <a:p>
            <a:pPr marL="0" indent="0">
              <a:buNone/>
            </a:pPr>
            <a:r>
              <a:rPr lang="en-US" sz="1900" dirty="0" err="1"/>
              <a:t>Mô</a:t>
            </a:r>
            <a:r>
              <a:rPr lang="en-US" sz="1900" dirty="0"/>
              <a:t> </a:t>
            </a:r>
            <a:r>
              <a:rPr lang="en-US" sz="1900" dirty="0" err="1"/>
              <a:t>phỏng</a:t>
            </a:r>
            <a:r>
              <a:rPr lang="en-US" sz="1900" dirty="0"/>
              <a:t> </a:t>
            </a:r>
            <a:r>
              <a:rPr lang="en-US" sz="1900" dirty="0" err="1"/>
              <a:t>sự</a:t>
            </a:r>
            <a:r>
              <a:rPr lang="en-US" sz="1900" dirty="0"/>
              <a:t> </a:t>
            </a:r>
            <a:r>
              <a:rPr lang="en-US" sz="1900" dirty="0" err="1"/>
              <a:t>chọn</a:t>
            </a:r>
            <a:r>
              <a:rPr lang="en-US" sz="1900" dirty="0"/>
              <a:t> </a:t>
            </a:r>
            <a:r>
              <a:rPr lang="en-US" sz="1900" dirty="0" err="1"/>
              <a:t>lựa</a:t>
            </a:r>
            <a:r>
              <a:rPr lang="en-US" sz="1900" dirty="0"/>
              <a:t> </a:t>
            </a:r>
            <a:r>
              <a:rPr lang="en-US" sz="1900" dirty="0" err="1"/>
              <a:t>tiến</a:t>
            </a:r>
            <a:r>
              <a:rPr lang="en-US" sz="1900" dirty="0"/>
              <a:t> </a:t>
            </a:r>
            <a:r>
              <a:rPr lang="en-US" sz="1900" dirty="0" err="1"/>
              <a:t>trình</a:t>
            </a:r>
            <a:r>
              <a:rPr lang="en-US" sz="1900" dirty="0"/>
              <a:t> </a:t>
            </a:r>
            <a:r>
              <a:rPr lang="en-US" sz="1900" dirty="0" err="1"/>
              <a:t>dựa</a:t>
            </a:r>
            <a:r>
              <a:rPr lang="en-US" sz="1900" dirty="0"/>
              <a:t> </a:t>
            </a:r>
            <a:r>
              <a:rPr lang="en-US" sz="1900" dirty="0" err="1"/>
              <a:t>trên</a:t>
            </a:r>
            <a:r>
              <a:rPr lang="en-US" sz="1900" dirty="0"/>
              <a:t> </a:t>
            </a:r>
            <a:r>
              <a:rPr lang="en-US" sz="1900" dirty="0" err="1"/>
              <a:t>thời</a:t>
            </a:r>
            <a:r>
              <a:rPr lang="en-US" sz="1900" dirty="0"/>
              <a:t> </a:t>
            </a:r>
            <a:r>
              <a:rPr lang="en-US" sz="1900" dirty="0" err="1"/>
              <a:t>gian</a:t>
            </a:r>
            <a:r>
              <a:rPr lang="en-US" sz="1900" dirty="0"/>
              <a:t> burst time </a:t>
            </a:r>
            <a:r>
              <a:rPr lang="en-US" sz="1900" dirty="0" err="1"/>
              <a:t>thấp</a:t>
            </a:r>
            <a:r>
              <a:rPr lang="en-US" sz="1900" dirty="0"/>
              <a:t> </a:t>
            </a:r>
            <a:r>
              <a:rPr lang="en-US" sz="1900" dirty="0" err="1"/>
              <a:t>nhất</a:t>
            </a:r>
            <a:r>
              <a:rPr lang="en-US" sz="1900" dirty="0"/>
              <a:t>, </a:t>
            </a:r>
            <a:r>
              <a:rPr lang="en-US" sz="1900" dirty="0" err="1"/>
              <a:t>giúp</a:t>
            </a:r>
            <a:r>
              <a:rPr lang="en-US" sz="1900" dirty="0"/>
              <a:t> </a:t>
            </a:r>
            <a:r>
              <a:rPr lang="en-US" sz="1900" dirty="0" err="1"/>
              <a:t>tiết</a:t>
            </a:r>
            <a:r>
              <a:rPr lang="en-US" sz="1900" dirty="0"/>
              <a:t> </a:t>
            </a:r>
            <a:r>
              <a:rPr lang="en-US" sz="1900" dirty="0" err="1"/>
              <a:t>kiệm</a:t>
            </a:r>
            <a:r>
              <a:rPr lang="en-US" sz="1900" dirty="0"/>
              <a:t> </a:t>
            </a:r>
            <a:r>
              <a:rPr lang="en-US" sz="1900" dirty="0" err="1"/>
              <a:t>tài</a:t>
            </a:r>
            <a:r>
              <a:rPr lang="en-US" sz="1900" dirty="0"/>
              <a:t> </a:t>
            </a:r>
            <a:r>
              <a:rPr lang="en-US" sz="1900" dirty="0" err="1"/>
              <a:t>nguyên</a:t>
            </a:r>
            <a:r>
              <a:rPr lang="en-US" sz="1900" dirty="0"/>
              <a:t> </a:t>
            </a:r>
            <a:r>
              <a:rPr lang="en-US" sz="1900" dirty="0" err="1"/>
              <a:t>và</a:t>
            </a:r>
            <a:r>
              <a:rPr lang="en-US" sz="1900" dirty="0"/>
              <a:t> </a:t>
            </a:r>
            <a:r>
              <a:rPr lang="en-US" sz="1900" dirty="0" err="1"/>
              <a:t>cải</a:t>
            </a:r>
            <a:r>
              <a:rPr lang="en-US" sz="1900" dirty="0"/>
              <a:t> </a:t>
            </a:r>
            <a:r>
              <a:rPr lang="en-US" sz="1900" dirty="0" err="1"/>
              <a:t>thiện</a:t>
            </a:r>
            <a:r>
              <a:rPr lang="en-US" sz="1900" dirty="0"/>
              <a:t> </a:t>
            </a:r>
            <a:r>
              <a:rPr lang="en-US" sz="1900" dirty="0" err="1"/>
              <a:t>hiệu</a:t>
            </a:r>
            <a:r>
              <a:rPr lang="en-US" sz="1900" dirty="0"/>
              <a:t> </a:t>
            </a:r>
            <a:r>
              <a:rPr lang="en-US" sz="1900" dirty="0" err="1"/>
              <a:t>năng</a:t>
            </a:r>
            <a:r>
              <a:rPr lang="en-US" sz="1900" dirty="0"/>
              <a:t>.</a:t>
            </a:r>
            <a:r>
              <a:rPr lang="en-US" dirty="0"/>
              <a:t>	</a:t>
            </a:r>
          </a:p>
          <a:p>
            <a:r>
              <a:rPr lang="vi-VN" sz="2800" b="1" dirty="0"/>
              <a:t>Triển khai thuật toán Priority không ưu tiên</a:t>
            </a:r>
            <a:endParaRPr lang="vi-VN" dirty="0"/>
          </a:p>
          <a:p>
            <a:pPr marL="0" indent="0">
              <a:buNone/>
            </a:pPr>
            <a:r>
              <a:rPr lang="vi-VN" sz="1900" dirty="0"/>
              <a:t>Áp dụng các nguyên tắc ưu tiên tiến trình dựa trên độ ưu tiên được chỉ định, đảm bảo các tiến trình quan trọng nhận được xử lý trước.</a:t>
            </a:r>
          </a:p>
          <a:p>
            <a:r>
              <a:rPr lang="en-US" sz="2800" b="1"/>
              <a:t>Công</a:t>
            </a:r>
            <a:r>
              <a:rPr lang="en-US" sz="2800" b="1" dirty="0"/>
              <a:t> </a:t>
            </a:r>
            <a:r>
              <a:rPr lang="en-US" sz="2800" b="1" dirty="0" err="1"/>
              <a:t>nghệ</a:t>
            </a:r>
            <a:r>
              <a:rPr lang="en-US" sz="2800" b="1" dirty="0"/>
              <a:t> </a:t>
            </a:r>
            <a:r>
              <a:rPr lang="en-US" sz="2800" b="1" dirty="0" err="1"/>
              <a:t>sử</a:t>
            </a:r>
            <a:r>
              <a:rPr lang="en-US" sz="2800" b="1" dirty="0"/>
              <a:t> </a:t>
            </a:r>
            <a:r>
              <a:rPr lang="en-US" sz="2800" b="1" dirty="0" err="1"/>
              <a:t>dụng</a:t>
            </a:r>
            <a:endParaRPr lang="en-US" sz="2800" b="1" dirty="0"/>
          </a:p>
          <a:p>
            <a:pPr marL="0" indent="0">
              <a:buNone/>
            </a:pPr>
            <a:r>
              <a:rPr lang="vi-VN" sz="1800" dirty="0"/>
              <a:t>Sử dụng ngôn ngữ lập trình Python và thư viện pandas để xử lý dữ liệu, cung cấp một cách tiếp cận hiện đại và dễ sử dụng trong việc hiển thị và phân tích dữ liệu.</a:t>
            </a:r>
          </a:p>
          <a:p>
            <a:pPr marL="0" indent="0">
              <a:buNone/>
            </a:pPr>
            <a:endParaRPr lang="en-US" dirty="0"/>
          </a:p>
          <a:p>
            <a:pPr marL="0" indent="0">
              <a:buNone/>
            </a:pPr>
            <a:endParaRPr lang="en-US" dirty="0"/>
          </a:p>
        </p:txBody>
      </p:sp>
      <p:sp>
        <p:nvSpPr>
          <p:cNvPr id="6" name="Slide Number Placeholder 5">
            <a:extLst>
              <a:ext uri="{FF2B5EF4-FFF2-40B4-BE49-F238E27FC236}">
                <a16:creationId xmlns:a16="http://schemas.microsoft.com/office/drawing/2014/main" id="{8AC5A06C-6112-0537-65E6-E5CE299E11D9}"/>
              </a:ext>
            </a:extLst>
          </p:cNvPr>
          <p:cNvSpPr>
            <a:spLocks noGrp="1"/>
          </p:cNvSpPr>
          <p:nvPr>
            <p:ph type="sldNum" sz="quarter" idx="12"/>
          </p:nvPr>
        </p:nvSpPr>
        <p:spPr/>
        <p:txBody>
          <a:bodyPr/>
          <a:lstStyle/>
          <a:p>
            <a:fld id="{6C56B8FA-5C00-4693-8C7F-3776FF570F07}" type="slidenum">
              <a:rPr lang="en-US" smtClean="0"/>
              <a:t>5</a:t>
            </a:fld>
            <a:endParaRPr lang="en-US"/>
          </a:p>
        </p:txBody>
      </p:sp>
    </p:spTree>
    <p:extLst>
      <p:ext uri="{BB962C8B-B14F-4D97-AF65-F5344CB8AC3E}">
        <p14:creationId xmlns:p14="http://schemas.microsoft.com/office/powerpoint/2010/main" val="1805948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2C010-F439-AC88-CB2A-F0C924F083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A73A7-2DC9-834F-C3E9-56C1E63A318E}"/>
              </a:ext>
            </a:extLst>
          </p:cNvPr>
          <p:cNvSpPr>
            <a:spLocks noGrp="1"/>
          </p:cNvSpPr>
          <p:nvPr>
            <p:ph type="title"/>
          </p:nvPr>
        </p:nvSpPr>
        <p:spPr>
          <a:xfrm>
            <a:off x="6531429" y="4727211"/>
            <a:ext cx="5199483" cy="1272373"/>
          </a:xfrm>
        </p:spPr>
        <p:txBody>
          <a:bodyPr>
            <a:normAutofit/>
          </a:bodyPr>
          <a:lstStyle/>
          <a:p>
            <a:pPr algn="r"/>
            <a:r>
              <a:rPr lang="vi-VN" sz="3600" b="1" dirty="0"/>
              <a:t>Cấu trúc và triển khai chương trình</a:t>
            </a:r>
            <a:endParaRPr lang="vi-VN" sz="3600" dirty="0">
              <a:effectLst/>
            </a:endParaRPr>
          </a:p>
        </p:txBody>
      </p:sp>
      <p:sp>
        <p:nvSpPr>
          <p:cNvPr id="4" name="Date Placeholder 3">
            <a:extLst>
              <a:ext uri="{FF2B5EF4-FFF2-40B4-BE49-F238E27FC236}">
                <a16:creationId xmlns:a16="http://schemas.microsoft.com/office/drawing/2014/main" id="{9D10EBA2-11BB-6B7D-AA63-AB8F1AEF453E}"/>
              </a:ext>
            </a:extLst>
          </p:cNvPr>
          <p:cNvSpPr>
            <a:spLocks noGrp="1"/>
          </p:cNvSpPr>
          <p:nvPr>
            <p:ph type="dt" sz="half" idx="10"/>
          </p:nvPr>
        </p:nvSpPr>
        <p:spPr/>
        <p:txBody>
          <a:bodyPr/>
          <a:lstStyle/>
          <a:p>
            <a:fld id="{F96A87E1-9421-4CB4-9C4B-92F8E5D00273}" type="datetime1">
              <a:rPr lang="en-US" smtClean="0"/>
              <a:t>4/14/2026</a:t>
            </a:fld>
            <a:endParaRPr lang="en-US"/>
          </a:p>
        </p:txBody>
      </p:sp>
      <p:sp>
        <p:nvSpPr>
          <p:cNvPr id="6" name="Slide Number Placeholder 5">
            <a:extLst>
              <a:ext uri="{FF2B5EF4-FFF2-40B4-BE49-F238E27FC236}">
                <a16:creationId xmlns:a16="http://schemas.microsoft.com/office/drawing/2014/main" id="{F703F24C-1E2C-C29F-257E-947F34085E73}"/>
              </a:ext>
            </a:extLst>
          </p:cNvPr>
          <p:cNvSpPr>
            <a:spLocks noGrp="1"/>
          </p:cNvSpPr>
          <p:nvPr>
            <p:ph type="sldNum" sz="quarter" idx="12"/>
          </p:nvPr>
        </p:nvSpPr>
        <p:spPr/>
        <p:txBody>
          <a:bodyPr/>
          <a:lstStyle/>
          <a:p>
            <a:fld id="{6C56B8FA-5C00-4693-8C7F-3776FF570F07}" type="slidenum">
              <a:rPr lang="en-US" smtClean="0"/>
              <a:t>6</a:t>
            </a:fld>
            <a:endParaRPr lang="en-US"/>
          </a:p>
        </p:txBody>
      </p:sp>
      <p:sp>
        <p:nvSpPr>
          <p:cNvPr id="7" name="TextBox 6">
            <a:extLst>
              <a:ext uri="{FF2B5EF4-FFF2-40B4-BE49-F238E27FC236}">
                <a16:creationId xmlns:a16="http://schemas.microsoft.com/office/drawing/2014/main" id="{EA148E6C-FDCA-07DA-EA39-9301FDEAA0B5}"/>
              </a:ext>
            </a:extLst>
          </p:cNvPr>
          <p:cNvSpPr txBox="1"/>
          <p:nvPr/>
        </p:nvSpPr>
        <p:spPr>
          <a:xfrm>
            <a:off x="9497971" y="3862609"/>
            <a:ext cx="968457" cy="1015663"/>
          </a:xfrm>
          <a:prstGeom prst="rect">
            <a:avLst/>
          </a:prstGeom>
          <a:noFill/>
        </p:spPr>
        <p:txBody>
          <a:bodyPr wrap="square" rtlCol="0">
            <a:spAutoFit/>
          </a:bodyPr>
          <a:lstStyle/>
          <a:p>
            <a:r>
              <a:rPr lang="en-US" sz="6000" dirty="0">
                <a:solidFill>
                  <a:schemeClr val="accent1">
                    <a:lumMod val="50000"/>
                  </a:schemeClr>
                </a:solidFill>
              </a:rPr>
              <a:t>02</a:t>
            </a:r>
            <a:endParaRPr lang="en-US" sz="4800" dirty="0">
              <a:solidFill>
                <a:schemeClr val="accent1">
                  <a:lumMod val="50000"/>
                </a:schemeClr>
              </a:solidFill>
            </a:endParaRPr>
          </a:p>
        </p:txBody>
      </p:sp>
    </p:spTree>
    <p:extLst>
      <p:ext uri="{BB962C8B-B14F-4D97-AF65-F5344CB8AC3E}">
        <p14:creationId xmlns:p14="http://schemas.microsoft.com/office/powerpoint/2010/main" val="4284221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00DF-F654-664E-DB40-87B36C9CCE6D}"/>
              </a:ext>
            </a:extLst>
          </p:cNvPr>
          <p:cNvSpPr>
            <a:spLocks noGrp="1"/>
          </p:cNvSpPr>
          <p:nvPr>
            <p:ph type="title"/>
          </p:nvPr>
        </p:nvSpPr>
        <p:spPr/>
        <p:txBody>
          <a:bodyPr>
            <a:normAutofit/>
          </a:bodyPr>
          <a:lstStyle/>
          <a:p>
            <a:r>
              <a:rPr lang="vi-VN" b="1" dirty="0"/>
              <a:t>Các mô-đun chương trình</a:t>
            </a:r>
            <a:endParaRPr lang="en-US" dirty="0"/>
          </a:p>
        </p:txBody>
      </p:sp>
      <p:sp>
        <p:nvSpPr>
          <p:cNvPr id="3" name="Text Placeholder 2">
            <a:extLst>
              <a:ext uri="{FF2B5EF4-FFF2-40B4-BE49-F238E27FC236}">
                <a16:creationId xmlns:a16="http://schemas.microsoft.com/office/drawing/2014/main" id="{60B18C0D-A1A7-777C-CE82-D1537F189888}"/>
              </a:ext>
            </a:extLst>
          </p:cNvPr>
          <p:cNvSpPr>
            <a:spLocks noGrp="1"/>
          </p:cNvSpPr>
          <p:nvPr>
            <p:ph type="body" idx="1"/>
          </p:nvPr>
        </p:nvSpPr>
        <p:spPr>
          <a:xfrm>
            <a:off x="4432040" y="2175030"/>
            <a:ext cx="6921759" cy="4001934"/>
          </a:xfrm>
        </p:spPr>
        <p:txBody>
          <a:bodyPr>
            <a:normAutofit/>
          </a:bodyPr>
          <a:lstStyle/>
          <a:p>
            <a:pPr marL="0" indent="0">
              <a:buNone/>
            </a:pPr>
            <a:r>
              <a:rPr lang="en-US" sz="2800" b="1" dirty="0"/>
              <a:t>	</a:t>
            </a:r>
            <a:r>
              <a:rPr lang="en-US" sz="2800" b="1" dirty="0" err="1"/>
              <a:t>Mô-đun</a:t>
            </a:r>
            <a:r>
              <a:rPr lang="en-US" sz="2800" b="1" dirty="0"/>
              <a:t> </a:t>
            </a:r>
            <a:r>
              <a:rPr lang="en-US" sz="2800" b="1" dirty="0" err="1"/>
              <a:t>đọc</a:t>
            </a:r>
            <a:r>
              <a:rPr lang="en-US" sz="2800" b="1" dirty="0"/>
              <a:t> </a:t>
            </a:r>
            <a:r>
              <a:rPr lang="en-US" sz="2800" b="1" dirty="0" err="1"/>
              <a:t>dữ</a:t>
            </a:r>
            <a:r>
              <a:rPr lang="en-US" sz="2800" b="1" dirty="0"/>
              <a:t> </a:t>
            </a:r>
            <a:r>
              <a:rPr lang="en-US" sz="2800" b="1" dirty="0" err="1"/>
              <a:t>liệu</a:t>
            </a:r>
            <a:endParaRPr lang="en-US" sz="2800" dirty="0"/>
          </a:p>
          <a:p>
            <a:pPr marL="0" indent="0">
              <a:buNone/>
            </a:pPr>
            <a:r>
              <a:rPr lang="vi-VN" sz="2000" dirty="0"/>
              <a:t>Chức năng đọc thông tin từ file CSV, kiểm tra tính hợp lệ của dữ liệu đầu vào như burst time và priority.</a:t>
            </a:r>
            <a:endParaRPr lang="en-US" sz="2000" dirty="0"/>
          </a:p>
          <a:p>
            <a:pPr marL="0" indent="0">
              <a:buNone/>
            </a:pPr>
            <a:r>
              <a:rPr lang="en-US" b="1" dirty="0"/>
              <a:t>	</a:t>
            </a:r>
            <a:r>
              <a:rPr lang="en-US" sz="2800" b="1" dirty="0" err="1"/>
              <a:t>Mô-đun</a:t>
            </a:r>
            <a:r>
              <a:rPr lang="en-US" sz="2800" b="1" dirty="0"/>
              <a:t> </a:t>
            </a:r>
            <a:r>
              <a:rPr lang="en-US" sz="2800" b="1" dirty="0" err="1"/>
              <a:t>ghi</a:t>
            </a:r>
            <a:r>
              <a:rPr lang="en-US" sz="2800" b="1" dirty="0"/>
              <a:t> </a:t>
            </a:r>
            <a:r>
              <a:rPr lang="en-US" sz="2800" b="1" dirty="0" err="1"/>
              <a:t>kết</a:t>
            </a:r>
            <a:r>
              <a:rPr lang="en-US" sz="2800" b="1" dirty="0"/>
              <a:t> </a:t>
            </a:r>
            <a:r>
              <a:rPr lang="en-US" sz="2800" b="1" dirty="0" err="1"/>
              <a:t>quả</a:t>
            </a:r>
            <a:br>
              <a:rPr lang="en-US" sz="2800" b="1" dirty="0"/>
            </a:br>
            <a:r>
              <a:rPr lang="en-US" sz="2000" dirty="0" err="1"/>
              <a:t>Xuất</a:t>
            </a:r>
            <a:r>
              <a:rPr lang="en-US" sz="2000" dirty="0"/>
              <a:t> </a:t>
            </a:r>
            <a:r>
              <a:rPr lang="en-US" sz="2000" dirty="0" err="1"/>
              <a:t>kết</a:t>
            </a:r>
            <a:r>
              <a:rPr lang="en-US" sz="2000" dirty="0"/>
              <a:t> </a:t>
            </a:r>
            <a:r>
              <a:rPr lang="en-US" sz="2000" dirty="0" err="1"/>
              <a:t>quả</a:t>
            </a:r>
            <a:r>
              <a:rPr lang="en-US" sz="2000" dirty="0"/>
              <a:t> </a:t>
            </a:r>
            <a:r>
              <a:rPr lang="en-US" sz="2000" dirty="0" err="1"/>
              <a:t>sau</a:t>
            </a:r>
            <a:r>
              <a:rPr lang="en-US" sz="2000" dirty="0"/>
              <a:t> </a:t>
            </a:r>
            <a:r>
              <a:rPr lang="en-US" sz="2000" dirty="0" err="1"/>
              <a:t>khi</a:t>
            </a:r>
            <a:r>
              <a:rPr lang="en-US" sz="2000" dirty="0"/>
              <a:t> </a:t>
            </a:r>
            <a:r>
              <a:rPr lang="en-US" sz="2000" dirty="0" err="1"/>
              <a:t>lập</a:t>
            </a:r>
            <a:r>
              <a:rPr lang="en-US" sz="2000" dirty="0"/>
              <a:t> </a:t>
            </a:r>
            <a:r>
              <a:rPr lang="en-US" sz="2000" dirty="0" err="1"/>
              <a:t>lịch</a:t>
            </a:r>
            <a:r>
              <a:rPr lang="en-US" sz="2000" dirty="0"/>
              <a:t>, bao </a:t>
            </a:r>
            <a:r>
              <a:rPr lang="en-US" sz="2000" dirty="0" err="1"/>
              <a:t>gồm</a:t>
            </a:r>
            <a:r>
              <a:rPr lang="en-US" sz="2000" dirty="0"/>
              <a:t> </a:t>
            </a:r>
            <a:r>
              <a:rPr lang="en-US" sz="2000" dirty="0" err="1"/>
              <a:t>thứ</a:t>
            </a:r>
            <a:r>
              <a:rPr lang="en-US" sz="2000" dirty="0"/>
              <a:t> </a:t>
            </a:r>
            <a:r>
              <a:rPr lang="en-US" sz="2000" dirty="0" err="1"/>
              <a:t>tự</a:t>
            </a:r>
            <a:r>
              <a:rPr lang="en-US" sz="2000" dirty="0"/>
              <a:t> </a:t>
            </a:r>
            <a:r>
              <a:rPr lang="en-US" sz="2000" dirty="0" err="1"/>
              <a:t>thực</a:t>
            </a:r>
            <a:r>
              <a:rPr lang="en-US" sz="2000" dirty="0"/>
              <a:t> </a:t>
            </a:r>
            <a:r>
              <a:rPr lang="en-US" sz="2000" dirty="0" err="1"/>
              <a:t>hiện</a:t>
            </a:r>
            <a:r>
              <a:rPr lang="en-US" sz="2000" dirty="0"/>
              <a:t> </a:t>
            </a:r>
            <a:r>
              <a:rPr lang="en-US" sz="2000" dirty="0" err="1"/>
              <a:t>tiến</a:t>
            </a:r>
            <a:r>
              <a:rPr lang="en-US" sz="2000" dirty="0"/>
              <a:t> </a:t>
            </a:r>
            <a:r>
              <a:rPr lang="en-US" sz="2000" dirty="0" err="1"/>
              <a:t>trình</a:t>
            </a:r>
            <a:r>
              <a:rPr lang="en-US" sz="2000" dirty="0"/>
              <a:t> </a:t>
            </a:r>
            <a:r>
              <a:rPr lang="en-US" sz="2000" dirty="0" err="1"/>
              <a:t>và</a:t>
            </a:r>
            <a:r>
              <a:rPr lang="en-US" sz="2000" dirty="0"/>
              <a:t> </a:t>
            </a:r>
            <a:r>
              <a:rPr lang="en-US" sz="2000" dirty="0" err="1"/>
              <a:t>thời</a:t>
            </a:r>
            <a:r>
              <a:rPr lang="en-US" sz="2000" dirty="0"/>
              <a:t> </a:t>
            </a:r>
            <a:r>
              <a:rPr lang="en-US" sz="2000" dirty="0" err="1"/>
              <a:t>gian</a:t>
            </a:r>
            <a:r>
              <a:rPr lang="en-US" sz="2000" dirty="0"/>
              <a:t> </a:t>
            </a:r>
            <a:r>
              <a:rPr lang="en-US" sz="2000" dirty="0" err="1"/>
              <a:t>hoàn</a:t>
            </a:r>
            <a:r>
              <a:rPr lang="en-US" sz="2000" dirty="0"/>
              <a:t> </a:t>
            </a:r>
            <a:r>
              <a:rPr lang="en-US" sz="2000" dirty="0" err="1"/>
              <a:t>thành</a:t>
            </a:r>
            <a:r>
              <a:rPr lang="en-US" sz="2000" dirty="0"/>
              <a:t>.</a:t>
            </a:r>
          </a:p>
          <a:p>
            <a:pPr marL="0" indent="0">
              <a:buNone/>
            </a:pPr>
            <a:r>
              <a:rPr lang="en-US" sz="2800" b="1" dirty="0"/>
              <a:t>	</a:t>
            </a:r>
            <a:r>
              <a:rPr lang="en-US" sz="2800" b="1" dirty="0" err="1"/>
              <a:t>Mô-đun</a:t>
            </a:r>
            <a:r>
              <a:rPr lang="en-US" sz="2800" b="1" dirty="0"/>
              <a:t> </a:t>
            </a:r>
            <a:r>
              <a:rPr lang="en-US" sz="2800" b="1" dirty="0" err="1"/>
              <a:t>thực</a:t>
            </a:r>
            <a:r>
              <a:rPr lang="en-US" sz="2800" b="1" dirty="0"/>
              <a:t> </a:t>
            </a:r>
            <a:r>
              <a:rPr lang="en-US" sz="2800" b="1" dirty="0" err="1"/>
              <a:t>thi</a:t>
            </a:r>
            <a:r>
              <a:rPr lang="en-US" sz="2800" b="1" dirty="0"/>
              <a:t> </a:t>
            </a:r>
            <a:r>
              <a:rPr lang="en-US" sz="2800" b="1" dirty="0" err="1"/>
              <a:t>thuật</a:t>
            </a:r>
            <a:r>
              <a:rPr lang="en-US" sz="2800" b="1" dirty="0"/>
              <a:t> </a:t>
            </a:r>
            <a:r>
              <a:rPr lang="en-US" sz="2800" b="1" dirty="0" err="1"/>
              <a:t>toán</a:t>
            </a:r>
            <a:endParaRPr lang="en-US" sz="2800" b="1" dirty="0"/>
          </a:p>
          <a:p>
            <a:pPr marL="0" indent="0">
              <a:buNone/>
            </a:pPr>
            <a:r>
              <a:rPr lang="en-US" sz="2000" dirty="0" err="1"/>
              <a:t>Xử</a:t>
            </a:r>
            <a:r>
              <a:rPr lang="en-US" sz="2000" dirty="0"/>
              <a:t> </a:t>
            </a:r>
            <a:r>
              <a:rPr lang="en-US" sz="2000" dirty="0" err="1"/>
              <a:t>lý</a:t>
            </a:r>
            <a:r>
              <a:rPr lang="en-US" sz="2000" dirty="0"/>
              <a:t> </a:t>
            </a:r>
            <a:r>
              <a:rPr lang="en-US" sz="2000" dirty="0" err="1"/>
              <a:t>và</a:t>
            </a:r>
            <a:r>
              <a:rPr lang="en-US" sz="2000" dirty="0"/>
              <a:t> </a:t>
            </a:r>
            <a:r>
              <a:rPr lang="en-US" sz="2000" dirty="0" err="1"/>
              <a:t>triển</a:t>
            </a:r>
            <a:r>
              <a:rPr lang="en-US" sz="2000" dirty="0"/>
              <a:t> </a:t>
            </a:r>
            <a:r>
              <a:rPr lang="en-US" sz="2000" dirty="0" err="1"/>
              <a:t>khai</a:t>
            </a:r>
            <a:r>
              <a:rPr lang="en-US" sz="2000" dirty="0"/>
              <a:t> </a:t>
            </a:r>
            <a:r>
              <a:rPr lang="en-US" sz="2000" dirty="0" err="1"/>
              <a:t>thuật</a:t>
            </a:r>
            <a:r>
              <a:rPr lang="en-US" sz="2000" dirty="0"/>
              <a:t> </a:t>
            </a:r>
            <a:r>
              <a:rPr lang="en-US" sz="2000" dirty="0" err="1"/>
              <a:t>toán</a:t>
            </a:r>
            <a:r>
              <a:rPr lang="en-US" sz="2000" dirty="0"/>
              <a:t> SJF </a:t>
            </a:r>
            <a:r>
              <a:rPr lang="en-US" sz="2000" dirty="0" err="1"/>
              <a:t>và</a:t>
            </a:r>
            <a:r>
              <a:rPr lang="en-US" sz="2000" dirty="0"/>
              <a:t> Priority, </a:t>
            </a:r>
            <a:r>
              <a:rPr lang="en-US" sz="2000" dirty="0" err="1"/>
              <a:t>đảm</a:t>
            </a:r>
            <a:r>
              <a:rPr lang="en-US" sz="2000" dirty="0"/>
              <a:t> </a:t>
            </a:r>
            <a:r>
              <a:rPr lang="en-US" sz="2000" dirty="0" err="1"/>
              <a:t>bảo</a:t>
            </a:r>
            <a:r>
              <a:rPr lang="en-US" sz="2000" dirty="0"/>
              <a:t> </a:t>
            </a:r>
            <a:r>
              <a:rPr lang="en-US" sz="2000" dirty="0" err="1"/>
              <a:t>tính</a:t>
            </a:r>
            <a:r>
              <a:rPr lang="en-US" sz="2000" dirty="0"/>
              <a:t> </a:t>
            </a:r>
            <a:r>
              <a:rPr lang="en-US" sz="2000" dirty="0" err="1"/>
              <a:t>chính</a:t>
            </a:r>
            <a:r>
              <a:rPr lang="en-US" sz="2000" dirty="0"/>
              <a:t> </a:t>
            </a:r>
            <a:r>
              <a:rPr lang="en-US" sz="2000" dirty="0" err="1"/>
              <a:t>xác</a:t>
            </a:r>
            <a:r>
              <a:rPr lang="en-US" sz="2000" dirty="0"/>
              <a:t> </a:t>
            </a:r>
            <a:r>
              <a:rPr lang="en-US" sz="2000" dirty="0" err="1"/>
              <a:t>trong</a:t>
            </a:r>
            <a:r>
              <a:rPr lang="en-US" sz="2000" dirty="0"/>
              <a:t> </a:t>
            </a:r>
            <a:r>
              <a:rPr lang="en-US" sz="2000" dirty="0" err="1"/>
              <a:t>việc</a:t>
            </a:r>
            <a:r>
              <a:rPr lang="en-US" sz="2000" dirty="0"/>
              <a:t> </a:t>
            </a:r>
            <a:r>
              <a:rPr lang="en-US" sz="2000" dirty="0" err="1"/>
              <a:t>chọn</a:t>
            </a:r>
            <a:r>
              <a:rPr lang="en-US" sz="2000" dirty="0"/>
              <a:t> </a:t>
            </a:r>
            <a:r>
              <a:rPr lang="en-US" sz="2000" dirty="0" err="1"/>
              <a:t>tiến</a:t>
            </a:r>
            <a:r>
              <a:rPr lang="en-US" sz="2000" dirty="0"/>
              <a:t> </a:t>
            </a:r>
            <a:r>
              <a:rPr lang="en-US" sz="2000" dirty="0" err="1"/>
              <a:t>trình</a:t>
            </a:r>
            <a:r>
              <a:rPr lang="en-US" sz="2000" dirty="0"/>
              <a:t>.</a:t>
            </a:r>
            <a:endParaRPr lang="en-US" sz="1200" dirty="0"/>
          </a:p>
          <a:p>
            <a:pPr marL="0" indent="0">
              <a:buNone/>
            </a:pPr>
            <a:endParaRPr lang="en-US" sz="1800" dirty="0"/>
          </a:p>
          <a:p>
            <a:pPr marL="0" indent="0">
              <a:buNone/>
            </a:pPr>
            <a:endParaRPr lang="en-US" sz="2000" dirty="0"/>
          </a:p>
        </p:txBody>
      </p:sp>
      <p:sp>
        <p:nvSpPr>
          <p:cNvPr id="4" name="Date Placeholder 3">
            <a:extLst>
              <a:ext uri="{FF2B5EF4-FFF2-40B4-BE49-F238E27FC236}">
                <a16:creationId xmlns:a16="http://schemas.microsoft.com/office/drawing/2014/main" id="{063ED722-1EA6-97BE-DB14-5A97E9CAD9D9}"/>
              </a:ext>
            </a:extLst>
          </p:cNvPr>
          <p:cNvSpPr>
            <a:spLocks noGrp="1"/>
          </p:cNvSpPr>
          <p:nvPr>
            <p:ph type="dt" sz="half" idx="10"/>
          </p:nvPr>
        </p:nvSpPr>
        <p:spPr/>
        <p:txBody>
          <a:bodyPr/>
          <a:lstStyle/>
          <a:p>
            <a:fld id="{FA50C7FE-6BDB-449F-86F5-D16E65BC221C}" type="datetime1">
              <a:rPr lang="en-US" smtClean="0"/>
              <a:t>4/14/2026</a:t>
            </a:fld>
            <a:endParaRPr lang="en-US"/>
          </a:p>
        </p:txBody>
      </p:sp>
      <p:sp>
        <p:nvSpPr>
          <p:cNvPr id="5" name="Footer Placeholder 4">
            <a:extLst>
              <a:ext uri="{FF2B5EF4-FFF2-40B4-BE49-F238E27FC236}">
                <a16:creationId xmlns:a16="http://schemas.microsoft.com/office/drawing/2014/main" id="{DBDE206F-45D5-CBC5-CC0A-34AB97B7D3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EFB2AC-4507-E62A-B3AB-D596E4C7F570}"/>
              </a:ext>
            </a:extLst>
          </p:cNvPr>
          <p:cNvSpPr>
            <a:spLocks noGrp="1"/>
          </p:cNvSpPr>
          <p:nvPr>
            <p:ph type="sldNum" sz="quarter" idx="12"/>
          </p:nvPr>
        </p:nvSpPr>
        <p:spPr/>
        <p:txBody>
          <a:bodyPr/>
          <a:lstStyle/>
          <a:p>
            <a:fld id="{6C56B8FA-5C00-4693-8C7F-3776FF570F07}" type="slidenum">
              <a:rPr lang="en-US" smtClean="0"/>
              <a:t>7</a:t>
            </a:fld>
            <a:endParaRPr lang="en-US"/>
          </a:p>
        </p:txBody>
      </p:sp>
      <p:pic>
        <p:nvPicPr>
          <p:cNvPr id="8" name="Picture 7">
            <a:extLst>
              <a:ext uri="{FF2B5EF4-FFF2-40B4-BE49-F238E27FC236}">
                <a16:creationId xmlns:a16="http://schemas.microsoft.com/office/drawing/2014/main" id="{423F5B5C-2C50-A8DF-0DB1-9B64F7DA12C3}"/>
              </a:ext>
            </a:extLst>
          </p:cNvPr>
          <p:cNvPicPr>
            <a:picLocks noChangeAspect="1"/>
          </p:cNvPicPr>
          <p:nvPr/>
        </p:nvPicPr>
        <p:blipFill>
          <a:blip r:embed="rId2"/>
          <a:stretch>
            <a:fillRect/>
          </a:stretch>
        </p:blipFill>
        <p:spPr>
          <a:xfrm>
            <a:off x="1198797" y="2175030"/>
            <a:ext cx="2943995" cy="3883569"/>
          </a:xfrm>
          <a:prstGeom prst="rect">
            <a:avLst/>
          </a:prstGeom>
        </p:spPr>
      </p:pic>
    </p:spTree>
    <p:extLst>
      <p:ext uri="{BB962C8B-B14F-4D97-AF65-F5344CB8AC3E}">
        <p14:creationId xmlns:p14="http://schemas.microsoft.com/office/powerpoint/2010/main" val="2410984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23D6-B6D0-346F-D648-973B1D485B6E}"/>
              </a:ext>
            </a:extLst>
          </p:cNvPr>
          <p:cNvSpPr>
            <a:spLocks noGrp="1"/>
          </p:cNvSpPr>
          <p:nvPr>
            <p:ph type="title"/>
          </p:nvPr>
        </p:nvSpPr>
        <p:spPr/>
        <p:txBody>
          <a:bodyPr>
            <a:normAutofit/>
          </a:bodyPr>
          <a:lstStyle/>
          <a:p>
            <a:r>
              <a:rPr lang="en-US" sz="4000" b="1" dirty="0" err="1"/>
              <a:t>Sử</a:t>
            </a:r>
            <a:r>
              <a:rPr lang="en-US" sz="4000" b="1" dirty="0"/>
              <a:t> </a:t>
            </a:r>
            <a:r>
              <a:rPr lang="en-US" sz="4000" b="1" dirty="0" err="1"/>
              <a:t>dụng</a:t>
            </a:r>
            <a:r>
              <a:rPr lang="en-US" sz="4000" b="1" dirty="0"/>
              <a:t> </a:t>
            </a:r>
            <a:r>
              <a:rPr lang="en-US" sz="4000" b="1" dirty="0" err="1"/>
              <a:t>lớp</a:t>
            </a:r>
            <a:r>
              <a:rPr lang="en-US" sz="4000" b="1" dirty="0"/>
              <a:t> </a:t>
            </a:r>
            <a:r>
              <a:rPr lang="en-US" sz="4000" b="1" dirty="0" err="1"/>
              <a:t>quy</a:t>
            </a:r>
            <a:r>
              <a:rPr lang="en-US" sz="4000" b="1" dirty="0"/>
              <a:t> </a:t>
            </a:r>
            <a:r>
              <a:rPr lang="en-US" sz="4000" b="1" dirty="0" err="1"/>
              <a:t>trình</a:t>
            </a:r>
            <a:endParaRPr lang="en-US" sz="4000" dirty="0"/>
          </a:p>
        </p:txBody>
      </p:sp>
      <p:sp>
        <p:nvSpPr>
          <p:cNvPr id="4" name="Date Placeholder 3">
            <a:extLst>
              <a:ext uri="{FF2B5EF4-FFF2-40B4-BE49-F238E27FC236}">
                <a16:creationId xmlns:a16="http://schemas.microsoft.com/office/drawing/2014/main" id="{FD3173FE-3FF3-7DD3-46A4-1A94819E245E}"/>
              </a:ext>
            </a:extLst>
          </p:cNvPr>
          <p:cNvSpPr>
            <a:spLocks noGrp="1"/>
          </p:cNvSpPr>
          <p:nvPr>
            <p:ph type="dt" sz="half" idx="10"/>
          </p:nvPr>
        </p:nvSpPr>
        <p:spPr/>
        <p:txBody>
          <a:bodyPr/>
          <a:lstStyle/>
          <a:p>
            <a:fld id="{ED6C2AA7-1A45-4A15-9F85-8A9E4B4B35EA}" type="datetime1">
              <a:rPr lang="en-US" smtClean="0"/>
              <a:t>4/14/2026</a:t>
            </a:fld>
            <a:endParaRPr lang="en-US"/>
          </a:p>
        </p:txBody>
      </p:sp>
      <p:sp>
        <p:nvSpPr>
          <p:cNvPr id="6" name="Slide Number Placeholder 5">
            <a:extLst>
              <a:ext uri="{FF2B5EF4-FFF2-40B4-BE49-F238E27FC236}">
                <a16:creationId xmlns:a16="http://schemas.microsoft.com/office/drawing/2014/main" id="{BFBC14A7-A7FC-D9D0-4EC5-FB5A90D508ED}"/>
              </a:ext>
            </a:extLst>
          </p:cNvPr>
          <p:cNvSpPr>
            <a:spLocks noGrp="1"/>
          </p:cNvSpPr>
          <p:nvPr>
            <p:ph type="sldNum" sz="quarter" idx="12"/>
          </p:nvPr>
        </p:nvSpPr>
        <p:spPr/>
        <p:txBody>
          <a:bodyPr/>
          <a:lstStyle/>
          <a:p>
            <a:fld id="{6C56B8FA-5C00-4693-8C7F-3776FF570F07}" type="slidenum">
              <a:rPr lang="en-US" smtClean="0"/>
              <a:t>8</a:t>
            </a:fld>
            <a:endParaRPr lang="en-US"/>
          </a:p>
        </p:txBody>
      </p:sp>
      <p:sp>
        <p:nvSpPr>
          <p:cNvPr id="7" name="TextBox 6">
            <a:extLst>
              <a:ext uri="{FF2B5EF4-FFF2-40B4-BE49-F238E27FC236}">
                <a16:creationId xmlns:a16="http://schemas.microsoft.com/office/drawing/2014/main" id="{CBCAE675-A5DA-7AA9-9A24-999F773E9F5D}"/>
              </a:ext>
            </a:extLst>
          </p:cNvPr>
          <p:cNvSpPr txBox="1"/>
          <p:nvPr/>
        </p:nvSpPr>
        <p:spPr>
          <a:xfrm>
            <a:off x="3581400" y="2299996"/>
            <a:ext cx="6844005" cy="830997"/>
          </a:xfrm>
          <a:prstGeom prst="rect">
            <a:avLst/>
          </a:prstGeom>
          <a:noFill/>
        </p:spPr>
        <p:txBody>
          <a:bodyPr wrap="square" rtlCol="0">
            <a:spAutoFit/>
          </a:bodyPr>
          <a:lstStyle/>
          <a:p>
            <a:r>
              <a:rPr lang="vi-VN" sz="2400" b="1" dirty="0"/>
              <a:t>Lớp Process lưu trữ thông tin tiến trình</a:t>
            </a:r>
            <a:endParaRPr lang="vi-VN" sz="2400" dirty="0"/>
          </a:p>
          <a:p>
            <a:endParaRPr lang="en-US" sz="2400" dirty="0"/>
          </a:p>
        </p:txBody>
      </p:sp>
      <p:sp>
        <p:nvSpPr>
          <p:cNvPr id="9" name="TextBox 8">
            <a:extLst>
              <a:ext uri="{FF2B5EF4-FFF2-40B4-BE49-F238E27FC236}">
                <a16:creationId xmlns:a16="http://schemas.microsoft.com/office/drawing/2014/main" id="{BE3FDC39-BD10-0C57-0561-336F039C26D5}"/>
              </a:ext>
            </a:extLst>
          </p:cNvPr>
          <p:cNvSpPr txBox="1"/>
          <p:nvPr/>
        </p:nvSpPr>
        <p:spPr>
          <a:xfrm>
            <a:off x="3581400" y="2904043"/>
            <a:ext cx="8452955" cy="338554"/>
          </a:xfrm>
          <a:prstGeom prst="rect">
            <a:avLst/>
          </a:prstGeom>
          <a:noFill/>
        </p:spPr>
        <p:txBody>
          <a:bodyPr wrap="none" rtlCol="0">
            <a:spAutoFit/>
          </a:bodyPr>
          <a:lstStyle/>
          <a:p>
            <a:r>
              <a:rPr lang="vi-VN" sz="1600" dirty="0"/>
              <a:t>Bao gồm tên tiến trình, burst time, priority và trạng thái hiện tại (đã hoàn thành hoặc chưa).</a:t>
            </a:r>
          </a:p>
        </p:txBody>
      </p:sp>
      <p:sp>
        <p:nvSpPr>
          <p:cNvPr id="10" name="TextBox 9">
            <a:extLst>
              <a:ext uri="{FF2B5EF4-FFF2-40B4-BE49-F238E27FC236}">
                <a16:creationId xmlns:a16="http://schemas.microsoft.com/office/drawing/2014/main" id="{70E3A7C7-9CBA-1368-81BE-508EF49CF059}"/>
              </a:ext>
            </a:extLst>
          </p:cNvPr>
          <p:cNvSpPr txBox="1"/>
          <p:nvPr/>
        </p:nvSpPr>
        <p:spPr>
          <a:xfrm>
            <a:off x="3556473" y="3615404"/>
            <a:ext cx="3977692" cy="738664"/>
          </a:xfrm>
          <a:prstGeom prst="rect">
            <a:avLst/>
          </a:prstGeom>
          <a:noFill/>
        </p:spPr>
        <p:txBody>
          <a:bodyPr wrap="none" rtlCol="0">
            <a:spAutoFit/>
          </a:bodyPr>
          <a:lstStyle/>
          <a:p>
            <a:r>
              <a:rPr lang="en-US" sz="2400" b="1" dirty="0"/>
              <a:t>Duy </a:t>
            </a:r>
            <a:r>
              <a:rPr lang="en-US" sz="2400" b="1" dirty="0" err="1"/>
              <a:t>trì</a:t>
            </a:r>
            <a:r>
              <a:rPr lang="en-US" sz="2400" b="1" dirty="0"/>
              <a:t> </a:t>
            </a:r>
            <a:r>
              <a:rPr lang="en-US" sz="2400" b="1" dirty="0" err="1"/>
              <a:t>tính</a:t>
            </a:r>
            <a:r>
              <a:rPr lang="en-US" sz="2400" b="1" dirty="0"/>
              <a:t> </a:t>
            </a:r>
            <a:r>
              <a:rPr lang="en-US" sz="2400" b="1" dirty="0" err="1"/>
              <a:t>nhất</a:t>
            </a:r>
            <a:r>
              <a:rPr lang="en-US" sz="2400" b="1" dirty="0"/>
              <a:t> </a:t>
            </a:r>
            <a:r>
              <a:rPr lang="en-US" sz="2400" b="1" dirty="0" err="1"/>
              <a:t>quán</a:t>
            </a:r>
            <a:r>
              <a:rPr lang="en-US" sz="2400" b="1" dirty="0"/>
              <a:t> </a:t>
            </a:r>
            <a:r>
              <a:rPr lang="en-US" sz="2400" b="1" dirty="0" err="1"/>
              <a:t>dữ</a:t>
            </a:r>
            <a:r>
              <a:rPr lang="en-US" sz="2400" b="1" dirty="0"/>
              <a:t> </a:t>
            </a:r>
            <a:r>
              <a:rPr lang="en-US" sz="2400" b="1" dirty="0" err="1"/>
              <a:t>liệu</a:t>
            </a:r>
            <a:endParaRPr lang="en-US" sz="2400" dirty="0"/>
          </a:p>
          <a:p>
            <a:endParaRPr lang="en-US" dirty="0"/>
          </a:p>
        </p:txBody>
      </p:sp>
      <p:sp>
        <p:nvSpPr>
          <p:cNvPr id="11" name="TextBox 10">
            <a:extLst>
              <a:ext uri="{FF2B5EF4-FFF2-40B4-BE49-F238E27FC236}">
                <a16:creationId xmlns:a16="http://schemas.microsoft.com/office/drawing/2014/main" id="{830F033E-C896-5DA6-A3D0-4C3C4AB984B2}"/>
              </a:ext>
            </a:extLst>
          </p:cNvPr>
          <p:cNvSpPr txBox="1"/>
          <p:nvPr/>
        </p:nvSpPr>
        <p:spPr>
          <a:xfrm>
            <a:off x="3556473" y="4278403"/>
            <a:ext cx="7797327" cy="338554"/>
          </a:xfrm>
          <a:prstGeom prst="rect">
            <a:avLst/>
          </a:prstGeom>
          <a:noFill/>
        </p:spPr>
        <p:txBody>
          <a:bodyPr wrap="none" rtlCol="0">
            <a:spAutoFit/>
          </a:bodyPr>
          <a:lstStyle/>
          <a:p>
            <a:r>
              <a:rPr lang="vi-VN" sz="1600" dirty="0"/>
              <a:t>Lớp đảm bảo tất cả tiến trình được xử lý và gán giá trị mặc định nếu thiếu thông tin.</a:t>
            </a:r>
          </a:p>
        </p:txBody>
      </p:sp>
      <p:sp>
        <p:nvSpPr>
          <p:cNvPr id="12" name="TextBox 11">
            <a:extLst>
              <a:ext uri="{FF2B5EF4-FFF2-40B4-BE49-F238E27FC236}">
                <a16:creationId xmlns:a16="http://schemas.microsoft.com/office/drawing/2014/main" id="{1916047C-AC54-27A8-3AFD-5478BA47EB8D}"/>
              </a:ext>
            </a:extLst>
          </p:cNvPr>
          <p:cNvSpPr txBox="1"/>
          <p:nvPr/>
        </p:nvSpPr>
        <p:spPr>
          <a:xfrm>
            <a:off x="3581400" y="4862359"/>
            <a:ext cx="2869888" cy="461665"/>
          </a:xfrm>
          <a:prstGeom prst="rect">
            <a:avLst/>
          </a:prstGeom>
          <a:noFill/>
        </p:spPr>
        <p:txBody>
          <a:bodyPr wrap="none" rtlCol="0">
            <a:spAutoFit/>
          </a:bodyPr>
          <a:lstStyle/>
          <a:p>
            <a:r>
              <a:rPr lang="en-US" sz="2400" b="1" dirty="0" err="1"/>
              <a:t>Khả</a:t>
            </a:r>
            <a:r>
              <a:rPr lang="en-US" sz="2400" b="1" dirty="0"/>
              <a:t> </a:t>
            </a:r>
            <a:r>
              <a:rPr lang="en-US" sz="2400" b="1" dirty="0" err="1"/>
              <a:t>năng</a:t>
            </a:r>
            <a:r>
              <a:rPr lang="en-US" sz="2400" b="1" dirty="0"/>
              <a:t> </a:t>
            </a:r>
            <a:r>
              <a:rPr lang="en-US" sz="2400" b="1" dirty="0" err="1"/>
              <a:t>tái</a:t>
            </a:r>
            <a:r>
              <a:rPr lang="en-US" sz="2400" b="1" dirty="0"/>
              <a:t> </a:t>
            </a:r>
            <a:r>
              <a:rPr lang="en-US" sz="2400" b="1" dirty="0" err="1"/>
              <a:t>sử</a:t>
            </a:r>
            <a:r>
              <a:rPr lang="en-US" sz="2400" b="1" dirty="0"/>
              <a:t> </a:t>
            </a:r>
            <a:r>
              <a:rPr lang="en-US" sz="2400" b="1" dirty="0" err="1"/>
              <a:t>dụng</a:t>
            </a:r>
            <a:endParaRPr lang="en-US" sz="2400" dirty="0"/>
          </a:p>
        </p:txBody>
      </p:sp>
      <p:sp>
        <p:nvSpPr>
          <p:cNvPr id="13" name="TextBox 12">
            <a:extLst>
              <a:ext uri="{FF2B5EF4-FFF2-40B4-BE49-F238E27FC236}">
                <a16:creationId xmlns:a16="http://schemas.microsoft.com/office/drawing/2014/main" id="{FC714940-37DD-614D-95FB-7D00E33C44D2}"/>
              </a:ext>
            </a:extLst>
          </p:cNvPr>
          <p:cNvSpPr txBox="1"/>
          <p:nvPr/>
        </p:nvSpPr>
        <p:spPr>
          <a:xfrm>
            <a:off x="3556473" y="5501635"/>
            <a:ext cx="8440259" cy="338554"/>
          </a:xfrm>
          <a:prstGeom prst="rect">
            <a:avLst/>
          </a:prstGeom>
          <a:noFill/>
        </p:spPr>
        <p:txBody>
          <a:bodyPr wrap="none" rtlCol="0">
            <a:spAutoFit/>
          </a:bodyPr>
          <a:lstStyle/>
          <a:p>
            <a:r>
              <a:rPr lang="en-US" sz="1600" dirty="0" err="1"/>
              <a:t>Lớp</a:t>
            </a:r>
            <a:r>
              <a:rPr lang="en-US" sz="1600" dirty="0"/>
              <a:t> </a:t>
            </a:r>
            <a:r>
              <a:rPr lang="en-US" sz="1600" dirty="0" err="1"/>
              <a:t>này</a:t>
            </a:r>
            <a:r>
              <a:rPr lang="en-US" sz="1600" dirty="0"/>
              <a:t> </a:t>
            </a:r>
            <a:r>
              <a:rPr lang="en-US" sz="1600" dirty="0" err="1"/>
              <a:t>hỗ</a:t>
            </a:r>
            <a:r>
              <a:rPr lang="en-US" sz="1600" dirty="0"/>
              <a:t> </a:t>
            </a:r>
            <a:r>
              <a:rPr lang="en-US" sz="1600" dirty="0" err="1"/>
              <a:t>trợ</a:t>
            </a:r>
            <a:r>
              <a:rPr lang="en-US" sz="1600" dirty="0"/>
              <a:t> </a:t>
            </a:r>
            <a:r>
              <a:rPr lang="en-US" sz="1600" dirty="0" err="1"/>
              <a:t>việc</a:t>
            </a:r>
            <a:r>
              <a:rPr lang="en-US" sz="1600" dirty="0"/>
              <a:t> </a:t>
            </a:r>
            <a:r>
              <a:rPr lang="en-US" sz="1600" dirty="0" err="1"/>
              <a:t>tái</a:t>
            </a:r>
            <a:r>
              <a:rPr lang="en-US" sz="1600" dirty="0"/>
              <a:t> </a:t>
            </a:r>
            <a:r>
              <a:rPr lang="en-US" sz="1600" dirty="0" err="1"/>
              <a:t>sử</a:t>
            </a:r>
            <a:r>
              <a:rPr lang="en-US" sz="1600" dirty="0"/>
              <a:t> </a:t>
            </a:r>
            <a:r>
              <a:rPr lang="en-US" sz="1600" dirty="0" err="1"/>
              <a:t>dụng</a:t>
            </a:r>
            <a:r>
              <a:rPr lang="en-US" sz="1600" dirty="0"/>
              <a:t> </a:t>
            </a:r>
            <a:r>
              <a:rPr lang="en-US" sz="1600" dirty="0" err="1"/>
              <a:t>trong</a:t>
            </a:r>
            <a:r>
              <a:rPr lang="en-US" sz="1600" dirty="0"/>
              <a:t> </a:t>
            </a:r>
            <a:r>
              <a:rPr lang="en-US" sz="1600" dirty="0" err="1"/>
              <a:t>các</a:t>
            </a:r>
            <a:r>
              <a:rPr lang="en-US" sz="1600" dirty="0"/>
              <a:t> </a:t>
            </a:r>
            <a:r>
              <a:rPr lang="en-US" sz="1600" dirty="0" err="1"/>
              <a:t>mô-đun</a:t>
            </a:r>
            <a:r>
              <a:rPr lang="en-US" sz="1600" dirty="0"/>
              <a:t> </a:t>
            </a:r>
            <a:r>
              <a:rPr lang="en-US" sz="1600" dirty="0" err="1"/>
              <a:t>khác</a:t>
            </a:r>
            <a:r>
              <a:rPr lang="en-US" sz="1600" dirty="0"/>
              <a:t> </a:t>
            </a:r>
            <a:r>
              <a:rPr lang="en-US" sz="1600" dirty="0" err="1"/>
              <a:t>mà</a:t>
            </a:r>
            <a:r>
              <a:rPr lang="en-US" sz="1600" dirty="0"/>
              <a:t> </a:t>
            </a:r>
            <a:r>
              <a:rPr lang="en-US" sz="1600" dirty="0" err="1"/>
              <a:t>không</a:t>
            </a:r>
            <a:r>
              <a:rPr lang="en-US" sz="1600" dirty="0"/>
              <a:t> </a:t>
            </a:r>
            <a:r>
              <a:rPr lang="en-US" sz="1600" dirty="0" err="1"/>
              <a:t>cần</a:t>
            </a:r>
            <a:r>
              <a:rPr lang="en-US" sz="1600" dirty="0"/>
              <a:t> </a:t>
            </a:r>
            <a:r>
              <a:rPr lang="en-US" sz="1600" dirty="0" err="1"/>
              <a:t>viết</a:t>
            </a:r>
            <a:r>
              <a:rPr lang="en-US" sz="1600" dirty="0"/>
              <a:t> </a:t>
            </a:r>
            <a:r>
              <a:rPr lang="en-US" sz="1600" dirty="0" err="1"/>
              <a:t>lại</a:t>
            </a:r>
            <a:r>
              <a:rPr lang="en-US" sz="1600" dirty="0"/>
              <a:t> logic </a:t>
            </a:r>
            <a:r>
              <a:rPr lang="en-US" sz="1600" dirty="0" err="1"/>
              <a:t>quản</a:t>
            </a:r>
            <a:r>
              <a:rPr lang="en-US" sz="1600" dirty="0"/>
              <a:t> </a:t>
            </a:r>
            <a:r>
              <a:rPr lang="en-US" sz="1600" dirty="0" err="1"/>
              <a:t>lý</a:t>
            </a:r>
            <a:r>
              <a:rPr lang="en-US" sz="1600" dirty="0"/>
              <a:t> </a:t>
            </a:r>
            <a:r>
              <a:rPr lang="en-US" sz="1600" dirty="0" err="1"/>
              <a:t>quy</a:t>
            </a:r>
            <a:r>
              <a:rPr lang="en-US" sz="1600" dirty="0"/>
              <a:t> </a:t>
            </a:r>
            <a:r>
              <a:rPr lang="en-US" sz="1600" dirty="0" err="1"/>
              <a:t>trình</a:t>
            </a:r>
            <a:r>
              <a:rPr lang="en-US" sz="1600" dirty="0"/>
              <a:t>.</a:t>
            </a:r>
          </a:p>
        </p:txBody>
      </p:sp>
      <p:sp>
        <p:nvSpPr>
          <p:cNvPr id="14" name="Arrow: Down 13">
            <a:extLst>
              <a:ext uri="{FF2B5EF4-FFF2-40B4-BE49-F238E27FC236}">
                <a16:creationId xmlns:a16="http://schemas.microsoft.com/office/drawing/2014/main" id="{C09EDFFF-A765-8BAA-16CB-B8FF5368D1C8}"/>
              </a:ext>
            </a:extLst>
          </p:cNvPr>
          <p:cNvSpPr/>
          <p:nvPr/>
        </p:nvSpPr>
        <p:spPr>
          <a:xfrm>
            <a:off x="1931437" y="2463282"/>
            <a:ext cx="849085" cy="83099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01</a:t>
            </a:r>
          </a:p>
        </p:txBody>
      </p:sp>
      <p:sp>
        <p:nvSpPr>
          <p:cNvPr id="15" name="Arrow: Down 14">
            <a:extLst>
              <a:ext uri="{FF2B5EF4-FFF2-40B4-BE49-F238E27FC236}">
                <a16:creationId xmlns:a16="http://schemas.microsoft.com/office/drawing/2014/main" id="{52A06B98-984B-C2AB-04DE-03B23FF67B8D}"/>
              </a:ext>
            </a:extLst>
          </p:cNvPr>
          <p:cNvSpPr/>
          <p:nvPr/>
        </p:nvSpPr>
        <p:spPr>
          <a:xfrm>
            <a:off x="1931437" y="3733628"/>
            <a:ext cx="849085" cy="83099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02</a:t>
            </a:r>
          </a:p>
        </p:txBody>
      </p:sp>
      <p:sp>
        <p:nvSpPr>
          <p:cNvPr id="16" name="Arrow: Down 15">
            <a:extLst>
              <a:ext uri="{FF2B5EF4-FFF2-40B4-BE49-F238E27FC236}">
                <a16:creationId xmlns:a16="http://schemas.microsoft.com/office/drawing/2014/main" id="{5A9BD4D3-ACA4-12E5-C621-811B375A54DE}"/>
              </a:ext>
            </a:extLst>
          </p:cNvPr>
          <p:cNvSpPr/>
          <p:nvPr/>
        </p:nvSpPr>
        <p:spPr>
          <a:xfrm>
            <a:off x="1931437" y="4939713"/>
            <a:ext cx="849085" cy="83099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03</a:t>
            </a:r>
          </a:p>
        </p:txBody>
      </p:sp>
    </p:spTree>
    <p:extLst>
      <p:ext uri="{BB962C8B-B14F-4D97-AF65-F5344CB8AC3E}">
        <p14:creationId xmlns:p14="http://schemas.microsoft.com/office/powerpoint/2010/main" val="1242818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lowchart: Alternate Process 18">
            <a:extLst>
              <a:ext uri="{FF2B5EF4-FFF2-40B4-BE49-F238E27FC236}">
                <a16:creationId xmlns:a16="http://schemas.microsoft.com/office/drawing/2014/main" id="{F81DAED0-56B4-9239-29FC-38C31AE49FBD}"/>
              </a:ext>
            </a:extLst>
          </p:cNvPr>
          <p:cNvSpPr/>
          <p:nvPr/>
        </p:nvSpPr>
        <p:spPr>
          <a:xfrm>
            <a:off x="964990" y="4837448"/>
            <a:ext cx="9609073" cy="1218119"/>
          </a:xfrm>
          <a:prstGeom prst="flowChartAlternateProcess">
            <a:avLst/>
          </a:prstGeom>
          <a:solidFill>
            <a:schemeClr val="accent1">
              <a:lumMod val="40000"/>
              <a:lumOff val="60000"/>
            </a:schemeClr>
          </a:solidFill>
          <a:ln>
            <a:noFill/>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14" name="Flowchart: Alternate Process 13">
            <a:extLst>
              <a:ext uri="{FF2B5EF4-FFF2-40B4-BE49-F238E27FC236}">
                <a16:creationId xmlns:a16="http://schemas.microsoft.com/office/drawing/2014/main" id="{1BDE4807-6115-80E5-B98A-13C891BCEE9F}"/>
              </a:ext>
            </a:extLst>
          </p:cNvPr>
          <p:cNvSpPr/>
          <p:nvPr/>
        </p:nvSpPr>
        <p:spPr>
          <a:xfrm>
            <a:off x="1917178" y="3327905"/>
            <a:ext cx="9948716" cy="1306285"/>
          </a:xfrm>
          <a:prstGeom prst="flowChartAlternateProcess">
            <a:avLst/>
          </a:prstGeom>
          <a:solidFill>
            <a:schemeClr val="accent1">
              <a:lumMod val="40000"/>
              <a:lumOff val="60000"/>
            </a:schemeClr>
          </a:solidFill>
          <a:ln>
            <a:noFill/>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9" name="Flowchart: Alternate Process 8">
            <a:extLst>
              <a:ext uri="{FF2B5EF4-FFF2-40B4-BE49-F238E27FC236}">
                <a16:creationId xmlns:a16="http://schemas.microsoft.com/office/drawing/2014/main" id="{8F6AC08E-2A38-4781-3747-AD7F01B45F6C}"/>
              </a:ext>
            </a:extLst>
          </p:cNvPr>
          <p:cNvSpPr/>
          <p:nvPr/>
        </p:nvSpPr>
        <p:spPr>
          <a:xfrm>
            <a:off x="894282" y="1995642"/>
            <a:ext cx="9609073" cy="1129005"/>
          </a:xfrm>
          <a:prstGeom prst="flowChartAlternateProcess">
            <a:avLst/>
          </a:prstGeom>
          <a:solidFill>
            <a:schemeClr val="accent1">
              <a:lumMod val="40000"/>
              <a:lumOff val="60000"/>
            </a:schemeClr>
          </a:solidFill>
          <a:ln>
            <a:noFill/>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2" name="Title 1">
            <a:extLst>
              <a:ext uri="{FF2B5EF4-FFF2-40B4-BE49-F238E27FC236}">
                <a16:creationId xmlns:a16="http://schemas.microsoft.com/office/drawing/2014/main" id="{2B6A1224-CFF0-9293-DE5D-10E3B6AC4452}"/>
              </a:ext>
            </a:extLst>
          </p:cNvPr>
          <p:cNvSpPr>
            <a:spLocks noGrp="1"/>
          </p:cNvSpPr>
          <p:nvPr>
            <p:ph type="title"/>
          </p:nvPr>
        </p:nvSpPr>
        <p:spPr/>
        <p:txBody>
          <a:bodyPr>
            <a:noAutofit/>
          </a:bodyPr>
          <a:lstStyle/>
          <a:p>
            <a:r>
              <a:rPr lang="vi-VN" sz="3200" b="1" dirty="0"/>
              <a:t>Triển khai thuật toán SJF và thuật toán ưu tiên</a:t>
            </a:r>
            <a:endParaRPr lang="en-US" sz="3200" dirty="0"/>
          </a:p>
        </p:txBody>
      </p:sp>
      <p:sp>
        <p:nvSpPr>
          <p:cNvPr id="6" name="Slide Number Placeholder 5">
            <a:extLst>
              <a:ext uri="{FF2B5EF4-FFF2-40B4-BE49-F238E27FC236}">
                <a16:creationId xmlns:a16="http://schemas.microsoft.com/office/drawing/2014/main" id="{2410B6A0-AD3C-E111-5F69-284D9C6E0FAD}"/>
              </a:ext>
            </a:extLst>
          </p:cNvPr>
          <p:cNvSpPr>
            <a:spLocks noGrp="1"/>
          </p:cNvSpPr>
          <p:nvPr>
            <p:ph type="sldNum" sz="quarter" idx="12"/>
          </p:nvPr>
        </p:nvSpPr>
        <p:spPr/>
        <p:txBody>
          <a:bodyPr/>
          <a:lstStyle/>
          <a:p>
            <a:fld id="{6C56B8FA-5C00-4693-8C7F-3776FF570F07}" type="slidenum">
              <a:rPr lang="en-US" smtClean="0"/>
              <a:t>9</a:t>
            </a:fld>
            <a:endParaRPr lang="en-US"/>
          </a:p>
        </p:txBody>
      </p:sp>
      <p:sp>
        <p:nvSpPr>
          <p:cNvPr id="7" name="TextBox 6">
            <a:extLst>
              <a:ext uri="{FF2B5EF4-FFF2-40B4-BE49-F238E27FC236}">
                <a16:creationId xmlns:a16="http://schemas.microsoft.com/office/drawing/2014/main" id="{41BAEE00-A45F-0F4C-D1E9-53BED9BCFEF9}"/>
              </a:ext>
            </a:extLst>
          </p:cNvPr>
          <p:cNvSpPr txBox="1"/>
          <p:nvPr/>
        </p:nvSpPr>
        <p:spPr>
          <a:xfrm>
            <a:off x="1035699" y="2071395"/>
            <a:ext cx="2037033" cy="461665"/>
          </a:xfrm>
          <a:prstGeom prst="rect">
            <a:avLst/>
          </a:prstGeom>
          <a:noFill/>
        </p:spPr>
        <p:txBody>
          <a:bodyPr wrap="none" rtlCol="0">
            <a:spAutoFit/>
          </a:bodyPr>
          <a:lstStyle/>
          <a:p>
            <a:r>
              <a:rPr lang="en-US" sz="2400" b="1" dirty="0" err="1"/>
              <a:t>Thuật</a:t>
            </a:r>
            <a:r>
              <a:rPr lang="en-US" sz="2400" b="1" dirty="0"/>
              <a:t> </a:t>
            </a:r>
            <a:r>
              <a:rPr lang="en-US" sz="2400" b="1" dirty="0" err="1"/>
              <a:t>toán</a:t>
            </a:r>
            <a:r>
              <a:rPr lang="en-US" sz="2400" b="1" dirty="0"/>
              <a:t> SJF</a:t>
            </a:r>
            <a:endParaRPr lang="en-US" sz="2400" dirty="0"/>
          </a:p>
        </p:txBody>
      </p:sp>
      <p:sp>
        <p:nvSpPr>
          <p:cNvPr id="8" name="TextBox 7">
            <a:extLst>
              <a:ext uri="{FF2B5EF4-FFF2-40B4-BE49-F238E27FC236}">
                <a16:creationId xmlns:a16="http://schemas.microsoft.com/office/drawing/2014/main" id="{F47BD1F4-2B16-8D7D-48B4-FDE8B9AA3906}"/>
              </a:ext>
            </a:extLst>
          </p:cNvPr>
          <p:cNvSpPr txBox="1"/>
          <p:nvPr/>
        </p:nvSpPr>
        <p:spPr>
          <a:xfrm>
            <a:off x="1035699" y="2608813"/>
            <a:ext cx="9467656" cy="338554"/>
          </a:xfrm>
          <a:prstGeom prst="rect">
            <a:avLst/>
          </a:prstGeom>
          <a:noFill/>
        </p:spPr>
        <p:txBody>
          <a:bodyPr wrap="none" rtlCol="0">
            <a:spAutoFit/>
          </a:bodyPr>
          <a:lstStyle/>
          <a:p>
            <a:r>
              <a:rPr lang="vi-VN" sz="1600" dirty="0"/>
              <a:t>Lựa chọn tiến trình có burst time nhỏ nhất để thực thi, ưu tiên các tác vụ ngắn để tối ưu thời gian chờ.</a:t>
            </a:r>
          </a:p>
        </p:txBody>
      </p:sp>
      <p:sp>
        <p:nvSpPr>
          <p:cNvPr id="11" name="TextBox 10">
            <a:extLst>
              <a:ext uri="{FF2B5EF4-FFF2-40B4-BE49-F238E27FC236}">
                <a16:creationId xmlns:a16="http://schemas.microsoft.com/office/drawing/2014/main" id="{A78D394B-6D19-751C-69E8-A822C10591F4}"/>
              </a:ext>
            </a:extLst>
          </p:cNvPr>
          <p:cNvSpPr txBox="1"/>
          <p:nvPr/>
        </p:nvSpPr>
        <p:spPr>
          <a:xfrm>
            <a:off x="8957049" y="3430392"/>
            <a:ext cx="2640564" cy="461665"/>
          </a:xfrm>
          <a:prstGeom prst="rect">
            <a:avLst/>
          </a:prstGeom>
          <a:noFill/>
        </p:spPr>
        <p:txBody>
          <a:bodyPr wrap="square">
            <a:spAutoFit/>
          </a:bodyPr>
          <a:lstStyle/>
          <a:p>
            <a:pPr algn="r">
              <a:buNone/>
            </a:pPr>
            <a:r>
              <a:rPr lang="vi-VN" sz="2400" b="1" dirty="0">
                <a:effectLst/>
                <a:latin typeface="Calibri" panose="020F0502020204030204" pitchFamily="34" charset="0"/>
                <a:ea typeface="Calibri" panose="020F0502020204030204" pitchFamily="34" charset="0"/>
                <a:cs typeface="Calibri" panose="020F0502020204030204" pitchFamily="34" charset="0"/>
              </a:rPr>
              <a:t>Thuật toán ưu tiên</a:t>
            </a:r>
            <a:endParaRPr lang="vi-VN" sz="24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CBC9C9F5-2893-ED5E-3877-E32E5D392D37}"/>
              </a:ext>
            </a:extLst>
          </p:cNvPr>
          <p:cNvSpPr txBox="1"/>
          <p:nvPr/>
        </p:nvSpPr>
        <p:spPr>
          <a:xfrm>
            <a:off x="2120483" y="3879926"/>
            <a:ext cx="9542106" cy="646331"/>
          </a:xfrm>
          <a:prstGeom prst="rect">
            <a:avLst/>
          </a:prstGeom>
          <a:noFill/>
        </p:spPr>
        <p:txBody>
          <a:bodyPr wrap="square">
            <a:spAutoFit/>
          </a:bodyPr>
          <a:lstStyle/>
          <a:p>
            <a:pPr algn="just">
              <a:buNone/>
            </a:pPr>
            <a:r>
              <a:rPr lang="vi-VN" dirty="0">
                <a:solidFill>
                  <a:srgbClr val="000000"/>
                </a:solidFill>
                <a:effectLst/>
                <a:latin typeface="Noto Sans SC"/>
              </a:rPr>
              <a:t>Thực thi tiến trình có độ ưu tiên lớn nhất trước. Độ ưu tiên được kiểm tra và xử lý, tự động gán giá trị mặc định khi thiếu.</a:t>
            </a:r>
            <a:endParaRPr lang="vi-VN" dirty="0">
              <a:effectLst/>
            </a:endParaRPr>
          </a:p>
        </p:txBody>
      </p:sp>
      <p:sp>
        <p:nvSpPr>
          <p:cNvPr id="16" name="TextBox 15">
            <a:extLst>
              <a:ext uri="{FF2B5EF4-FFF2-40B4-BE49-F238E27FC236}">
                <a16:creationId xmlns:a16="http://schemas.microsoft.com/office/drawing/2014/main" id="{979A80B6-9299-4774-98F7-A37CFFCB871F}"/>
              </a:ext>
            </a:extLst>
          </p:cNvPr>
          <p:cNvSpPr txBox="1"/>
          <p:nvPr/>
        </p:nvSpPr>
        <p:spPr>
          <a:xfrm>
            <a:off x="1035699" y="4837448"/>
            <a:ext cx="2892489" cy="461665"/>
          </a:xfrm>
          <a:prstGeom prst="rect">
            <a:avLst/>
          </a:prstGeom>
          <a:noFill/>
        </p:spPr>
        <p:txBody>
          <a:bodyPr wrap="square">
            <a:spAutoFit/>
          </a:bodyPr>
          <a:lstStyle/>
          <a:p>
            <a:pPr>
              <a:buNone/>
            </a:pPr>
            <a:r>
              <a:rPr lang="vi-VN" sz="2400" b="1" dirty="0">
                <a:effectLst/>
                <a:latin typeface="Noto Sans SC"/>
              </a:rPr>
              <a:t>Tối ưu hóa hiệu năng</a:t>
            </a:r>
            <a:endParaRPr lang="vi-VN" sz="2400" dirty="0">
              <a:effectLst/>
            </a:endParaRPr>
          </a:p>
        </p:txBody>
      </p:sp>
      <p:sp>
        <p:nvSpPr>
          <p:cNvPr id="18" name="TextBox 17">
            <a:extLst>
              <a:ext uri="{FF2B5EF4-FFF2-40B4-BE49-F238E27FC236}">
                <a16:creationId xmlns:a16="http://schemas.microsoft.com/office/drawing/2014/main" id="{ED03F9D1-3F9F-DAE2-01A2-3BB126D8F3E2}"/>
              </a:ext>
            </a:extLst>
          </p:cNvPr>
          <p:cNvSpPr txBox="1"/>
          <p:nvPr/>
        </p:nvSpPr>
        <p:spPr>
          <a:xfrm>
            <a:off x="1035699" y="5236464"/>
            <a:ext cx="9467656" cy="646331"/>
          </a:xfrm>
          <a:prstGeom prst="rect">
            <a:avLst/>
          </a:prstGeom>
          <a:noFill/>
        </p:spPr>
        <p:txBody>
          <a:bodyPr wrap="square">
            <a:spAutoFit/>
          </a:bodyPr>
          <a:lstStyle/>
          <a:p>
            <a:pPr algn="just">
              <a:buNone/>
            </a:pPr>
            <a:r>
              <a:rPr lang="en-US" dirty="0" err="1">
                <a:solidFill>
                  <a:srgbClr val="000000"/>
                </a:solidFill>
                <a:effectLst/>
                <a:latin typeface="Noto Sans SC"/>
              </a:rPr>
              <a:t>Cả</a:t>
            </a:r>
            <a:r>
              <a:rPr lang="en-US" dirty="0">
                <a:solidFill>
                  <a:srgbClr val="000000"/>
                </a:solidFill>
                <a:effectLst/>
                <a:latin typeface="Noto Sans SC"/>
              </a:rPr>
              <a:t> </a:t>
            </a:r>
            <a:r>
              <a:rPr lang="en-US" dirty="0" err="1">
                <a:solidFill>
                  <a:srgbClr val="000000"/>
                </a:solidFill>
                <a:effectLst/>
                <a:latin typeface="Noto Sans SC"/>
              </a:rPr>
              <a:t>hai</a:t>
            </a:r>
            <a:r>
              <a:rPr lang="en-US" dirty="0">
                <a:solidFill>
                  <a:srgbClr val="000000"/>
                </a:solidFill>
                <a:effectLst/>
                <a:latin typeface="Noto Sans SC"/>
              </a:rPr>
              <a:t> </a:t>
            </a:r>
            <a:r>
              <a:rPr lang="en-US" dirty="0" err="1">
                <a:solidFill>
                  <a:srgbClr val="000000"/>
                </a:solidFill>
                <a:effectLst/>
                <a:latin typeface="Noto Sans SC"/>
              </a:rPr>
              <a:t>thuật</a:t>
            </a:r>
            <a:r>
              <a:rPr lang="en-US" dirty="0">
                <a:solidFill>
                  <a:srgbClr val="000000"/>
                </a:solidFill>
                <a:effectLst/>
                <a:latin typeface="Noto Sans SC"/>
              </a:rPr>
              <a:t> </a:t>
            </a:r>
            <a:r>
              <a:rPr lang="en-US" dirty="0" err="1">
                <a:solidFill>
                  <a:srgbClr val="000000"/>
                </a:solidFill>
                <a:effectLst/>
                <a:latin typeface="Noto Sans SC"/>
              </a:rPr>
              <a:t>toán</a:t>
            </a:r>
            <a:r>
              <a:rPr lang="en-US" dirty="0">
                <a:solidFill>
                  <a:srgbClr val="000000"/>
                </a:solidFill>
                <a:effectLst/>
                <a:latin typeface="Noto Sans SC"/>
              </a:rPr>
              <a:t> </a:t>
            </a:r>
            <a:r>
              <a:rPr lang="en-US" dirty="0" err="1">
                <a:solidFill>
                  <a:srgbClr val="000000"/>
                </a:solidFill>
                <a:effectLst/>
                <a:latin typeface="Noto Sans SC"/>
              </a:rPr>
              <a:t>đều</a:t>
            </a:r>
            <a:r>
              <a:rPr lang="en-US" dirty="0">
                <a:solidFill>
                  <a:srgbClr val="000000"/>
                </a:solidFill>
                <a:effectLst/>
                <a:latin typeface="Noto Sans SC"/>
              </a:rPr>
              <a:t> </a:t>
            </a:r>
            <a:r>
              <a:rPr lang="en-US" dirty="0" err="1">
                <a:solidFill>
                  <a:srgbClr val="000000"/>
                </a:solidFill>
                <a:effectLst/>
                <a:latin typeface="Noto Sans SC"/>
              </a:rPr>
              <a:t>sử</a:t>
            </a:r>
            <a:r>
              <a:rPr lang="en-US" dirty="0">
                <a:solidFill>
                  <a:srgbClr val="000000"/>
                </a:solidFill>
                <a:effectLst/>
                <a:latin typeface="Noto Sans SC"/>
              </a:rPr>
              <a:t> </a:t>
            </a:r>
            <a:r>
              <a:rPr lang="en-US" dirty="0" err="1">
                <a:solidFill>
                  <a:srgbClr val="000000"/>
                </a:solidFill>
                <a:effectLst/>
                <a:latin typeface="Noto Sans SC"/>
              </a:rPr>
              <a:t>dụng</a:t>
            </a:r>
            <a:r>
              <a:rPr lang="en-US" dirty="0">
                <a:solidFill>
                  <a:srgbClr val="000000"/>
                </a:solidFill>
                <a:effectLst/>
                <a:latin typeface="Noto Sans SC"/>
              </a:rPr>
              <a:t> </a:t>
            </a:r>
            <a:r>
              <a:rPr lang="en-US" dirty="0" err="1">
                <a:solidFill>
                  <a:srgbClr val="000000"/>
                </a:solidFill>
                <a:effectLst/>
                <a:latin typeface="Noto Sans SC"/>
              </a:rPr>
              <a:t>biểu</a:t>
            </a:r>
            <a:r>
              <a:rPr lang="en-US" dirty="0">
                <a:solidFill>
                  <a:srgbClr val="000000"/>
                </a:solidFill>
                <a:effectLst/>
                <a:latin typeface="Noto Sans SC"/>
              </a:rPr>
              <a:t> </a:t>
            </a:r>
            <a:r>
              <a:rPr lang="en-US" dirty="0" err="1">
                <a:solidFill>
                  <a:srgbClr val="000000"/>
                </a:solidFill>
                <a:effectLst/>
                <a:latin typeface="Noto Sans SC"/>
              </a:rPr>
              <a:t>diễn</a:t>
            </a:r>
            <a:r>
              <a:rPr lang="en-US" dirty="0">
                <a:solidFill>
                  <a:srgbClr val="000000"/>
                </a:solidFill>
                <a:effectLst/>
                <a:latin typeface="Noto Sans SC"/>
              </a:rPr>
              <a:t> qua Gantt Chart </a:t>
            </a:r>
            <a:r>
              <a:rPr lang="en-US" dirty="0" err="1">
                <a:solidFill>
                  <a:srgbClr val="000000"/>
                </a:solidFill>
                <a:effectLst/>
                <a:latin typeface="Noto Sans SC"/>
              </a:rPr>
              <a:t>trên</a:t>
            </a:r>
            <a:r>
              <a:rPr lang="en-US" dirty="0">
                <a:solidFill>
                  <a:srgbClr val="000000"/>
                </a:solidFill>
                <a:effectLst/>
                <a:latin typeface="Noto Sans SC"/>
              </a:rPr>
              <a:t> canvas </a:t>
            </a:r>
            <a:r>
              <a:rPr lang="en-US" dirty="0" err="1">
                <a:solidFill>
                  <a:srgbClr val="000000"/>
                </a:solidFill>
                <a:effectLst/>
                <a:latin typeface="Noto Sans SC"/>
              </a:rPr>
              <a:t>để</a:t>
            </a:r>
            <a:r>
              <a:rPr lang="en-US" dirty="0">
                <a:solidFill>
                  <a:srgbClr val="000000"/>
                </a:solidFill>
                <a:effectLst/>
                <a:latin typeface="Noto Sans SC"/>
              </a:rPr>
              <a:t> </a:t>
            </a:r>
            <a:r>
              <a:rPr lang="en-US" dirty="0" err="1">
                <a:solidFill>
                  <a:srgbClr val="000000"/>
                </a:solidFill>
                <a:effectLst/>
                <a:latin typeface="Noto Sans SC"/>
              </a:rPr>
              <a:t>dễ</a:t>
            </a:r>
            <a:r>
              <a:rPr lang="en-US" dirty="0">
                <a:solidFill>
                  <a:srgbClr val="000000"/>
                </a:solidFill>
                <a:effectLst/>
                <a:latin typeface="Noto Sans SC"/>
              </a:rPr>
              <a:t> </a:t>
            </a:r>
            <a:r>
              <a:rPr lang="en-US" dirty="0" err="1">
                <a:solidFill>
                  <a:srgbClr val="000000"/>
                </a:solidFill>
                <a:effectLst/>
                <a:latin typeface="Noto Sans SC"/>
              </a:rPr>
              <a:t>dàng</a:t>
            </a:r>
            <a:r>
              <a:rPr lang="en-US" dirty="0">
                <a:solidFill>
                  <a:srgbClr val="000000"/>
                </a:solidFill>
                <a:effectLst/>
                <a:latin typeface="Noto Sans SC"/>
              </a:rPr>
              <a:t> </a:t>
            </a:r>
            <a:r>
              <a:rPr lang="en-US" dirty="0" err="1">
                <a:solidFill>
                  <a:srgbClr val="000000"/>
                </a:solidFill>
                <a:effectLst/>
                <a:latin typeface="Noto Sans SC"/>
              </a:rPr>
              <a:t>kiểm</a:t>
            </a:r>
            <a:r>
              <a:rPr lang="en-US" dirty="0">
                <a:solidFill>
                  <a:srgbClr val="000000"/>
                </a:solidFill>
                <a:effectLst/>
                <a:latin typeface="Noto Sans SC"/>
              </a:rPr>
              <a:t> </a:t>
            </a:r>
            <a:r>
              <a:rPr lang="en-US" dirty="0" err="1">
                <a:solidFill>
                  <a:srgbClr val="000000"/>
                </a:solidFill>
                <a:effectLst/>
                <a:latin typeface="Noto Sans SC"/>
              </a:rPr>
              <a:t>tra</a:t>
            </a:r>
            <a:r>
              <a:rPr lang="en-US" dirty="0">
                <a:solidFill>
                  <a:srgbClr val="000000"/>
                </a:solidFill>
                <a:effectLst/>
                <a:latin typeface="Noto Sans SC"/>
              </a:rPr>
              <a:t> </a:t>
            </a:r>
            <a:r>
              <a:rPr lang="en-US" dirty="0" err="1">
                <a:solidFill>
                  <a:srgbClr val="000000"/>
                </a:solidFill>
                <a:effectLst/>
                <a:latin typeface="Noto Sans SC"/>
              </a:rPr>
              <a:t>và</a:t>
            </a:r>
            <a:r>
              <a:rPr lang="en-US" dirty="0">
                <a:solidFill>
                  <a:srgbClr val="000000"/>
                </a:solidFill>
                <a:effectLst/>
                <a:latin typeface="Noto Sans SC"/>
              </a:rPr>
              <a:t> </a:t>
            </a:r>
            <a:r>
              <a:rPr lang="en-US" dirty="0" err="1">
                <a:solidFill>
                  <a:srgbClr val="000000"/>
                </a:solidFill>
                <a:effectLst/>
                <a:latin typeface="Noto Sans SC"/>
              </a:rPr>
              <a:t>trực</a:t>
            </a:r>
            <a:r>
              <a:rPr lang="en-US" dirty="0">
                <a:solidFill>
                  <a:srgbClr val="000000"/>
                </a:solidFill>
                <a:effectLst/>
                <a:latin typeface="Noto Sans SC"/>
              </a:rPr>
              <a:t> </a:t>
            </a:r>
            <a:r>
              <a:rPr lang="en-US" dirty="0" err="1">
                <a:solidFill>
                  <a:srgbClr val="000000"/>
                </a:solidFill>
                <a:effectLst/>
                <a:latin typeface="Noto Sans SC"/>
              </a:rPr>
              <a:t>quan</a:t>
            </a:r>
            <a:r>
              <a:rPr lang="en-US" dirty="0">
                <a:solidFill>
                  <a:srgbClr val="000000"/>
                </a:solidFill>
                <a:effectLst/>
                <a:latin typeface="Noto Sans SC"/>
              </a:rPr>
              <a:t> </a:t>
            </a:r>
            <a:r>
              <a:rPr lang="en-US" dirty="0" err="1">
                <a:solidFill>
                  <a:srgbClr val="000000"/>
                </a:solidFill>
                <a:effectLst/>
                <a:latin typeface="Noto Sans SC"/>
              </a:rPr>
              <a:t>hóa</a:t>
            </a:r>
            <a:r>
              <a:rPr lang="en-US" dirty="0">
                <a:solidFill>
                  <a:srgbClr val="000000"/>
                </a:solidFill>
                <a:effectLst/>
                <a:latin typeface="Noto Sans SC"/>
              </a:rPr>
              <a:t> </a:t>
            </a:r>
            <a:r>
              <a:rPr lang="en-US" dirty="0" err="1">
                <a:solidFill>
                  <a:srgbClr val="000000"/>
                </a:solidFill>
                <a:effectLst/>
                <a:latin typeface="Noto Sans SC"/>
              </a:rPr>
              <a:t>kết</a:t>
            </a:r>
            <a:r>
              <a:rPr lang="en-US" dirty="0">
                <a:solidFill>
                  <a:srgbClr val="000000"/>
                </a:solidFill>
                <a:effectLst/>
                <a:latin typeface="Noto Sans SC"/>
              </a:rPr>
              <a:t> </a:t>
            </a:r>
            <a:r>
              <a:rPr lang="en-US" dirty="0" err="1">
                <a:solidFill>
                  <a:srgbClr val="000000"/>
                </a:solidFill>
                <a:effectLst/>
                <a:latin typeface="Noto Sans SC"/>
              </a:rPr>
              <a:t>quả</a:t>
            </a:r>
            <a:r>
              <a:rPr lang="en-US" dirty="0">
                <a:solidFill>
                  <a:srgbClr val="000000"/>
                </a:solidFill>
                <a:effectLst/>
                <a:latin typeface="Noto Sans SC"/>
              </a:rPr>
              <a:t>.</a:t>
            </a:r>
            <a:endParaRPr lang="en-US" dirty="0">
              <a:effectLst/>
            </a:endParaRPr>
          </a:p>
        </p:txBody>
      </p:sp>
    </p:spTree>
    <p:extLst>
      <p:ext uri="{BB962C8B-B14F-4D97-AF65-F5344CB8AC3E}">
        <p14:creationId xmlns:p14="http://schemas.microsoft.com/office/powerpoint/2010/main" val="494323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76DC6-88A4-C247-2111-D8037129B1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0C03F0-F32C-738C-0840-8811DB26A1F5}"/>
              </a:ext>
            </a:extLst>
          </p:cNvPr>
          <p:cNvSpPr>
            <a:spLocks noGrp="1"/>
          </p:cNvSpPr>
          <p:nvPr>
            <p:ph type="title"/>
          </p:nvPr>
        </p:nvSpPr>
        <p:spPr>
          <a:xfrm>
            <a:off x="6447453" y="4671227"/>
            <a:ext cx="5199483" cy="1272373"/>
          </a:xfrm>
        </p:spPr>
        <p:txBody>
          <a:bodyPr>
            <a:normAutofit fontScale="90000"/>
          </a:bodyPr>
          <a:lstStyle/>
          <a:p>
            <a:pPr algn="r"/>
            <a:r>
              <a:rPr lang="en-US" b="1" dirty="0" err="1"/>
              <a:t>Xử</a:t>
            </a:r>
            <a:r>
              <a:rPr lang="en-US" b="1" dirty="0"/>
              <a:t> </a:t>
            </a:r>
            <a:r>
              <a:rPr lang="en-US" b="1" dirty="0" err="1"/>
              <a:t>lý</a:t>
            </a:r>
            <a:r>
              <a:rPr lang="en-US" b="1" dirty="0"/>
              <a:t> </a:t>
            </a:r>
            <a:r>
              <a:rPr lang="en-US" b="1" dirty="0" err="1"/>
              <a:t>và</a:t>
            </a:r>
            <a:r>
              <a:rPr lang="en-US" b="1" dirty="0"/>
              <a:t> </a:t>
            </a:r>
            <a:r>
              <a:rPr lang="en-US" b="1" dirty="0" err="1"/>
              <a:t>trực</a:t>
            </a:r>
            <a:r>
              <a:rPr lang="en-US" b="1" dirty="0"/>
              <a:t> </a:t>
            </a:r>
            <a:r>
              <a:rPr lang="en-US" b="1" dirty="0" err="1"/>
              <a:t>quan</a:t>
            </a:r>
            <a:r>
              <a:rPr lang="en-US" b="1" dirty="0"/>
              <a:t> </a:t>
            </a:r>
            <a:r>
              <a:rPr lang="en-US" b="1" dirty="0" err="1"/>
              <a:t>hóa</a:t>
            </a:r>
            <a:r>
              <a:rPr lang="en-US" b="1" dirty="0"/>
              <a:t> </a:t>
            </a:r>
            <a:r>
              <a:rPr lang="en-US" b="1" dirty="0" err="1"/>
              <a:t>dữ</a:t>
            </a:r>
            <a:r>
              <a:rPr lang="en-US" b="1" dirty="0"/>
              <a:t> </a:t>
            </a:r>
            <a:r>
              <a:rPr lang="en-US" b="1" dirty="0" err="1"/>
              <a:t>liệu</a:t>
            </a:r>
            <a:endParaRPr lang="en-US" sz="3600" dirty="0">
              <a:effectLst/>
            </a:endParaRPr>
          </a:p>
        </p:txBody>
      </p:sp>
      <p:sp>
        <p:nvSpPr>
          <p:cNvPr id="4" name="Date Placeholder 3">
            <a:extLst>
              <a:ext uri="{FF2B5EF4-FFF2-40B4-BE49-F238E27FC236}">
                <a16:creationId xmlns:a16="http://schemas.microsoft.com/office/drawing/2014/main" id="{3927D253-9EC6-B5A2-C410-88533472E4B7}"/>
              </a:ext>
            </a:extLst>
          </p:cNvPr>
          <p:cNvSpPr>
            <a:spLocks noGrp="1"/>
          </p:cNvSpPr>
          <p:nvPr>
            <p:ph type="dt" sz="half" idx="10"/>
          </p:nvPr>
        </p:nvSpPr>
        <p:spPr/>
        <p:txBody>
          <a:bodyPr/>
          <a:lstStyle/>
          <a:p>
            <a:fld id="{F96A87E1-9421-4CB4-9C4B-92F8E5D00273}" type="datetime1">
              <a:rPr lang="en-US" smtClean="0"/>
              <a:t>4/14/2026</a:t>
            </a:fld>
            <a:endParaRPr lang="en-US"/>
          </a:p>
        </p:txBody>
      </p:sp>
      <p:sp>
        <p:nvSpPr>
          <p:cNvPr id="6" name="Slide Number Placeholder 5">
            <a:extLst>
              <a:ext uri="{FF2B5EF4-FFF2-40B4-BE49-F238E27FC236}">
                <a16:creationId xmlns:a16="http://schemas.microsoft.com/office/drawing/2014/main" id="{97E3158C-3682-F743-31A1-46EA219772AB}"/>
              </a:ext>
            </a:extLst>
          </p:cNvPr>
          <p:cNvSpPr>
            <a:spLocks noGrp="1"/>
          </p:cNvSpPr>
          <p:nvPr>
            <p:ph type="sldNum" sz="quarter" idx="12"/>
          </p:nvPr>
        </p:nvSpPr>
        <p:spPr/>
        <p:txBody>
          <a:bodyPr/>
          <a:lstStyle/>
          <a:p>
            <a:fld id="{6C56B8FA-5C00-4693-8C7F-3776FF570F07}" type="slidenum">
              <a:rPr lang="en-US" smtClean="0"/>
              <a:t>10</a:t>
            </a:fld>
            <a:endParaRPr lang="en-US"/>
          </a:p>
        </p:txBody>
      </p:sp>
      <p:sp>
        <p:nvSpPr>
          <p:cNvPr id="7" name="TextBox 6">
            <a:extLst>
              <a:ext uri="{FF2B5EF4-FFF2-40B4-BE49-F238E27FC236}">
                <a16:creationId xmlns:a16="http://schemas.microsoft.com/office/drawing/2014/main" id="{04A01E39-6A00-21E0-0790-9E4BEE8A79E7}"/>
              </a:ext>
            </a:extLst>
          </p:cNvPr>
          <p:cNvSpPr txBox="1"/>
          <p:nvPr/>
        </p:nvSpPr>
        <p:spPr>
          <a:xfrm>
            <a:off x="9497971" y="3862609"/>
            <a:ext cx="968457" cy="1015663"/>
          </a:xfrm>
          <a:prstGeom prst="rect">
            <a:avLst/>
          </a:prstGeom>
          <a:noFill/>
        </p:spPr>
        <p:txBody>
          <a:bodyPr wrap="square" rtlCol="0">
            <a:spAutoFit/>
          </a:bodyPr>
          <a:lstStyle/>
          <a:p>
            <a:r>
              <a:rPr lang="en-US" sz="6000" dirty="0">
                <a:solidFill>
                  <a:schemeClr val="accent1">
                    <a:lumMod val="50000"/>
                  </a:schemeClr>
                </a:solidFill>
              </a:rPr>
              <a:t>03</a:t>
            </a:r>
            <a:endParaRPr lang="en-US" sz="4800" dirty="0">
              <a:solidFill>
                <a:schemeClr val="accent1">
                  <a:lumMod val="50000"/>
                </a:schemeClr>
              </a:solidFill>
            </a:endParaRPr>
          </a:p>
        </p:txBody>
      </p:sp>
    </p:spTree>
    <p:extLst>
      <p:ext uri="{BB962C8B-B14F-4D97-AF65-F5344CB8AC3E}">
        <p14:creationId xmlns:p14="http://schemas.microsoft.com/office/powerpoint/2010/main" val="3523901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E239F-55D9-A0D5-CD13-79DC3225A6FE}"/>
              </a:ext>
            </a:extLst>
          </p:cNvPr>
          <p:cNvSpPr>
            <a:spLocks noGrp="1"/>
          </p:cNvSpPr>
          <p:nvPr>
            <p:ph type="title"/>
          </p:nvPr>
        </p:nvSpPr>
        <p:spPr/>
        <p:txBody>
          <a:bodyPr>
            <a:normAutofit/>
          </a:bodyPr>
          <a:lstStyle/>
          <a:p>
            <a:r>
              <a:rPr lang="en-US" b="1" dirty="0" err="1"/>
              <a:t>Xử</a:t>
            </a:r>
            <a:r>
              <a:rPr lang="en-US" b="1" dirty="0"/>
              <a:t> </a:t>
            </a:r>
            <a:r>
              <a:rPr lang="en-US" b="1" dirty="0" err="1"/>
              <a:t>lý</a:t>
            </a:r>
            <a:r>
              <a:rPr lang="en-US" b="1" dirty="0"/>
              <a:t> </a:t>
            </a:r>
            <a:r>
              <a:rPr lang="en-US" b="1" dirty="0" err="1"/>
              <a:t>dữ</a:t>
            </a:r>
            <a:r>
              <a:rPr lang="en-US" b="1" dirty="0"/>
              <a:t> </a:t>
            </a:r>
            <a:r>
              <a:rPr lang="en-US" b="1" dirty="0" err="1"/>
              <a:t>liệu</a:t>
            </a:r>
            <a:endParaRPr lang="en-US" dirty="0"/>
          </a:p>
        </p:txBody>
      </p:sp>
      <p:sp>
        <p:nvSpPr>
          <p:cNvPr id="6" name="Slide Number Placeholder 5">
            <a:extLst>
              <a:ext uri="{FF2B5EF4-FFF2-40B4-BE49-F238E27FC236}">
                <a16:creationId xmlns:a16="http://schemas.microsoft.com/office/drawing/2014/main" id="{22B611F0-4796-67BD-4AF6-BDD618B42FEE}"/>
              </a:ext>
            </a:extLst>
          </p:cNvPr>
          <p:cNvSpPr>
            <a:spLocks noGrp="1"/>
          </p:cNvSpPr>
          <p:nvPr>
            <p:ph type="sldNum" sz="quarter" idx="12"/>
          </p:nvPr>
        </p:nvSpPr>
        <p:spPr/>
        <p:txBody>
          <a:bodyPr/>
          <a:lstStyle/>
          <a:p>
            <a:fld id="{6C56B8FA-5C00-4693-8C7F-3776FF570F07}" type="slidenum">
              <a:rPr lang="en-US" smtClean="0"/>
              <a:t>11</a:t>
            </a:fld>
            <a:endParaRPr lang="en-US"/>
          </a:p>
        </p:txBody>
      </p:sp>
      <p:sp>
        <p:nvSpPr>
          <p:cNvPr id="7" name="Flowchart: Alternate Process 6">
            <a:extLst>
              <a:ext uri="{FF2B5EF4-FFF2-40B4-BE49-F238E27FC236}">
                <a16:creationId xmlns:a16="http://schemas.microsoft.com/office/drawing/2014/main" id="{49613851-133E-A831-285D-13F054CAE93A}"/>
              </a:ext>
            </a:extLst>
          </p:cNvPr>
          <p:cNvSpPr/>
          <p:nvPr/>
        </p:nvSpPr>
        <p:spPr>
          <a:xfrm>
            <a:off x="754225" y="2388637"/>
            <a:ext cx="3307702" cy="2976465"/>
          </a:xfrm>
          <a:prstGeom prst="flowChartAlternateProcess">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Công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cụ</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kiểm</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tra</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tính</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hợp</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lệ</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của</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tệp</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CSV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đầu</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vào</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đảm</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bảo</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dữ</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liệu</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không</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bị</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lỗi</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hoặc</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không</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đầy</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đủ</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giúp</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duy</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trì</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tính</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chính</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xác</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của</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thuật</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toán</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lập</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lịch</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en-US" sz="16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8" name="Flowchart: Alternate Process 7">
            <a:extLst>
              <a:ext uri="{FF2B5EF4-FFF2-40B4-BE49-F238E27FC236}">
                <a16:creationId xmlns:a16="http://schemas.microsoft.com/office/drawing/2014/main" id="{E7DB3BFD-3E9B-CEE9-53E4-D6548FA94B30}"/>
              </a:ext>
            </a:extLst>
          </p:cNvPr>
          <p:cNvSpPr/>
          <p:nvPr/>
        </p:nvSpPr>
        <p:spPr>
          <a:xfrm>
            <a:off x="4531568" y="2392046"/>
            <a:ext cx="3307702" cy="2976465"/>
          </a:xfrm>
          <a:prstGeom prst="flowChartAlternateProcess">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sz="1600" dirty="0">
                <a:solidFill>
                  <a:schemeClr val="tx1"/>
                </a:solidFill>
                <a:latin typeface="Calibri" panose="020F0502020204030204" pitchFamily="34" charset="0"/>
                <a:ea typeface="Calibri" panose="020F0502020204030204" pitchFamily="34" charset="0"/>
                <a:cs typeface="Calibri" panose="020F0502020204030204" pitchFamily="34" charset="0"/>
              </a:rPr>
              <a:t>Khi thiếu dữ liệu về độ ưu tiên (priority), hệ thống tự động thiết lập giá trị mặc định để tránh gián đoạn quá trình tính toán.</a:t>
            </a:r>
            <a:endParaRPr lang="vi-VN" sz="16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9" name="Flowchart: Alternate Process 8">
            <a:extLst>
              <a:ext uri="{FF2B5EF4-FFF2-40B4-BE49-F238E27FC236}">
                <a16:creationId xmlns:a16="http://schemas.microsoft.com/office/drawing/2014/main" id="{52C3E773-2C86-7CF3-751C-86461683BB23}"/>
              </a:ext>
            </a:extLst>
          </p:cNvPr>
          <p:cNvSpPr/>
          <p:nvPr/>
        </p:nvSpPr>
        <p:spPr>
          <a:xfrm>
            <a:off x="8308911" y="2388637"/>
            <a:ext cx="3307702" cy="2976465"/>
          </a:xfrm>
          <a:prstGeom prst="flowChartAlternateProcess">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sz="1600" dirty="0">
                <a:solidFill>
                  <a:schemeClr val="tx1"/>
                </a:solidFill>
                <a:latin typeface="Calibri" panose="020F0502020204030204" pitchFamily="34" charset="0"/>
                <a:ea typeface="Calibri" panose="020F0502020204030204" pitchFamily="34" charset="0"/>
                <a:cs typeface="Calibri" panose="020F0502020204030204" pitchFamily="34" charset="0"/>
              </a:rPr>
              <a:t>Sử dụng lớp Process để chuẩn hóa việc lưu trữ và xử lý dữ liệu, từ đó cải thiện hiệu quả xử lý và đảm bảo độ linh hoạt của chương trình.</a:t>
            </a:r>
            <a:endParaRPr lang="vi-VN" sz="16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3945D02-3561-A440-BBB3-4E6DB0E6A86F}"/>
              </a:ext>
            </a:extLst>
          </p:cNvPr>
          <p:cNvSpPr txBox="1"/>
          <p:nvPr/>
        </p:nvSpPr>
        <p:spPr>
          <a:xfrm>
            <a:off x="1136003" y="2824456"/>
            <a:ext cx="1915108" cy="369332"/>
          </a:xfrm>
          <a:prstGeom prst="rect">
            <a:avLst/>
          </a:prstGeom>
          <a:noFill/>
        </p:spPr>
        <p:txBody>
          <a:bodyPr wrap="square">
            <a:spAutoFit/>
          </a:bodyPr>
          <a:lstStyle/>
          <a:p>
            <a:pPr algn="l">
              <a:buNone/>
            </a:pPr>
            <a:r>
              <a:rPr lang="en-US" b="1" dirty="0" err="1">
                <a:solidFill>
                  <a:srgbClr val="0070C0"/>
                </a:solidFill>
                <a:effectLst/>
                <a:latin typeface="Noto Sans SC"/>
              </a:rPr>
              <a:t>Xác</a:t>
            </a:r>
            <a:r>
              <a:rPr lang="en-US" b="1" dirty="0">
                <a:solidFill>
                  <a:srgbClr val="0070C0"/>
                </a:solidFill>
                <a:effectLst/>
                <a:latin typeface="Noto Sans SC"/>
              </a:rPr>
              <a:t> </a:t>
            </a:r>
            <a:r>
              <a:rPr lang="en-US" b="1" dirty="0" err="1">
                <a:solidFill>
                  <a:srgbClr val="0070C0"/>
                </a:solidFill>
                <a:effectLst/>
                <a:latin typeface="Noto Sans SC"/>
              </a:rPr>
              <a:t>thực</a:t>
            </a:r>
            <a:r>
              <a:rPr lang="en-US" b="1" dirty="0">
                <a:solidFill>
                  <a:srgbClr val="0070C0"/>
                </a:solidFill>
                <a:effectLst/>
                <a:latin typeface="Noto Sans SC"/>
              </a:rPr>
              <a:t> </a:t>
            </a:r>
            <a:r>
              <a:rPr lang="en-US" b="1" dirty="0" err="1">
                <a:solidFill>
                  <a:srgbClr val="0070C0"/>
                </a:solidFill>
                <a:effectLst/>
                <a:latin typeface="Noto Sans SC"/>
              </a:rPr>
              <a:t>tệp</a:t>
            </a:r>
            <a:r>
              <a:rPr lang="en-US" b="1" dirty="0">
                <a:solidFill>
                  <a:srgbClr val="0070C0"/>
                </a:solidFill>
                <a:effectLst/>
                <a:latin typeface="Noto Sans SC"/>
              </a:rPr>
              <a:t> CSV</a:t>
            </a:r>
            <a:endParaRPr lang="en-US" dirty="0">
              <a:solidFill>
                <a:srgbClr val="0070C0"/>
              </a:solidFill>
              <a:effectLst/>
            </a:endParaRPr>
          </a:p>
        </p:txBody>
      </p:sp>
      <p:sp>
        <p:nvSpPr>
          <p:cNvPr id="18" name="TextBox 17">
            <a:extLst>
              <a:ext uri="{FF2B5EF4-FFF2-40B4-BE49-F238E27FC236}">
                <a16:creationId xmlns:a16="http://schemas.microsoft.com/office/drawing/2014/main" id="{59A8DA64-19F7-FD45-9DD1-622CA4198696}"/>
              </a:ext>
            </a:extLst>
          </p:cNvPr>
          <p:cNvSpPr txBox="1"/>
          <p:nvPr/>
        </p:nvSpPr>
        <p:spPr>
          <a:xfrm>
            <a:off x="4914900" y="2824456"/>
            <a:ext cx="2176365" cy="369332"/>
          </a:xfrm>
          <a:prstGeom prst="rect">
            <a:avLst/>
          </a:prstGeom>
          <a:noFill/>
        </p:spPr>
        <p:txBody>
          <a:bodyPr wrap="square">
            <a:spAutoFit/>
          </a:bodyPr>
          <a:lstStyle/>
          <a:p>
            <a:pPr algn="l">
              <a:buNone/>
            </a:pPr>
            <a:r>
              <a:rPr lang="en-US" b="1" dirty="0" err="1">
                <a:solidFill>
                  <a:srgbClr val="0070C0"/>
                </a:solidFill>
                <a:effectLst/>
                <a:latin typeface="Noto Sans SC"/>
              </a:rPr>
              <a:t>Gán</a:t>
            </a:r>
            <a:r>
              <a:rPr lang="en-US" b="1" dirty="0">
                <a:solidFill>
                  <a:srgbClr val="0070C0"/>
                </a:solidFill>
                <a:effectLst/>
                <a:latin typeface="Noto Sans SC"/>
              </a:rPr>
              <a:t> </a:t>
            </a:r>
            <a:r>
              <a:rPr lang="en-US" b="1" dirty="0" err="1">
                <a:solidFill>
                  <a:srgbClr val="0070C0"/>
                </a:solidFill>
                <a:effectLst/>
                <a:latin typeface="Noto Sans SC"/>
              </a:rPr>
              <a:t>giá</a:t>
            </a:r>
            <a:r>
              <a:rPr lang="en-US" b="1" dirty="0">
                <a:solidFill>
                  <a:srgbClr val="0070C0"/>
                </a:solidFill>
                <a:effectLst/>
                <a:latin typeface="Noto Sans SC"/>
              </a:rPr>
              <a:t> </a:t>
            </a:r>
            <a:r>
              <a:rPr lang="en-US" b="1" dirty="0" err="1">
                <a:solidFill>
                  <a:srgbClr val="0070C0"/>
                </a:solidFill>
                <a:effectLst/>
                <a:latin typeface="Noto Sans SC"/>
              </a:rPr>
              <a:t>trị</a:t>
            </a:r>
            <a:r>
              <a:rPr lang="en-US" b="1" dirty="0">
                <a:solidFill>
                  <a:srgbClr val="0070C0"/>
                </a:solidFill>
                <a:effectLst/>
                <a:latin typeface="Noto Sans SC"/>
              </a:rPr>
              <a:t> </a:t>
            </a:r>
            <a:r>
              <a:rPr lang="en-US" b="1" dirty="0" err="1">
                <a:solidFill>
                  <a:srgbClr val="0070C0"/>
                </a:solidFill>
                <a:effectLst/>
                <a:latin typeface="Noto Sans SC"/>
              </a:rPr>
              <a:t>mặc</a:t>
            </a:r>
            <a:r>
              <a:rPr lang="en-US" b="1" dirty="0">
                <a:solidFill>
                  <a:srgbClr val="0070C0"/>
                </a:solidFill>
                <a:effectLst/>
                <a:latin typeface="Noto Sans SC"/>
              </a:rPr>
              <a:t> </a:t>
            </a:r>
            <a:r>
              <a:rPr lang="en-US" b="1" dirty="0" err="1">
                <a:solidFill>
                  <a:srgbClr val="0070C0"/>
                </a:solidFill>
                <a:effectLst/>
                <a:latin typeface="Noto Sans SC"/>
              </a:rPr>
              <a:t>định</a:t>
            </a:r>
            <a:endParaRPr lang="en-US" dirty="0">
              <a:solidFill>
                <a:srgbClr val="0070C0"/>
              </a:solidFill>
              <a:effectLst/>
            </a:endParaRPr>
          </a:p>
        </p:txBody>
      </p:sp>
      <p:sp>
        <p:nvSpPr>
          <p:cNvPr id="20" name="TextBox 19">
            <a:extLst>
              <a:ext uri="{FF2B5EF4-FFF2-40B4-BE49-F238E27FC236}">
                <a16:creationId xmlns:a16="http://schemas.microsoft.com/office/drawing/2014/main" id="{C4DF41AD-B5DE-A359-CBD2-A614A3E47E0C}"/>
              </a:ext>
            </a:extLst>
          </p:cNvPr>
          <p:cNvSpPr txBox="1"/>
          <p:nvPr/>
        </p:nvSpPr>
        <p:spPr>
          <a:xfrm>
            <a:off x="8610600" y="2824456"/>
            <a:ext cx="2445397" cy="369332"/>
          </a:xfrm>
          <a:prstGeom prst="rect">
            <a:avLst/>
          </a:prstGeom>
          <a:noFill/>
        </p:spPr>
        <p:txBody>
          <a:bodyPr wrap="square">
            <a:spAutoFit/>
          </a:bodyPr>
          <a:lstStyle/>
          <a:p>
            <a:pPr algn="l">
              <a:buNone/>
            </a:pPr>
            <a:r>
              <a:rPr lang="en-US" b="1" dirty="0" err="1">
                <a:solidFill>
                  <a:srgbClr val="0070C0"/>
                </a:solidFill>
                <a:effectLst/>
                <a:latin typeface="Noto Sans SC"/>
              </a:rPr>
              <a:t>Tích</a:t>
            </a:r>
            <a:r>
              <a:rPr lang="en-US" b="1" dirty="0">
                <a:solidFill>
                  <a:srgbClr val="0070C0"/>
                </a:solidFill>
                <a:effectLst/>
                <a:latin typeface="Noto Sans SC"/>
              </a:rPr>
              <a:t> </a:t>
            </a:r>
            <a:r>
              <a:rPr lang="en-US" b="1" dirty="0" err="1">
                <a:solidFill>
                  <a:srgbClr val="0070C0"/>
                </a:solidFill>
                <a:effectLst/>
                <a:latin typeface="Noto Sans SC"/>
              </a:rPr>
              <a:t>hợp</a:t>
            </a:r>
            <a:r>
              <a:rPr lang="en-US" b="1" dirty="0">
                <a:solidFill>
                  <a:srgbClr val="0070C0"/>
                </a:solidFill>
                <a:effectLst/>
                <a:latin typeface="Noto Sans SC"/>
              </a:rPr>
              <a:t> </a:t>
            </a:r>
            <a:r>
              <a:rPr lang="en-US" b="1" dirty="0" err="1">
                <a:solidFill>
                  <a:srgbClr val="0070C0"/>
                </a:solidFill>
                <a:effectLst/>
                <a:latin typeface="Noto Sans SC"/>
              </a:rPr>
              <a:t>lớp</a:t>
            </a:r>
            <a:r>
              <a:rPr lang="en-US" b="1" dirty="0">
                <a:solidFill>
                  <a:srgbClr val="0070C0"/>
                </a:solidFill>
                <a:effectLst/>
                <a:latin typeface="Noto Sans SC"/>
              </a:rPr>
              <a:t> Process</a:t>
            </a:r>
            <a:endParaRPr lang="en-US" dirty="0">
              <a:solidFill>
                <a:srgbClr val="0070C0"/>
              </a:solidFill>
              <a:effectLst/>
            </a:endParaRPr>
          </a:p>
        </p:txBody>
      </p:sp>
    </p:spTree>
    <p:extLst>
      <p:ext uri="{BB962C8B-B14F-4D97-AF65-F5344CB8AC3E}">
        <p14:creationId xmlns:p14="http://schemas.microsoft.com/office/powerpoint/2010/main" val="2262447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EB661-F4AA-AD12-FE48-18680331828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92C60DB-E26B-5A11-5DA7-BF154DC883D9}"/>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FFD00F40-12DB-A4D7-2FE8-E9F74401BA90}"/>
              </a:ext>
            </a:extLst>
          </p:cNvPr>
          <p:cNvSpPr>
            <a:spLocks noGrp="1"/>
          </p:cNvSpPr>
          <p:nvPr>
            <p:ph type="dt" sz="half" idx="10"/>
          </p:nvPr>
        </p:nvSpPr>
        <p:spPr/>
        <p:txBody>
          <a:bodyPr/>
          <a:lstStyle/>
          <a:p>
            <a:fld id="{17F8CB66-6B22-44AE-B8C2-8C7191DA8157}" type="datetime1">
              <a:rPr lang="en-US" smtClean="0"/>
              <a:t>4/14/2026</a:t>
            </a:fld>
            <a:endParaRPr lang="en-US"/>
          </a:p>
        </p:txBody>
      </p:sp>
      <p:sp>
        <p:nvSpPr>
          <p:cNvPr id="5" name="Footer Placeholder 4">
            <a:extLst>
              <a:ext uri="{FF2B5EF4-FFF2-40B4-BE49-F238E27FC236}">
                <a16:creationId xmlns:a16="http://schemas.microsoft.com/office/drawing/2014/main" id="{37F5D593-6047-85FB-0D3C-DA3999F79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E8D13D-AF3B-8767-02B7-7CBA8B3BBF06}"/>
              </a:ext>
            </a:extLst>
          </p:cNvPr>
          <p:cNvSpPr>
            <a:spLocks noGrp="1"/>
          </p:cNvSpPr>
          <p:nvPr>
            <p:ph type="sldNum" sz="quarter" idx="12"/>
          </p:nvPr>
        </p:nvSpPr>
        <p:spPr/>
        <p:txBody>
          <a:bodyPr/>
          <a:lstStyle/>
          <a:p>
            <a:fld id="{6C56B8FA-5C00-4693-8C7F-3776FF570F07}" type="slidenum">
              <a:rPr lang="en-US" smtClean="0"/>
              <a:t>12</a:t>
            </a:fld>
            <a:endParaRPr lang="en-US"/>
          </a:p>
        </p:txBody>
      </p:sp>
    </p:spTree>
    <p:extLst>
      <p:ext uri="{BB962C8B-B14F-4D97-AF65-F5344CB8AC3E}">
        <p14:creationId xmlns:p14="http://schemas.microsoft.com/office/powerpoint/2010/main" val="2636041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285EF-C8B0-BE64-38E1-C24DD9439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77B1A-42BA-24E6-4C92-A5DED6B946A5}"/>
              </a:ext>
            </a:extLst>
          </p:cNvPr>
          <p:cNvSpPr>
            <a:spLocks noGrp="1"/>
          </p:cNvSpPr>
          <p:nvPr>
            <p:ph type="title"/>
          </p:nvPr>
        </p:nvSpPr>
        <p:spPr>
          <a:xfrm>
            <a:off x="6108830" y="4699219"/>
            <a:ext cx="5003540" cy="1272373"/>
          </a:xfrm>
        </p:spPr>
        <p:txBody>
          <a:bodyPr>
            <a:normAutofit fontScale="90000"/>
          </a:bodyPr>
          <a:lstStyle/>
          <a:p>
            <a:pPr algn="r"/>
            <a:r>
              <a:rPr lang="en-US" b="1" dirty="0" err="1"/>
              <a:t>Thử</a:t>
            </a:r>
            <a:r>
              <a:rPr lang="en-US" b="1" dirty="0"/>
              <a:t> </a:t>
            </a:r>
            <a:r>
              <a:rPr lang="en-US" b="1" dirty="0" err="1"/>
              <a:t>nghiệm</a:t>
            </a:r>
            <a:r>
              <a:rPr lang="en-US" b="1" dirty="0"/>
              <a:t> </a:t>
            </a:r>
            <a:r>
              <a:rPr lang="en-US" b="1" dirty="0" err="1"/>
              <a:t>và</a:t>
            </a:r>
            <a:r>
              <a:rPr lang="en-US" b="1" dirty="0"/>
              <a:t> </a:t>
            </a:r>
            <a:r>
              <a:rPr lang="en-US" b="1" dirty="0" err="1"/>
              <a:t>Thách</a:t>
            </a:r>
            <a:r>
              <a:rPr lang="en-US" b="1" dirty="0"/>
              <a:t> </a:t>
            </a:r>
            <a:r>
              <a:rPr lang="en-US" b="1" dirty="0" err="1"/>
              <a:t>thức</a:t>
            </a:r>
            <a:endParaRPr lang="en-US" dirty="0">
              <a:effectLst/>
            </a:endParaRPr>
          </a:p>
        </p:txBody>
      </p:sp>
      <p:sp>
        <p:nvSpPr>
          <p:cNvPr id="4" name="Date Placeholder 3">
            <a:extLst>
              <a:ext uri="{FF2B5EF4-FFF2-40B4-BE49-F238E27FC236}">
                <a16:creationId xmlns:a16="http://schemas.microsoft.com/office/drawing/2014/main" id="{C82DDB6D-96F2-5541-BC5B-341CD72137DE}"/>
              </a:ext>
            </a:extLst>
          </p:cNvPr>
          <p:cNvSpPr>
            <a:spLocks noGrp="1"/>
          </p:cNvSpPr>
          <p:nvPr>
            <p:ph type="dt" sz="half" idx="10"/>
          </p:nvPr>
        </p:nvSpPr>
        <p:spPr/>
        <p:txBody>
          <a:bodyPr/>
          <a:lstStyle/>
          <a:p>
            <a:fld id="{F96A87E1-9421-4CB4-9C4B-92F8E5D00273}" type="datetime1">
              <a:rPr lang="en-US" smtClean="0"/>
              <a:t>4/14/2026</a:t>
            </a:fld>
            <a:endParaRPr lang="en-US"/>
          </a:p>
        </p:txBody>
      </p:sp>
      <p:sp>
        <p:nvSpPr>
          <p:cNvPr id="6" name="Slide Number Placeholder 5">
            <a:extLst>
              <a:ext uri="{FF2B5EF4-FFF2-40B4-BE49-F238E27FC236}">
                <a16:creationId xmlns:a16="http://schemas.microsoft.com/office/drawing/2014/main" id="{1F654E46-1EF3-AF16-B49A-B2E2824B623E}"/>
              </a:ext>
            </a:extLst>
          </p:cNvPr>
          <p:cNvSpPr>
            <a:spLocks noGrp="1"/>
          </p:cNvSpPr>
          <p:nvPr>
            <p:ph type="sldNum" sz="quarter" idx="12"/>
          </p:nvPr>
        </p:nvSpPr>
        <p:spPr/>
        <p:txBody>
          <a:bodyPr/>
          <a:lstStyle/>
          <a:p>
            <a:fld id="{6C56B8FA-5C00-4693-8C7F-3776FF570F07}" type="slidenum">
              <a:rPr lang="en-US" smtClean="0"/>
              <a:t>13</a:t>
            </a:fld>
            <a:endParaRPr lang="en-US"/>
          </a:p>
        </p:txBody>
      </p:sp>
      <p:sp>
        <p:nvSpPr>
          <p:cNvPr id="7" name="TextBox 6">
            <a:extLst>
              <a:ext uri="{FF2B5EF4-FFF2-40B4-BE49-F238E27FC236}">
                <a16:creationId xmlns:a16="http://schemas.microsoft.com/office/drawing/2014/main" id="{F2ADE529-2C8F-5029-6906-5E40A7526D3B}"/>
              </a:ext>
            </a:extLst>
          </p:cNvPr>
          <p:cNvSpPr txBox="1"/>
          <p:nvPr/>
        </p:nvSpPr>
        <p:spPr>
          <a:xfrm>
            <a:off x="9647261" y="3806625"/>
            <a:ext cx="968457" cy="1015663"/>
          </a:xfrm>
          <a:prstGeom prst="rect">
            <a:avLst/>
          </a:prstGeom>
          <a:noFill/>
        </p:spPr>
        <p:txBody>
          <a:bodyPr wrap="square" rtlCol="0">
            <a:spAutoFit/>
          </a:bodyPr>
          <a:lstStyle/>
          <a:p>
            <a:r>
              <a:rPr lang="en-US" sz="6000" dirty="0">
                <a:solidFill>
                  <a:schemeClr val="accent1">
                    <a:lumMod val="50000"/>
                  </a:schemeClr>
                </a:solidFill>
              </a:rPr>
              <a:t>04</a:t>
            </a:r>
            <a:endParaRPr lang="en-US" sz="4800" dirty="0">
              <a:solidFill>
                <a:schemeClr val="accent1">
                  <a:lumMod val="50000"/>
                </a:schemeClr>
              </a:solidFill>
            </a:endParaRPr>
          </a:p>
        </p:txBody>
      </p:sp>
    </p:spTree>
    <p:extLst>
      <p:ext uri="{BB962C8B-B14F-4D97-AF65-F5344CB8AC3E}">
        <p14:creationId xmlns:p14="http://schemas.microsoft.com/office/powerpoint/2010/main" val="1586430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5E4B1-0388-E838-CE32-C2B6DF1FF9B2}"/>
              </a:ext>
            </a:extLst>
          </p:cNvPr>
          <p:cNvSpPr>
            <a:spLocks noGrp="1"/>
          </p:cNvSpPr>
          <p:nvPr>
            <p:ph type="title"/>
          </p:nvPr>
        </p:nvSpPr>
        <p:spPr/>
        <p:txBody>
          <a:bodyPr>
            <a:normAutofit/>
          </a:bodyPr>
          <a:lstStyle/>
          <a:p>
            <a:r>
              <a:rPr lang="vi-VN" b="1" dirty="0"/>
              <a:t>Các trường hợp thử nghiệm</a:t>
            </a:r>
            <a:endParaRPr lang="en-US" dirty="0"/>
          </a:p>
        </p:txBody>
      </p:sp>
      <p:sp>
        <p:nvSpPr>
          <p:cNvPr id="6" name="Slide Number Placeholder 5">
            <a:extLst>
              <a:ext uri="{FF2B5EF4-FFF2-40B4-BE49-F238E27FC236}">
                <a16:creationId xmlns:a16="http://schemas.microsoft.com/office/drawing/2014/main" id="{E5B0B7AA-089D-5489-94F4-36B2D57DF159}"/>
              </a:ext>
            </a:extLst>
          </p:cNvPr>
          <p:cNvSpPr>
            <a:spLocks noGrp="1"/>
          </p:cNvSpPr>
          <p:nvPr>
            <p:ph type="sldNum" sz="quarter" idx="12"/>
          </p:nvPr>
        </p:nvSpPr>
        <p:spPr/>
        <p:txBody>
          <a:bodyPr/>
          <a:lstStyle/>
          <a:p>
            <a:fld id="{6C56B8FA-5C00-4693-8C7F-3776FF570F07}" type="slidenum">
              <a:rPr lang="en-US" smtClean="0"/>
              <a:t>14</a:t>
            </a:fld>
            <a:endParaRPr lang="en-US"/>
          </a:p>
        </p:txBody>
      </p:sp>
      <p:sp>
        <p:nvSpPr>
          <p:cNvPr id="8" name="TextBox 7">
            <a:extLst>
              <a:ext uri="{FF2B5EF4-FFF2-40B4-BE49-F238E27FC236}">
                <a16:creationId xmlns:a16="http://schemas.microsoft.com/office/drawing/2014/main" id="{BA96584E-4D82-D1B7-BB77-DC498F07B029}"/>
              </a:ext>
            </a:extLst>
          </p:cNvPr>
          <p:cNvSpPr txBox="1"/>
          <p:nvPr/>
        </p:nvSpPr>
        <p:spPr>
          <a:xfrm>
            <a:off x="1173325" y="2138857"/>
            <a:ext cx="6097554" cy="369332"/>
          </a:xfrm>
          <a:prstGeom prst="rect">
            <a:avLst/>
          </a:prstGeom>
          <a:noFill/>
        </p:spPr>
        <p:txBody>
          <a:bodyPr wrap="square">
            <a:spAutoFit/>
          </a:bodyPr>
          <a:lstStyle/>
          <a:p>
            <a:pPr algn="l">
              <a:buNone/>
            </a:pPr>
            <a:r>
              <a:rPr lang="en-US" b="1" dirty="0" err="1">
                <a:solidFill>
                  <a:srgbClr val="226DF6"/>
                </a:solidFill>
                <a:effectLst/>
                <a:latin typeface="Noto Sans SC"/>
              </a:rPr>
              <a:t>Tạo</a:t>
            </a:r>
            <a:r>
              <a:rPr lang="en-US" b="1" dirty="0">
                <a:solidFill>
                  <a:srgbClr val="226DF6"/>
                </a:solidFill>
                <a:effectLst/>
                <a:latin typeface="Noto Sans SC"/>
              </a:rPr>
              <a:t> </a:t>
            </a:r>
            <a:r>
              <a:rPr lang="en-US" b="1" dirty="0" err="1">
                <a:solidFill>
                  <a:srgbClr val="226DF6"/>
                </a:solidFill>
                <a:effectLst/>
                <a:latin typeface="Noto Sans SC"/>
              </a:rPr>
              <a:t>dữ</a:t>
            </a:r>
            <a:r>
              <a:rPr lang="en-US" b="1" dirty="0">
                <a:solidFill>
                  <a:srgbClr val="226DF6"/>
                </a:solidFill>
                <a:effectLst/>
                <a:latin typeface="Noto Sans SC"/>
              </a:rPr>
              <a:t> </a:t>
            </a:r>
            <a:r>
              <a:rPr lang="en-US" b="1" dirty="0" err="1">
                <a:solidFill>
                  <a:srgbClr val="226DF6"/>
                </a:solidFill>
                <a:effectLst/>
                <a:latin typeface="Noto Sans SC"/>
              </a:rPr>
              <a:t>liệu</a:t>
            </a:r>
            <a:r>
              <a:rPr lang="en-US" b="1" dirty="0">
                <a:solidFill>
                  <a:srgbClr val="226DF6"/>
                </a:solidFill>
                <a:effectLst/>
                <a:latin typeface="Noto Sans SC"/>
              </a:rPr>
              <a:t> </a:t>
            </a:r>
            <a:r>
              <a:rPr lang="en-US" b="1" dirty="0" err="1">
                <a:solidFill>
                  <a:srgbClr val="226DF6"/>
                </a:solidFill>
                <a:effectLst/>
                <a:latin typeface="Noto Sans SC"/>
              </a:rPr>
              <a:t>cho</a:t>
            </a:r>
            <a:r>
              <a:rPr lang="en-US" b="1" dirty="0">
                <a:solidFill>
                  <a:srgbClr val="226DF6"/>
                </a:solidFill>
                <a:effectLst/>
                <a:latin typeface="Noto Sans SC"/>
              </a:rPr>
              <a:t> </a:t>
            </a:r>
            <a:r>
              <a:rPr lang="en-US" b="1" dirty="0" err="1">
                <a:solidFill>
                  <a:srgbClr val="226DF6"/>
                </a:solidFill>
                <a:effectLst/>
                <a:latin typeface="Noto Sans SC"/>
              </a:rPr>
              <a:t>tiến</a:t>
            </a:r>
            <a:r>
              <a:rPr lang="en-US" b="1" dirty="0">
                <a:solidFill>
                  <a:srgbClr val="226DF6"/>
                </a:solidFill>
                <a:effectLst/>
                <a:latin typeface="Noto Sans SC"/>
              </a:rPr>
              <a:t> </a:t>
            </a:r>
            <a:r>
              <a:rPr lang="en-US" b="1" dirty="0" err="1">
                <a:solidFill>
                  <a:srgbClr val="226DF6"/>
                </a:solidFill>
                <a:effectLst/>
                <a:latin typeface="Noto Sans SC"/>
              </a:rPr>
              <a:t>trình</a:t>
            </a:r>
            <a:r>
              <a:rPr lang="en-US" b="1" dirty="0">
                <a:solidFill>
                  <a:srgbClr val="226DF6"/>
                </a:solidFill>
                <a:effectLst/>
                <a:latin typeface="Noto Sans SC"/>
              </a:rPr>
              <a:t> </a:t>
            </a:r>
            <a:r>
              <a:rPr lang="en-US" b="1" dirty="0" err="1">
                <a:solidFill>
                  <a:srgbClr val="226DF6"/>
                </a:solidFill>
                <a:effectLst/>
                <a:latin typeface="Noto Sans SC"/>
              </a:rPr>
              <a:t>đến</a:t>
            </a:r>
            <a:r>
              <a:rPr lang="en-US" b="1" dirty="0">
                <a:solidFill>
                  <a:srgbClr val="226DF6"/>
                </a:solidFill>
                <a:effectLst/>
                <a:latin typeface="Noto Sans SC"/>
              </a:rPr>
              <a:t> </a:t>
            </a:r>
            <a:r>
              <a:rPr lang="en-US" b="1" dirty="0" err="1">
                <a:solidFill>
                  <a:srgbClr val="226DF6"/>
                </a:solidFill>
                <a:effectLst/>
                <a:latin typeface="Noto Sans SC"/>
              </a:rPr>
              <a:t>đồng</a:t>
            </a:r>
            <a:r>
              <a:rPr lang="en-US" b="1" dirty="0">
                <a:solidFill>
                  <a:srgbClr val="226DF6"/>
                </a:solidFill>
                <a:effectLst/>
                <a:latin typeface="Noto Sans SC"/>
              </a:rPr>
              <a:t> </a:t>
            </a:r>
            <a:r>
              <a:rPr lang="en-US" b="1" dirty="0" err="1">
                <a:solidFill>
                  <a:srgbClr val="226DF6"/>
                </a:solidFill>
                <a:effectLst/>
                <a:latin typeface="Noto Sans SC"/>
              </a:rPr>
              <a:t>thời</a:t>
            </a:r>
            <a:endParaRPr lang="en-US" dirty="0">
              <a:effectLst/>
            </a:endParaRPr>
          </a:p>
        </p:txBody>
      </p:sp>
      <p:sp>
        <p:nvSpPr>
          <p:cNvPr id="10" name="TextBox 9">
            <a:extLst>
              <a:ext uri="{FF2B5EF4-FFF2-40B4-BE49-F238E27FC236}">
                <a16:creationId xmlns:a16="http://schemas.microsoft.com/office/drawing/2014/main" id="{4E833D29-DA8D-009A-FA35-9E3E07FC1C01}"/>
              </a:ext>
            </a:extLst>
          </p:cNvPr>
          <p:cNvSpPr txBox="1"/>
          <p:nvPr/>
        </p:nvSpPr>
        <p:spPr>
          <a:xfrm>
            <a:off x="1173324" y="2589669"/>
            <a:ext cx="10443287" cy="369332"/>
          </a:xfrm>
          <a:prstGeom prst="rect">
            <a:avLst/>
          </a:prstGeom>
          <a:noFill/>
        </p:spPr>
        <p:txBody>
          <a:bodyPr wrap="square">
            <a:spAutoFit/>
          </a:bodyPr>
          <a:lstStyle/>
          <a:p>
            <a:pPr algn="l">
              <a:buNone/>
            </a:pPr>
            <a:r>
              <a:rPr lang="vi-VN" dirty="0">
                <a:solidFill>
                  <a:srgbClr val="000000"/>
                </a:solidFill>
                <a:effectLst/>
                <a:latin typeface="Noto Sans SC"/>
              </a:rPr>
              <a:t>Mô phỏng các kịch bản mà nhiều tiến trình đến cùng một thời điểm để kiểm tra cách thuật toán xử lý ưu tiên.</a:t>
            </a:r>
            <a:endParaRPr lang="vi-VN" dirty="0">
              <a:effectLst/>
            </a:endParaRPr>
          </a:p>
        </p:txBody>
      </p:sp>
      <p:sp>
        <p:nvSpPr>
          <p:cNvPr id="12" name="TextBox 11">
            <a:extLst>
              <a:ext uri="{FF2B5EF4-FFF2-40B4-BE49-F238E27FC236}">
                <a16:creationId xmlns:a16="http://schemas.microsoft.com/office/drawing/2014/main" id="{D4774E43-F096-5576-5980-13B684FE1E84}"/>
              </a:ext>
            </a:extLst>
          </p:cNvPr>
          <p:cNvSpPr txBox="1"/>
          <p:nvPr/>
        </p:nvSpPr>
        <p:spPr>
          <a:xfrm>
            <a:off x="1173325" y="3298834"/>
            <a:ext cx="6097554" cy="369332"/>
          </a:xfrm>
          <a:prstGeom prst="rect">
            <a:avLst/>
          </a:prstGeom>
          <a:noFill/>
        </p:spPr>
        <p:txBody>
          <a:bodyPr wrap="square">
            <a:spAutoFit/>
          </a:bodyPr>
          <a:lstStyle/>
          <a:p>
            <a:pPr algn="l">
              <a:buNone/>
            </a:pPr>
            <a:r>
              <a:rPr lang="en-US" b="1" dirty="0" err="1">
                <a:solidFill>
                  <a:srgbClr val="226DF6"/>
                </a:solidFill>
                <a:effectLst/>
                <a:latin typeface="Noto Sans SC"/>
              </a:rPr>
              <a:t>Thời</a:t>
            </a:r>
            <a:r>
              <a:rPr lang="en-US" b="1" dirty="0">
                <a:solidFill>
                  <a:srgbClr val="226DF6"/>
                </a:solidFill>
                <a:effectLst/>
                <a:latin typeface="Noto Sans SC"/>
              </a:rPr>
              <a:t> </a:t>
            </a:r>
            <a:r>
              <a:rPr lang="en-US" b="1" dirty="0" err="1">
                <a:solidFill>
                  <a:srgbClr val="226DF6"/>
                </a:solidFill>
                <a:effectLst/>
                <a:latin typeface="Noto Sans SC"/>
              </a:rPr>
              <a:t>gian</a:t>
            </a:r>
            <a:r>
              <a:rPr lang="en-US" b="1" dirty="0">
                <a:solidFill>
                  <a:srgbClr val="226DF6"/>
                </a:solidFill>
                <a:effectLst/>
                <a:latin typeface="Noto Sans SC"/>
              </a:rPr>
              <a:t> </a:t>
            </a:r>
            <a:r>
              <a:rPr lang="en-US" b="1" dirty="0" err="1">
                <a:solidFill>
                  <a:srgbClr val="226DF6"/>
                </a:solidFill>
                <a:effectLst/>
                <a:latin typeface="Noto Sans SC"/>
              </a:rPr>
              <a:t>nhàn</a:t>
            </a:r>
            <a:r>
              <a:rPr lang="en-US" b="1" dirty="0">
                <a:solidFill>
                  <a:srgbClr val="226DF6"/>
                </a:solidFill>
                <a:effectLst/>
                <a:latin typeface="Noto Sans SC"/>
              </a:rPr>
              <a:t> </a:t>
            </a:r>
            <a:r>
              <a:rPr lang="en-US" b="1" dirty="0" err="1">
                <a:solidFill>
                  <a:srgbClr val="226DF6"/>
                </a:solidFill>
                <a:effectLst/>
                <a:latin typeface="Noto Sans SC"/>
              </a:rPr>
              <a:t>rỗi</a:t>
            </a:r>
            <a:r>
              <a:rPr lang="en-US" b="1" dirty="0">
                <a:solidFill>
                  <a:srgbClr val="226DF6"/>
                </a:solidFill>
                <a:effectLst/>
                <a:latin typeface="Noto Sans SC"/>
              </a:rPr>
              <a:t> </a:t>
            </a:r>
            <a:r>
              <a:rPr lang="en-US" b="1" dirty="0" err="1">
                <a:solidFill>
                  <a:srgbClr val="226DF6"/>
                </a:solidFill>
                <a:effectLst/>
                <a:latin typeface="Noto Sans SC"/>
              </a:rPr>
              <a:t>của</a:t>
            </a:r>
            <a:r>
              <a:rPr lang="en-US" b="1" dirty="0">
                <a:solidFill>
                  <a:srgbClr val="226DF6"/>
                </a:solidFill>
                <a:effectLst/>
                <a:latin typeface="Noto Sans SC"/>
              </a:rPr>
              <a:t> CPU</a:t>
            </a:r>
            <a:endParaRPr lang="en-US" dirty="0">
              <a:effectLst/>
            </a:endParaRPr>
          </a:p>
        </p:txBody>
      </p:sp>
      <p:sp>
        <p:nvSpPr>
          <p:cNvPr id="14" name="TextBox 13">
            <a:extLst>
              <a:ext uri="{FF2B5EF4-FFF2-40B4-BE49-F238E27FC236}">
                <a16:creationId xmlns:a16="http://schemas.microsoft.com/office/drawing/2014/main" id="{54CBBF2F-0050-9FCB-9D1E-EFB574171927}"/>
              </a:ext>
            </a:extLst>
          </p:cNvPr>
          <p:cNvSpPr txBox="1"/>
          <p:nvPr/>
        </p:nvSpPr>
        <p:spPr>
          <a:xfrm>
            <a:off x="1173325" y="3668166"/>
            <a:ext cx="10266006" cy="646331"/>
          </a:xfrm>
          <a:prstGeom prst="rect">
            <a:avLst/>
          </a:prstGeom>
          <a:noFill/>
        </p:spPr>
        <p:txBody>
          <a:bodyPr wrap="square">
            <a:spAutoFit/>
          </a:bodyPr>
          <a:lstStyle/>
          <a:p>
            <a:pPr algn="just">
              <a:buNone/>
            </a:pPr>
            <a:r>
              <a:rPr lang="vi-VN" dirty="0">
                <a:solidFill>
                  <a:srgbClr val="000000"/>
                </a:solidFill>
                <a:effectLst/>
                <a:latin typeface="Noto Sans SC"/>
              </a:rPr>
              <a:t>Dựng các trường hợp khi CPU không có tiến trình nào được xử lý để kiểm tra khả năng khởi tạo và xử lý thời gian chết.</a:t>
            </a:r>
            <a:endParaRPr lang="vi-VN" dirty="0">
              <a:effectLst/>
            </a:endParaRPr>
          </a:p>
        </p:txBody>
      </p:sp>
      <p:sp>
        <p:nvSpPr>
          <p:cNvPr id="16" name="TextBox 15">
            <a:extLst>
              <a:ext uri="{FF2B5EF4-FFF2-40B4-BE49-F238E27FC236}">
                <a16:creationId xmlns:a16="http://schemas.microsoft.com/office/drawing/2014/main" id="{FE58FABD-8F49-7139-0CDA-954589BA94EF}"/>
              </a:ext>
            </a:extLst>
          </p:cNvPr>
          <p:cNvSpPr txBox="1"/>
          <p:nvPr/>
        </p:nvSpPr>
        <p:spPr>
          <a:xfrm>
            <a:off x="1173324" y="4655709"/>
            <a:ext cx="6097554" cy="369332"/>
          </a:xfrm>
          <a:prstGeom prst="rect">
            <a:avLst/>
          </a:prstGeom>
          <a:noFill/>
        </p:spPr>
        <p:txBody>
          <a:bodyPr wrap="square">
            <a:spAutoFit/>
          </a:bodyPr>
          <a:lstStyle/>
          <a:p>
            <a:pPr algn="l">
              <a:buNone/>
            </a:pPr>
            <a:r>
              <a:rPr lang="en-US" b="1" dirty="0" err="1">
                <a:solidFill>
                  <a:srgbClr val="226DF6"/>
                </a:solidFill>
                <a:effectLst/>
                <a:latin typeface="Noto Sans SC"/>
              </a:rPr>
              <a:t>Kiểm</a:t>
            </a:r>
            <a:r>
              <a:rPr lang="en-US" b="1" dirty="0">
                <a:solidFill>
                  <a:srgbClr val="226DF6"/>
                </a:solidFill>
                <a:effectLst/>
                <a:latin typeface="Noto Sans SC"/>
              </a:rPr>
              <a:t> </a:t>
            </a:r>
            <a:r>
              <a:rPr lang="en-US" b="1" dirty="0" err="1">
                <a:solidFill>
                  <a:srgbClr val="226DF6"/>
                </a:solidFill>
                <a:effectLst/>
                <a:latin typeface="Noto Sans SC"/>
              </a:rPr>
              <a:t>tra</a:t>
            </a:r>
            <a:r>
              <a:rPr lang="en-US" b="1" dirty="0">
                <a:solidFill>
                  <a:srgbClr val="226DF6"/>
                </a:solidFill>
                <a:effectLst/>
                <a:latin typeface="Noto Sans SC"/>
              </a:rPr>
              <a:t> </a:t>
            </a:r>
            <a:r>
              <a:rPr lang="en-US" b="1" dirty="0" err="1">
                <a:solidFill>
                  <a:srgbClr val="226DF6"/>
                </a:solidFill>
                <a:effectLst/>
                <a:latin typeface="Noto Sans SC"/>
              </a:rPr>
              <a:t>tải</a:t>
            </a:r>
            <a:r>
              <a:rPr lang="en-US" b="1" dirty="0">
                <a:solidFill>
                  <a:srgbClr val="226DF6"/>
                </a:solidFill>
                <a:effectLst/>
                <a:latin typeface="Noto Sans SC"/>
              </a:rPr>
              <a:t> </a:t>
            </a:r>
            <a:r>
              <a:rPr lang="en-US" b="1" dirty="0" err="1">
                <a:solidFill>
                  <a:srgbClr val="226DF6"/>
                </a:solidFill>
                <a:effectLst/>
                <a:latin typeface="Noto Sans SC"/>
              </a:rPr>
              <a:t>cao</a:t>
            </a:r>
            <a:endParaRPr lang="en-US" dirty="0">
              <a:effectLst/>
            </a:endParaRPr>
          </a:p>
        </p:txBody>
      </p:sp>
      <p:sp>
        <p:nvSpPr>
          <p:cNvPr id="18" name="TextBox 17">
            <a:extLst>
              <a:ext uri="{FF2B5EF4-FFF2-40B4-BE49-F238E27FC236}">
                <a16:creationId xmlns:a16="http://schemas.microsoft.com/office/drawing/2014/main" id="{BE1FF0E3-4ED1-FC16-A3BD-D8F2C31E783B}"/>
              </a:ext>
            </a:extLst>
          </p:cNvPr>
          <p:cNvSpPr txBox="1"/>
          <p:nvPr/>
        </p:nvSpPr>
        <p:spPr>
          <a:xfrm>
            <a:off x="1173323" y="5023663"/>
            <a:ext cx="10180475" cy="369332"/>
          </a:xfrm>
          <a:prstGeom prst="rect">
            <a:avLst/>
          </a:prstGeom>
          <a:noFill/>
        </p:spPr>
        <p:txBody>
          <a:bodyPr wrap="square">
            <a:spAutoFit/>
          </a:bodyPr>
          <a:lstStyle/>
          <a:p>
            <a:pPr algn="l">
              <a:buNone/>
            </a:pPr>
            <a:r>
              <a:rPr lang="en-US" dirty="0" err="1">
                <a:solidFill>
                  <a:srgbClr val="000000"/>
                </a:solidFill>
                <a:effectLst/>
                <a:latin typeface="Noto Sans SC"/>
              </a:rPr>
              <a:t>Thiết</a:t>
            </a:r>
            <a:r>
              <a:rPr lang="en-US" dirty="0">
                <a:solidFill>
                  <a:srgbClr val="000000"/>
                </a:solidFill>
                <a:effectLst/>
                <a:latin typeface="Noto Sans SC"/>
              </a:rPr>
              <a:t> </a:t>
            </a:r>
            <a:r>
              <a:rPr lang="en-US" dirty="0" err="1">
                <a:solidFill>
                  <a:srgbClr val="000000"/>
                </a:solidFill>
                <a:effectLst/>
                <a:latin typeface="Noto Sans SC"/>
              </a:rPr>
              <a:t>kế</a:t>
            </a:r>
            <a:r>
              <a:rPr lang="en-US" dirty="0">
                <a:solidFill>
                  <a:srgbClr val="000000"/>
                </a:solidFill>
                <a:effectLst/>
                <a:latin typeface="Noto Sans SC"/>
              </a:rPr>
              <a:t> </a:t>
            </a:r>
            <a:r>
              <a:rPr lang="en-US" dirty="0" err="1">
                <a:solidFill>
                  <a:srgbClr val="000000"/>
                </a:solidFill>
                <a:effectLst/>
                <a:latin typeface="Noto Sans SC"/>
              </a:rPr>
              <a:t>các</a:t>
            </a:r>
            <a:r>
              <a:rPr lang="en-US" dirty="0">
                <a:solidFill>
                  <a:srgbClr val="000000"/>
                </a:solidFill>
                <a:effectLst/>
                <a:latin typeface="Noto Sans SC"/>
              </a:rPr>
              <a:t> </a:t>
            </a:r>
            <a:r>
              <a:rPr lang="en-US" dirty="0" err="1">
                <a:solidFill>
                  <a:srgbClr val="000000"/>
                </a:solidFill>
                <a:effectLst/>
                <a:latin typeface="Noto Sans SC"/>
              </a:rPr>
              <a:t>bộ</a:t>
            </a:r>
            <a:r>
              <a:rPr lang="en-US" dirty="0">
                <a:solidFill>
                  <a:srgbClr val="000000"/>
                </a:solidFill>
                <a:effectLst/>
                <a:latin typeface="Noto Sans SC"/>
              </a:rPr>
              <a:t> </a:t>
            </a:r>
            <a:r>
              <a:rPr lang="en-US" dirty="0" err="1">
                <a:solidFill>
                  <a:srgbClr val="000000"/>
                </a:solidFill>
                <a:effectLst/>
                <a:latin typeface="Noto Sans SC"/>
              </a:rPr>
              <a:t>dữ</a:t>
            </a:r>
            <a:r>
              <a:rPr lang="en-US" dirty="0">
                <a:solidFill>
                  <a:srgbClr val="000000"/>
                </a:solidFill>
                <a:effectLst/>
                <a:latin typeface="Noto Sans SC"/>
              </a:rPr>
              <a:t> </a:t>
            </a:r>
            <a:r>
              <a:rPr lang="en-US" dirty="0" err="1">
                <a:solidFill>
                  <a:srgbClr val="000000"/>
                </a:solidFill>
                <a:effectLst/>
                <a:latin typeface="Noto Sans SC"/>
              </a:rPr>
              <a:t>liệu</a:t>
            </a:r>
            <a:r>
              <a:rPr lang="en-US" dirty="0">
                <a:solidFill>
                  <a:srgbClr val="000000"/>
                </a:solidFill>
                <a:effectLst/>
                <a:latin typeface="Noto Sans SC"/>
              </a:rPr>
              <a:t> </a:t>
            </a:r>
            <a:r>
              <a:rPr lang="en-US" dirty="0" err="1">
                <a:solidFill>
                  <a:srgbClr val="000000"/>
                </a:solidFill>
                <a:effectLst/>
                <a:latin typeface="Noto Sans SC"/>
              </a:rPr>
              <a:t>lớn</a:t>
            </a:r>
            <a:r>
              <a:rPr lang="en-US" dirty="0">
                <a:solidFill>
                  <a:srgbClr val="000000"/>
                </a:solidFill>
                <a:effectLst/>
                <a:latin typeface="Noto Sans SC"/>
              </a:rPr>
              <a:t> </a:t>
            </a:r>
            <a:r>
              <a:rPr lang="en-US" dirty="0" err="1">
                <a:solidFill>
                  <a:srgbClr val="000000"/>
                </a:solidFill>
                <a:effectLst/>
                <a:latin typeface="Noto Sans SC"/>
              </a:rPr>
              <a:t>với</a:t>
            </a:r>
            <a:r>
              <a:rPr lang="en-US" dirty="0">
                <a:solidFill>
                  <a:srgbClr val="000000"/>
                </a:solidFill>
                <a:effectLst/>
                <a:latin typeface="Noto Sans SC"/>
              </a:rPr>
              <a:t> </a:t>
            </a:r>
            <a:r>
              <a:rPr lang="en-US" dirty="0" err="1">
                <a:solidFill>
                  <a:srgbClr val="000000"/>
                </a:solidFill>
                <a:effectLst/>
                <a:latin typeface="Noto Sans SC"/>
              </a:rPr>
              <a:t>nhiều</a:t>
            </a:r>
            <a:r>
              <a:rPr lang="en-US" dirty="0">
                <a:solidFill>
                  <a:srgbClr val="000000"/>
                </a:solidFill>
                <a:effectLst/>
                <a:latin typeface="Noto Sans SC"/>
              </a:rPr>
              <a:t> </a:t>
            </a:r>
            <a:r>
              <a:rPr lang="en-US" dirty="0" err="1">
                <a:solidFill>
                  <a:srgbClr val="000000"/>
                </a:solidFill>
                <a:effectLst/>
                <a:latin typeface="Noto Sans SC"/>
              </a:rPr>
              <a:t>tiến</a:t>
            </a:r>
            <a:r>
              <a:rPr lang="en-US" dirty="0">
                <a:solidFill>
                  <a:srgbClr val="000000"/>
                </a:solidFill>
                <a:effectLst/>
                <a:latin typeface="Noto Sans SC"/>
              </a:rPr>
              <a:t> </a:t>
            </a:r>
            <a:r>
              <a:rPr lang="en-US" dirty="0" err="1">
                <a:solidFill>
                  <a:srgbClr val="000000"/>
                </a:solidFill>
                <a:effectLst/>
                <a:latin typeface="Noto Sans SC"/>
              </a:rPr>
              <a:t>trình</a:t>
            </a:r>
            <a:r>
              <a:rPr lang="en-US" dirty="0">
                <a:solidFill>
                  <a:srgbClr val="000000"/>
                </a:solidFill>
                <a:effectLst/>
                <a:latin typeface="Noto Sans SC"/>
              </a:rPr>
              <a:t> </a:t>
            </a:r>
            <a:r>
              <a:rPr lang="en-US" dirty="0" err="1">
                <a:solidFill>
                  <a:srgbClr val="000000"/>
                </a:solidFill>
                <a:effectLst/>
                <a:latin typeface="Noto Sans SC"/>
              </a:rPr>
              <a:t>để</a:t>
            </a:r>
            <a:r>
              <a:rPr lang="en-US" dirty="0">
                <a:solidFill>
                  <a:srgbClr val="000000"/>
                </a:solidFill>
                <a:effectLst/>
                <a:latin typeface="Noto Sans SC"/>
              </a:rPr>
              <a:t> </a:t>
            </a:r>
            <a:r>
              <a:rPr lang="en-US" dirty="0" err="1">
                <a:solidFill>
                  <a:srgbClr val="000000"/>
                </a:solidFill>
                <a:effectLst/>
                <a:latin typeface="Noto Sans SC"/>
              </a:rPr>
              <a:t>đánh</a:t>
            </a:r>
            <a:r>
              <a:rPr lang="en-US" dirty="0">
                <a:solidFill>
                  <a:srgbClr val="000000"/>
                </a:solidFill>
                <a:effectLst/>
                <a:latin typeface="Noto Sans SC"/>
              </a:rPr>
              <a:t> </a:t>
            </a:r>
            <a:r>
              <a:rPr lang="en-US" dirty="0" err="1">
                <a:solidFill>
                  <a:srgbClr val="000000"/>
                </a:solidFill>
                <a:effectLst/>
                <a:latin typeface="Noto Sans SC"/>
              </a:rPr>
              <a:t>giá</a:t>
            </a:r>
            <a:r>
              <a:rPr lang="en-US" dirty="0">
                <a:solidFill>
                  <a:srgbClr val="000000"/>
                </a:solidFill>
                <a:effectLst/>
                <a:latin typeface="Noto Sans SC"/>
              </a:rPr>
              <a:t> </a:t>
            </a:r>
            <a:r>
              <a:rPr lang="en-US" dirty="0" err="1">
                <a:solidFill>
                  <a:srgbClr val="000000"/>
                </a:solidFill>
                <a:effectLst/>
                <a:latin typeface="Noto Sans SC"/>
              </a:rPr>
              <a:t>hiệu</a:t>
            </a:r>
            <a:r>
              <a:rPr lang="en-US" dirty="0">
                <a:solidFill>
                  <a:srgbClr val="000000"/>
                </a:solidFill>
                <a:effectLst/>
                <a:latin typeface="Noto Sans SC"/>
              </a:rPr>
              <a:t> </a:t>
            </a:r>
            <a:r>
              <a:rPr lang="en-US" dirty="0" err="1">
                <a:solidFill>
                  <a:srgbClr val="000000"/>
                </a:solidFill>
                <a:effectLst/>
                <a:latin typeface="Noto Sans SC"/>
              </a:rPr>
              <a:t>năng</a:t>
            </a:r>
            <a:r>
              <a:rPr lang="en-US" dirty="0">
                <a:solidFill>
                  <a:srgbClr val="000000"/>
                </a:solidFill>
                <a:effectLst/>
                <a:latin typeface="Noto Sans SC"/>
              </a:rPr>
              <a:t> </a:t>
            </a:r>
            <a:r>
              <a:rPr lang="en-US" dirty="0" err="1">
                <a:solidFill>
                  <a:srgbClr val="000000"/>
                </a:solidFill>
                <a:effectLst/>
                <a:latin typeface="Noto Sans SC"/>
              </a:rPr>
              <a:t>thuật</a:t>
            </a:r>
            <a:r>
              <a:rPr lang="en-US" dirty="0">
                <a:solidFill>
                  <a:srgbClr val="000000"/>
                </a:solidFill>
                <a:effectLst/>
                <a:latin typeface="Noto Sans SC"/>
              </a:rPr>
              <a:t> </a:t>
            </a:r>
            <a:r>
              <a:rPr lang="en-US" dirty="0" err="1">
                <a:solidFill>
                  <a:srgbClr val="000000"/>
                </a:solidFill>
                <a:effectLst/>
                <a:latin typeface="Noto Sans SC"/>
              </a:rPr>
              <a:t>toán</a:t>
            </a:r>
            <a:r>
              <a:rPr lang="en-US" dirty="0">
                <a:solidFill>
                  <a:srgbClr val="000000"/>
                </a:solidFill>
                <a:effectLst/>
                <a:latin typeface="Noto Sans SC"/>
              </a:rPr>
              <a:t> </a:t>
            </a:r>
            <a:r>
              <a:rPr lang="en-US" dirty="0" err="1">
                <a:solidFill>
                  <a:srgbClr val="000000"/>
                </a:solidFill>
                <a:effectLst/>
                <a:latin typeface="Noto Sans SC"/>
              </a:rPr>
              <a:t>khi</a:t>
            </a:r>
            <a:r>
              <a:rPr lang="en-US" dirty="0">
                <a:solidFill>
                  <a:srgbClr val="000000"/>
                </a:solidFill>
                <a:effectLst/>
                <a:latin typeface="Noto Sans SC"/>
              </a:rPr>
              <a:t> </a:t>
            </a:r>
            <a:r>
              <a:rPr lang="en-US" dirty="0" err="1">
                <a:solidFill>
                  <a:srgbClr val="000000"/>
                </a:solidFill>
                <a:effectLst/>
                <a:latin typeface="Noto Sans SC"/>
              </a:rPr>
              <a:t>phải</a:t>
            </a:r>
            <a:r>
              <a:rPr lang="en-US" dirty="0">
                <a:solidFill>
                  <a:srgbClr val="000000"/>
                </a:solidFill>
                <a:effectLst/>
                <a:latin typeface="Noto Sans SC"/>
              </a:rPr>
              <a:t> </a:t>
            </a:r>
            <a:r>
              <a:rPr lang="en-US" dirty="0" err="1">
                <a:solidFill>
                  <a:srgbClr val="000000"/>
                </a:solidFill>
                <a:effectLst/>
                <a:latin typeface="Noto Sans SC"/>
              </a:rPr>
              <a:t>xử</a:t>
            </a:r>
            <a:r>
              <a:rPr lang="en-US" dirty="0">
                <a:solidFill>
                  <a:srgbClr val="000000"/>
                </a:solidFill>
                <a:effectLst/>
                <a:latin typeface="Noto Sans SC"/>
              </a:rPr>
              <a:t> </a:t>
            </a:r>
            <a:r>
              <a:rPr lang="en-US" dirty="0" err="1">
                <a:solidFill>
                  <a:srgbClr val="000000"/>
                </a:solidFill>
                <a:effectLst/>
                <a:latin typeface="Noto Sans SC"/>
              </a:rPr>
              <a:t>lý</a:t>
            </a:r>
            <a:r>
              <a:rPr lang="en-US" dirty="0">
                <a:solidFill>
                  <a:srgbClr val="000000"/>
                </a:solidFill>
                <a:effectLst/>
                <a:latin typeface="Noto Sans SC"/>
              </a:rPr>
              <a:t> </a:t>
            </a:r>
            <a:r>
              <a:rPr lang="en-US" dirty="0" err="1">
                <a:solidFill>
                  <a:srgbClr val="000000"/>
                </a:solidFill>
                <a:effectLst/>
                <a:latin typeface="Noto Sans SC"/>
              </a:rPr>
              <a:t>dữ</a:t>
            </a:r>
            <a:r>
              <a:rPr lang="en-US" dirty="0">
                <a:solidFill>
                  <a:srgbClr val="000000"/>
                </a:solidFill>
                <a:effectLst/>
                <a:latin typeface="Noto Sans SC"/>
              </a:rPr>
              <a:t> </a:t>
            </a:r>
            <a:r>
              <a:rPr lang="en-US" dirty="0" err="1">
                <a:solidFill>
                  <a:srgbClr val="000000"/>
                </a:solidFill>
                <a:effectLst/>
                <a:latin typeface="Noto Sans SC"/>
              </a:rPr>
              <a:t>liệu</a:t>
            </a:r>
            <a:r>
              <a:rPr lang="en-US" dirty="0">
                <a:solidFill>
                  <a:srgbClr val="000000"/>
                </a:solidFill>
                <a:effectLst/>
                <a:latin typeface="Noto Sans SC"/>
              </a:rPr>
              <a:t> </a:t>
            </a:r>
            <a:r>
              <a:rPr lang="en-US" dirty="0" err="1">
                <a:solidFill>
                  <a:srgbClr val="000000"/>
                </a:solidFill>
                <a:effectLst/>
                <a:latin typeface="Noto Sans SC"/>
              </a:rPr>
              <a:t>lớn</a:t>
            </a:r>
            <a:r>
              <a:rPr lang="en-US" dirty="0">
                <a:solidFill>
                  <a:srgbClr val="000000"/>
                </a:solidFill>
                <a:effectLst/>
                <a:latin typeface="Noto Sans SC"/>
              </a:rPr>
              <a:t>.</a:t>
            </a:r>
            <a:endParaRPr lang="en-US" dirty="0">
              <a:effectLst/>
            </a:endParaRPr>
          </a:p>
        </p:txBody>
      </p:sp>
    </p:spTree>
    <p:extLst>
      <p:ext uri="{BB962C8B-B14F-4D97-AF65-F5344CB8AC3E}">
        <p14:creationId xmlns:p14="http://schemas.microsoft.com/office/powerpoint/2010/main" val="2590268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404B60D4-C59E-68DD-6DE9-9F85C27398F7}"/>
              </a:ext>
            </a:extLst>
          </p:cNvPr>
          <p:cNvSpPr/>
          <p:nvPr/>
        </p:nvSpPr>
        <p:spPr>
          <a:xfrm>
            <a:off x="1129001" y="5312473"/>
            <a:ext cx="10105053" cy="97038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vi-VN" dirty="0">
              <a:solidFill>
                <a:schemeClr val="tx1"/>
              </a:solidFill>
              <a:effectLst/>
            </a:endParaRPr>
          </a:p>
        </p:txBody>
      </p:sp>
      <p:sp>
        <p:nvSpPr>
          <p:cNvPr id="20" name="Rectangle: Rounded Corners 19">
            <a:extLst>
              <a:ext uri="{FF2B5EF4-FFF2-40B4-BE49-F238E27FC236}">
                <a16:creationId xmlns:a16="http://schemas.microsoft.com/office/drawing/2014/main" id="{49576773-6F86-4ED2-CB4D-AF25A9A5D28C}"/>
              </a:ext>
            </a:extLst>
          </p:cNvPr>
          <p:cNvSpPr/>
          <p:nvPr/>
        </p:nvSpPr>
        <p:spPr>
          <a:xfrm>
            <a:off x="1121224" y="3851668"/>
            <a:ext cx="10105053" cy="97038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5" name="Rectangle: Rounded Corners 14">
            <a:extLst>
              <a:ext uri="{FF2B5EF4-FFF2-40B4-BE49-F238E27FC236}">
                <a16:creationId xmlns:a16="http://schemas.microsoft.com/office/drawing/2014/main" id="{453F1C06-828D-6BD9-7974-E7F1B18556E2}"/>
              </a:ext>
            </a:extLst>
          </p:cNvPr>
          <p:cNvSpPr/>
          <p:nvPr/>
        </p:nvSpPr>
        <p:spPr>
          <a:xfrm>
            <a:off x="1127446" y="2438472"/>
            <a:ext cx="10105053" cy="90002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A79CD4-1678-8AF1-DCC6-A73F3E25A317}"/>
              </a:ext>
            </a:extLst>
          </p:cNvPr>
          <p:cNvSpPr>
            <a:spLocks noGrp="1"/>
          </p:cNvSpPr>
          <p:nvPr>
            <p:ph type="title"/>
          </p:nvPr>
        </p:nvSpPr>
        <p:spPr/>
        <p:txBody>
          <a:bodyPr>
            <a:normAutofit/>
          </a:bodyPr>
          <a:lstStyle/>
          <a:p>
            <a:r>
              <a:rPr lang="en-US" b="1" dirty="0" err="1"/>
              <a:t>Thách</a:t>
            </a:r>
            <a:r>
              <a:rPr lang="en-US" b="1" dirty="0"/>
              <a:t> </a:t>
            </a:r>
            <a:r>
              <a:rPr lang="en-US" b="1" dirty="0" err="1"/>
              <a:t>thức</a:t>
            </a:r>
            <a:r>
              <a:rPr lang="en-US" b="1" dirty="0"/>
              <a:t> </a:t>
            </a:r>
            <a:r>
              <a:rPr lang="en-US" b="1" dirty="0" err="1"/>
              <a:t>và</a:t>
            </a:r>
            <a:r>
              <a:rPr lang="en-US" b="1" dirty="0"/>
              <a:t> </a:t>
            </a:r>
            <a:r>
              <a:rPr lang="en-US" b="1" dirty="0" err="1"/>
              <a:t>giải</a:t>
            </a:r>
            <a:r>
              <a:rPr lang="en-US" b="1" dirty="0"/>
              <a:t> </a:t>
            </a:r>
            <a:r>
              <a:rPr lang="en-US" b="1" dirty="0" err="1"/>
              <a:t>pháp</a:t>
            </a:r>
            <a:endParaRPr lang="en-US" dirty="0"/>
          </a:p>
        </p:txBody>
      </p:sp>
      <p:sp>
        <p:nvSpPr>
          <p:cNvPr id="6" name="Slide Number Placeholder 5">
            <a:extLst>
              <a:ext uri="{FF2B5EF4-FFF2-40B4-BE49-F238E27FC236}">
                <a16:creationId xmlns:a16="http://schemas.microsoft.com/office/drawing/2014/main" id="{7F06F254-EFD5-6E7A-BF09-72A3DF649B90}"/>
              </a:ext>
            </a:extLst>
          </p:cNvPr>
          <p:cNvSpPr>
            <a:spLocks noGrp="1"/>
          </p:cNvSpPr>
          <p:nvPr>
            <p:ph type="sldNum" sz="quarter" idx="12"/>
          </p:nvPr>
        </p:nvSpPr>
        <p:spPr/>
        <p:txBody>
          <a:bodyPr/>
          <a:lstStyle/>
          <a:p>
            <a:fld id="{6C56B8FA-5C00-4693-8C7F-3776FF570F07}" type="slidenum">
              <a:rPr lang="en-US" smtClean="0"/>
              <a:t>15</a:t>
            </a:fld>
            <a:endParaRPr lang="en-US"/>
          </a:p>
        </p:txBody>
      </p:sp>
      <p:sp>
        <p:nvSpPr>
          <p:cNvPr id="8" name="Flowchart: Off-page Connector 7">
            <a:extLst>
              <a:ext uri="{FF2B5EF4-FFF2-40B4-BE49-F238E27FC236}">
                <a16:creationId xmlns:a16="http://schemas.microsoft.com/office/drawing/2014/main" id="{5E88AC4E-FE1F-F5BD-15F1-8600EC3682F6}"/>
              </a:ext>
            </a:extLst>
          </p:cNvPr>
          <p:cNvSpPr/>
          <p:nvPr/>
        </p:nvSpPr>
        <p:spPr>
          <a:xfrm rot="16200000">
            <a:off x="1434208" y="1674510"/>
            <a:ext cx="767409" cy="1380931"/>
          </a:xfrm>
          <a:prstGeom prst="flowChartOffpage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endParaRPr>
          </a:p>
        </p:txBody>
      </p:sp>
      <p:sp>
        <p:nvSpPr>
          <p:cNvPr id="9" name="TextBox 8">
            <a:extLst>
              <a:ext uri="{FF2B5EF4-FFF2-40B4-BE49-F238E27FC236}">
                <a16:creationId xmlns:a16="http://schemas.microsoft.com/office/drawing/2014/main" id="{1B56219F-02EB-956B-7E39-4DCF3F7234EA}"/>
              </a:ext>
            </a:extLst>
          </p:cNvPr>
          <p:cNvSpPr txBox="1"/>
          <p:nvPr/>
        </p:nvSpPr>
        <p:spPr>
          <a:xfrm>
            <a:off x="1435356" y="2072587"/>
            <a:ext cx="933061" cy="584775"/>
          </a:xfrm>
          <a:prstGeom prst="rect">
            <a:avLst/>
          </a:prstGeom>
          <a:noFill/>
        </p:spPr>
        <p:txBody>
          <a:bodyPr wrap="square" rtlCol="0">
            <a:spAutoFit/>
          </a:bodyPr>
          <a:lstStyle/>
          <a:p>
            <a:r>
              <a:rPr lang="en-US" sz="3200" b="1" dirty="0"/>
              <a:t>01</a:t>
            </a:r>
            <a:endParaRPr lang="en-US" sz="2400" b="1" dirty="0"/>
          </a:p>
        </p:txBody>
      </p:sp>
      <p:sp>
        <p:nvSpPr>
          <p:cNvPr id="11" name="Flowchart: Off-page Connector 10">
            <a:extLst>
              <a:ext uri="{FF2B5EF4-FFF2-40B4-BE49-F238E27FC236}">
                <a16:creationId xmlns:a16="http://schemas.microsoft.com/office/drawing/2014/main" id="{81005EFD-7823-A221-01FD-0B5E6F4E6D2A}"/>
              </a:ext>
            </a:extLst>
          </p:cNvPr>
          <p:cNvSpPr/>
          <p:nvPr/>
        </p:nvSpPr>
        <p:spPr>
          <a:xfrm rot="16200000">
            <a:off x="1434207" y="4562882"/>
            <a:ext cx="767409" cy="1380931"/>
          </a:xfrm>
          <a:prstGeom prst="flowChartOffpage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endParaRPr>
          </a:p>
        </p:txBody>
      </p:sp>
      <p:sp>
        <p:nvSpPr>
          <p:cNvPr id="12" name="TextBox 11">
            <a:extLst>
              <a:ext uri="{FF2B5EF4-FFF2-40B4-BE49-F238E27FC236}">
                <a16:creationId xmlns:a16="http://schemas.microsoft.com/office/drawing/2014/main" id="{D45E9233-89DA-649F-4BA5-56566A27C006}"/>
              </a:ext>
            </a:extLst>
          </p:cNvPr>
          <p:cNvSpPr txBox="1"/>
          <p:nvPr/>
        </p:nvSpPr>
        <p:spPr>
          <a:xfrm>
            <a:off x="1436911" y="4949383"/>
            <a:ext cx="681138" cy="580435"/>
          </a:xfrm>
          <a:prstGeom prst="rect">
            <a:avLst/>
          </a:prstGeom>
          <a:solidFill>
            <a:srgbClr val="00B0F0"/>
          </a:solidFill>
        </p:spPr>
        <p:txBody>
          <a:bodyPr wrap="square" rtlCol="0">
            <a:spAutoFit/>
          </a:bodyPr>
          <a:lstStyle/>
          <a:p>
            <a:r>
              <a:rPr lang="en-US" sz="3200" b="1" dirty="0"/>
              <a:t>03</a:t>
            </a:r>
            <a:endParaRPr lang="en-US" sz="2400" b="1" dirty="0"/>
          </a:p>
        </p:txBody>
      </p:sp>
      <p:sp>
        <p:nvSpPr>
          <p:cNvPr id="14" name="TextBox 13">
            <a:extLst>
              <a:ext uri="{FF2B5EF4-FFF2-40B4-BE49-F238E27FC236}">
                <a16:creationId xmlns:a16="http://schemas.microsoft.com/office/drawing/2014/main" id="{5030A65F-50A3-CF75-B550-D1A7C5540C43}"/>
              </a:ext>
            </a:extLst>
          </p:cNvPr>
          <p:cNvSpPr txBox="1"/>
          <p:nvPr/>
        </p:nvSpPr>
        <p:spPr>
          <a:xfrm>
            <a:off x="2508378" y="1995642"/>
            <a:ext cx="2493606" cy="369332"/>
          </a:xfrm>
          <a:prstGeom prst="rect">
            <a:avLst/>
          </a:prstGeom>
          <a:noFill/>
        </p:spPr>
        <p:txBody>
          <a:bodyPr wrap="square">
            <a:spAutoFit/>
          </a:bodyPr>
          <a:lstStyle/>
          <a:p>
            <a:pPr algn="l">
              <a:buNone/>
            </a:pPr>
            <a:r>
              <a:rPr lang="en-US" b="1" dirty="0" err="1">
                <a:solidFill>
                  <a:srgbClr val="000000"/>
                </a:solidFill>
                <a:effectLst/>
                <a:latin typeface="Noto Sans SC"/>
              </a:rPr>
              <a:t>Đồng</a:t>
            </a:r>
            <a:r>
              <a:rPr lang="en-US" b="1" dirty="0">
                <a:solidFill>
                  <a:srgbClr val="000000"/>
                </a:solidFill>
                <a:effectLst/>
                <a:latin typeface="Noto Sans SC"/>
              </a:rPr>
              <a:t> </a:t>
            </a:r>
            <a:r>
              <a:rPr lang="en-US" b="1" dirty="0" err="1">
                <a:solidFill>
                  <a:srgbClr val="000000"/>
                </a:solidFill>
                <a:effectLst/>
                <a:latin typeface="Noto Sans SC"/>
              </a:rPr>
              <a:t>bộ</a:t>
            </a:r>
            <a:r>
              <a:rPr lang="en-US" b="1" dirty="0">
                <a:solidFill>
                  <a:srgbClr val="000000"/>
                </a:solidFill>
                <a:effectLst/>
                <a:latin typeface="Noto Sans SC"/>
              </a:rPr>
              <a:t> </a:t>
            </a:r>
            <a:r>
              <a:rPr lang="en-US" b="1" dirty="0" err="1">
                <a:solidFill>
                  <a:srgbClr val="000000"/>
                </a:solidFill>
                <a:effectLst/>
                <a:latin typeface="Noto Sans SC"/>
              </a:rPr>
              <a:t>hóa</a:t>
            </a:r>
            <a:r>
              <a:rPr lang="en-US" b="1" dirty="0">
                <a:solidFill>
                  <a:srgbClr val="000000"/>
                </a:solidFill>
                <a:effectLst/>
                <a:latin typeface="Noto Sans SC"/>
              </a:rPr>
              <a:t> </a:t>
            </a:r>
            <a:r>
              <a:rPr lang="en-US" b="1" dirty="0" err="1">
                <a:solidFill>
                  <a:srgbClr val="000000"/>
                </a:solidFill>
                <a:effectLst/>
                <a:latin typeface="Noto Sans SC"/>
              </a:rPr>
              <a:t>mã</a:t>
            </a:r>
            <a:r>
              <a:rPr lang="en-US" b="1" dirty="0">
                <a:solidFill>
                  <a:srgbClr val="000000"/>
                </a:solidFill>
                <a:effectLst/>
                <a:latin typeface="Noto Sans SC"/>
              </a:rPr>
              <a:t> </a:t>
            </a:r>
            <a:r>
              <a:rPr lang="en-US" b="1" dirty="0" err="1">
                <a:solidFill>
                  <a:srgbClr val="000000"/>
                </a:solidFill>
                <a:effectLst/>
                <a:latin typeface="Noto Sans SC"/>
              </a:rPr>
              <a:t>nguồn</a:t>
            </a:r>
            <a:endParaRPr lang="en-US" dirty="0">
              <a:effectLst/>
            </a:endParaRPr>
          </a:p>
        </p:txBody>
      </p:sp>
      <p:sp>
        <p:nvSpPr>
          <p:cNvPr id="17" name="TextBox 16">
            <a:extLst>
              <a:ext uri="{FF2B5EF4-FFF2-40B4-BE49-F238E27FC236}">
                <a16:creationId xmlns:a16="http://schemas.microsoft.com/office/drawing/2014/main" id="{102F18F9-04FA-AFEC-820A-A2B0E491BFA9}"/>
              </a:ext>
            </a:extLst>
          </p:cNvPr>
          <p:cNvSpPr txBox="1"/>
          <p:nvPr/>
        </p:nvSpPr>
        <p:spPr>
          <a:xfrm>
            <a:off x="2509936" y="2575257"/>
            <a:ext cx="8553061" cy="646331"/>
          </a:xfrm>
          <a:prstGeom prst="rect">
            <a:avLst/>
          </a:prstGeom>
          <a:noFill/>
        </p:spPr>
        <p:txBody>
          <a:bodyPr wrap="square">
            <a:spAutoFit/>
          </a:bodyPr>
          <a:lstStyle/>
          <a:p>
            <a:pPr algn="l">
              <a:buNone/>
            </a:pPr>
            <a:r>
              <a:rPr lang="vi-VN" dirty="0">
                <a:solidFill>
                  <a:srgbClr val="000000"/>
                </a:solidFill>
                <a:effectLst/>
                <a:latin typeface="Noto Sans SC"/>
              </a:rPr>
              <a:t>Ban đầu dữ liệu đầu vào không nhất quán gây lỗi, nhưng bằng cách sử dụng lớp `Process`, nhóm đã quản lý dữ liệu tốt hơn và đảm bảo đồng nhất.</a:t>
            </a:r>
            <a:endParaRPr lang="vi-VN" dirty="0">
              <a:effectLst/>
            </a:endParaRPr>
          </a:p>
        </p:txBody>
      </p:sp>
      <p:sp>
        <p:nvSpPr>
          <p:cNvPr id="18" name="Flowchart: Off-page Connector 17">
            <a:extLst>
              <a:ext uri="{FF2B5EF4-FFF2-40B4-BE49-F238E27FC236}">
                <a16:creationId xmlns:a16="http://schemas.microsoft.com/office/drawing/2014/main" id="{3551F6C1-6CC6-CCB6-2657-63E5ADFAD49E}"/>
              </a:ext>
            </a:extLst>
          </p:cNvPr>
          <p:cNvSpPr/>
          <p:nvPr/>
        </p:nvSpPr>
        <p:spPr>
          <a:xfrm rot="5400000">
            <a:off x="10158328" y="3105237"/>
            <a:ext cx="767409" cy="1380926"/>
          </a:xfrm>
          <a:prstGeom prst="flowChartOffpage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endParaRPr>
          </a:p>
        </p:txBody>
      </p:sp>
      <p:sp>
        <p:nvSpPr>
          <p:cNvPr id="19" name="TextBox 18">
            <a:extLst>
              <a:ext uri="{FF2B5EF4-FFF2-40B4-BE49-F238E27FC236}">
                <a16:creationId xmlns:a16="http://schemas.microsoft.com/office/drawing/2014/main" id="{31095DD1-2ACD-37DF-D32D-D1BBDB21E95A}"/>
              </a:ext>
            </a:extLst>
          </p:cNvPr>
          <p:cNvSpPr txBox="1"/>
          <p:nvPr/>
        </p:nvSpPr>
        <p:spPr>
          <a:xfrm>
            <a:off x="10299438" y="3503311"/>
            <a:ext cx="933061" cy="584775"/>
          </a:xfrm>
          <a:prstGeom prst="rect">
            <a:avLst/>
          </a:prstGeom>
          <a:solidFill>
            <a:srgbClr val="00B0F0"/>
          </a:solidFill>
        </p:spPr>
        <p:txBody>
          <a:bodyPr wrap="square" rtlCol="0">
            <a:spAutoFit/>
          </a:bodyPr>
          <a:lstStyle/>
          <a:p>
            <a:r>
              <a:rPr lang="en-US" sz="3200" b="1" dirty="0"/>
              <a:t>02</a:t>
            </a:r>
            <a:endParaRPr lang="en-US" sz="2400" b="1" dirty="0"/>
          </a:p>
        </p:txBody>
      </p:sp>
      <p:sp>
        <p:nvSpPr>
          <p:cNvPr id="22" name="TextBox 21">
            <a:extLst>
              <a:ext uri="{FF2B5EF4-FFF2-40B4-BE49-F238E27FC236}">
                <a16:creationId xmlns:a16="http://schemas.microsoft.com/office/drawing/2014/main" id="{459F78E5-6E96-35F4-AE5B-F354E4FDC30A}"/>
              </a:ext>
            </a:extLst>
          </p:cNvPr>
          <p:cNvSpPr txBox="1"/>
          <p:nvPr/>
        </p:nvSpPr>
        <p:spPr>
          <a:xfrm>
            <a:off x="7497920" y="3456430"/>
            <a:ext cx="2353646" cy="369332"/>
          </a:xfrm>
          <a:prstGeom prst="rect">
            <a:avLst/>
          </a:prstGeom>
          <a:noFill/>
        </p:spPr>
        <p:txBody>
          <a:bodyPr wrap="square">
            <a:spAutoFit/>
          </a:bodyPr>
          <a:lstStyle/>
          <a:p>
            <a:pPr algn="l">
              <a:buNone/>
            </a:pPr>
            <a:r>
              <a:rPr lang="en-US" b="1" dirty="0" err="1">
                <a:solidFill>
                  <a:srgbClr val="000000"/>
                </a:solidFill>
                <a:effectLst/>
                <a:latin typeface="Noto Sans SC"/>
              </a:rPr>
              <a:t>Trực</a:t>
            </a:r>
            <a:r>
              <a:rPr lang="en-US" b="1" dirty="0">
                <a:solidFill>
                  <a:srgbClr val="000000"/>
                </a:solidFill>
                <a:effectLst/>
                <a:latin typeface="Noto Sans SC"/>
              </a:rPr>
              <a:t> </a:t>
            </a:r>
            <a:r>
              <a:rPr lang="en-US" b="1" dirty="0" err="1">
                <a:solidFill>
                  <a:srgbClr val="000000"/>
                </a:solidFill>
                <a:effectLst/>
                <a:latin typeface="Noto Sans SC"/>
              </a:rPr>
              <a:t>quan</a:t>
            </a:r>
            <a:r>
              <a:rPr lang="en-US" b="1" dirty="0">
                <a:solidFill>
                  <a:srgbClr val="000000"/>
                </a:solidFill>
                <a:effectLst/>
                <a:latin typeface="Noto Sans SC"/>
              </a:rPr>
              <a:t> </a:t>
            </a:r>
            <a:r>
              <a:rPr lang="en-US" b="1" dirty="0" err="1">
                <a:solidFill>
                  <a:srgbClr val="000000"/>
                </a:solidFill>
                <a:effectLst/>
                <a:latin typeface="Noto Sans SC"/>
              </a:rPr>
              <a:t>hóa</a:t>
            </a:r>
            <a:r>
              <a:rPr lang="en-US" b="1" dirty="0">
                <a:solidFill>
                  <a:srgbClr val="000000"/>
                </a:solidFill>
                <a:effectLst/>
                <a:latin typeface="Noto Sans SC"/>
              </a:rPr>
              <a:t> </a:t>
            </a:r>
            <a:r>
              <a:rPr lang="en-US" b="1" dirty="0" err="1">
                <a:solidFill>
                  <a:srgbClr val="000000"/>
                </a:solidFill>
                <a:effectLst/>
                <a:latin typeface="Noto Sans SC"/>
              </a:rPr>
              <a:t>dữ</a:t>
            </a:r>
            <a:r>
              <a:rPr lang="en-US" b="1" dirty="0">
                <a:solidFill>
                  <a:srgbClr val="000000"/>
                </a:solidFill>
                <a:effectLst/>
                <a:latin typeface="Noto Sans SC"/>
              </a:rPr>
              <a:t> </a:t>
            </a:r>
            <a:r>
              <a:rPr lang="en-US" b="1" dirty="0" err="1">
                <a:solidFill>
                  <a:srgbClr val="000000"/>
                </a:solidFill>
                <a:effectLst/>
                <a:latin typeface="Noto Sans SC"/>
              </a:rPr>
              <a:t>liệu</a:t>
            </a:r>
            <a:endParaRPr lang="en-US" dirty="0">
              <a:effectLst/>
            </a:endParaRPr>
          </a:p>
        </p:txBody>
      </p:sp>
      <p:sp>
        <p:nvSpPr>
          <p:cNvPr id="26" name="TextBox 25">
            <a:extLst>
              <a:ext uri="{FF2B5EF4-FFF2-40B4-BE49-F238E27FC236}">
                <a16:creationId xmlns:a16="http://schemas.microsoft.com/office/drawing/2014/main" id="{AF6EA0E8-9D14-5ED5-CD36-33BC6C19F46E}"/>
              </a:ext>
            </a:extLst>
          </p:cNvPr>
          <p:cNvSpPr txBox="1"/>
          <p:nvPr/>
        </p:nvSpPr>
        <p:spPr>
          <a:xfrm>
            <a:off x="2508377" y="4908919"/>
            <a:ext cx="2744758" cy="369332"/>
          </a:xfrm>
          <a:prstGeom prst="rect">
            <a:avLst/>
          </a:prstGeom>
          <a:noFill/>
        </p:spPr>
        <p:txBody>
          <a:bodyPr wrap="square">
            <a:spAutoFit/>
          </a:bodyPr>
          <a:lstStyle/>
          <a:p>
            <a:pPr algn="l">
              <a:buNone/>
            </a:pPr>
            <a:r>
              <a:rPr lang="en-US" b="1" dirty="0">
                <a:solidFill>
                  <a:srgbClr val="000000"/>
                </a:solidFill>
                <a:effectLst/>
                <a:latin typeface="Noto Sans SC"/>
              </a:rPr>
              <a:t>Giao </a:t>
            </a:r>
            <a:r>
              <a:rPr lang="en-US" b="1" dirty="0" err="1">
                <a:solidFill>
                  <a:srgbClr val="000000"/>
                </a:solidFill>
                <a:effectLst/>
                <a:latin typeface="Noto Sans SC"/>
              </a:rPr>
              <a:t>tiếp</a:t>
            </a:r>
            <a:r>
              <a:rPr lang="en-US" b="1" dirty="0">
                <a:solidFill>
                  <a:srgbClr val="000000"/>
                </a:solidFill>
                <a:effectLst/>
                <a:latin typeface="Noto Sans SC"/>
              </a:rPr>
              <a:t> </a:t>
            </a:r>
            <a:r>
              <a:rPr lang="en-US" b="1" dirty="0" err="1">
                <a:solidFill>
                  <a:srgbClr val="000000"/>
                </a:solidFill>
                <a:effectLst/>
                <a:latin typeface="Noto Sans SC"/>
              </a:rPr>
              <a:t>trong</a:t>
            </a:r>
            <a:r>
              <a:rPr lang="en-US" b="1" dirty="0">
                <a:solidFill>
                  <a:srgbClr val="000000"/>
                </a:solidFill>
                <a:effectLst/>
                <a:latin typeface="Noto Sans SC"/>
              </a:rPr>
              <a:t> </a:t>
            </a:r>
            <a:r>
              <a:rPr lang="en-US" b="1" dirty="0" err="1">
                <a:solidFill>
                  <a:srgbClr val="000000"/>
                </a:solidFill>
                <a:effectLst/>
                <a:latin typeface="Noto Sans SC"/>
              </a:rPr>
              <a:t>nhóm</a:t>
            </a:r>
            <a:endParaRPr lang="en-US" dirty="0">
              <a:effectLst/>
            </a:endParaRPr>
          </a:p>
        </p:txBody>
      </p:sp>
      <p:sp>
        <p:nvSpPr>
          <p:cNvPr id="28" name="TextBox 27">
            <a:extLst>
              <a:ext uri="{FF2B5EF4-FFF2-40B4-BE49-F238E27FC236}">
                <a16:creationId xmlns:a16="http://schemas.microsoft.com/office/drawing/2014/main" id="{889B4BD2-4691-1715-9EA3-EB0CA05BD2C0}"/>
              </a:ext>
            </a:extLst>
          </p:cNvPr>
          <p:cNvSpPr txBox="1"/>
          <p:nvPr/>
        </p:nvSpPr>
        <p:spPr>
          <a:xfrm>
            <a:off x="2508377" y="5459866"/>
            <a:ext cx="8554620" cy="646331"/>
          </a:xfrm>
          <a:prstGeom prst="rect">
            <a:avLst/>
          </a:prstGeom>
          <a:noFill/>
        </p:spPr>
        <p:txBody>
          <a:bodyPr wrap="square">
            <a:spAutoFit/>
          </a:bodyPr>
          <a:lstStyle/>
          <a:p>
            <a:r>
              <a:rPr lang="vi-VN" dirty="0">
                <a:solidFill>
                  <a:schemeClr val="tx1"/>
                </a:solidFill>
              </a:rPr>
              <a:t>Các hiểu nhầm về phạm vi công việc được giải quyết thông qua việc tăng cường trao đổi thường xuyên và thiết lập các buổi họp định kỳ để thống nhất tiến độ.</a:t>
            </a:r>
            <a:endParaRPr lang="vi-VN" dirty="0">
              <a:solidFill>
                <a:schemeClr val="tx1"/>
              </a:solidFill>
              <a:effectLst/>
            </a:endParaRPr>
          </a:p>
        </p:txBody>
      </p:sp>
    </p:spTree>
    <p:extLst>
      <p:ext uri="{BB962C8B-B14F-4D97-AF65-F5344CB8AC3E}">
        <p14:creationId xmlns:p14="http://schemas.microsoft.com/office/powerpoint/2010/main" val="1372737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A9B2C-28C7-CA90-1FF1-64E5E09D9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4DFF68-A361-E148-A2A0-CE570E954EE9}"/>
              </a:ext>
            </a:extLst>
          </p:cNvPr>
          <p:cNvSpPr>
            <a:spLocks noGrp="1"/>
          </p:cNvSpPr>
          <p:nvPr>
            <p:ph type="title"/>
          </p:nvPr>
        </p:nvSpPr>
        <p:spPr>
          <a:xfrm>
            <a:off x="4124131" y="4699219"/>
            <a:ext cx="6988239" cy="1272373"/>
          </a:xfrm>
        </p:spPr>
        <p:txBody>
          <a:bodyPr>
            <a:normAutofit fontScale="90000"/>
          </a:bodyPr>
          <a:lstStyle/>
          <a:p>
            <a:pPr algn="r"/>
            <a:r>
              <a:rPr lang="en-US" b="1" dirty="0" err="1"/>
              <a:t>Những</a:t>
            </a:r>
            <a:r>
              <a:rPr lang="en-US" b="1" dirty="0"/>
              <a:t> </a:t>
            </a:r>
            <a:r>
              <a:rPr lang="en-US" b="1" dirty="0" err="1"/>
              <a:t>bài</a:t>
            </a:r>
            <a:r>
              <a:rPr lang="en-US" b="1" dirty="0"/>
              <a:t> </a:t>
            </a:r>
            <a:r>
              <a:rPr lang="en-US" b="1" dirty="0" err="1"/>
              <a:t>học</a:t>
            </a:r>
            <a:r>
              <a:rPr lang="en-US" b="1" dirty="0"/>
              <a:t> </a:t>
            </a:r>
            <a:r>
              <a:rPr lang="en-US" b="1" dirty="0" err="1"/>
              <a:t>kinh</a:t>
            </a:r>
            <a:r>
              <a:rPr lang="en-US" b="1" dirty="0"/>
              <a:t> </a:t>
            </a:r>
            <a:r>
              <a:rPr lang="en-US" b="1" dirty="0" err="1"/>
              <a:t>nghiệm</a:t>
            </a:r>
            <a:r>
              <a:rPr lang="en-US" b="1" dirty="0"/>
              <a:t> </a:t>
            </a:r>
            <a:r>
              <a:rPr lang="en-US" b="1" dirty="0" err="1"/>
              <a:t>và</a:t>
            </a:r>
            <a:r>
              <a:rPr lang="en-US" b="1" dirty="0"/>
              <a:t> </a:t>
            </a:r>
            <a:r>
              <a:rPr lang="en-US" b="1" dirty="0" err="1"/>
              <a:t>hạn</a:t>
            </a:r>
            <a:r>
              <a:rPr lang="en-US" b="1" dirty="0"/>
              <a:t> </a:t>
            </a:r>
            <a:r>
              <a:rPr lang="en-US" b="1" dirty="0" err="1"/>
              <a:t>chế</a:t>
            </a:r>
            <a:endParaRPr lang="en-US" dirty="0">
              <a:effectLst/>
            </a:endParaRPr>
          </a:p>
        </p:txBody>
      </p:sp>
      <p:sp>
        <p:nvSpPr>
          <p:cNvPr id="4" name="Date Placeholder 3">
            <a:extLst>
              <a:ext uri="{FF2B5EF4-FFF2-40B4-BE49-F238E27FC236}">
                <a16:creationId xmlns:a16="http://schemas.microsoft.com/office/drawing/2014/main" id="{08602D63-68CE-424D-CABD-0ED8A54A2E34}"/>
              </a:ext>
            </a:extLst>
          </p:cNvPr>
          <p:cNvSpPr>
            <a:spLocks noGrp="1"/>
          </p:cNvSpPr>
          <p:nvPr>
            <p:ph type="dt" sz="half" idx="10"/>
          </p:nvPr>
        </p:nvSpPr>
        <p:spPr/>
        <p:txBody>
          <a:bodyPr/>
          <a:lstStyle/>
          <a:p>
            <a:fld id="{F96A87E1-9421-4CB4-9C4B-92F8E5D00273}" type="datetime1">
              <a:rPr lang="en-US" smtClean="0"/>
              <a:t>4/14/2026</a:t>
            </a:fld>
            <a:endParaRPr lang="en-US"/>
          </a:p>
        </p:txBody>
      </p:sp>
      <p:sp>
        <p:nvSpPr>
          <p:cNvPr id="6" name="Slide Number Placeholder 5">
            <a:extLst>
              <a:ext uri="{FF2B5EF4-FFF2-40B4-BE49-F238E27FC236}">
                <a16:creationId xmlns:a16="http://schemas.microsoft.com/office/drawing/2014/main" id="{A77AD474-5214-5A01-6AF8-5F920AE6A106}"/>
              </a:ext>
            </a:extLst>
          </p:cNvPr>
          <p:cNvSpPr>
            <a:spLocks noGrp="1"/>
          </p:cNvSpPr>
          <p:nvPr>
            <p:ph type="sldNum" sz="quarter" idx="12"/>
          </p:nvPr>
        </p:nvSpPr>
        <p:spPr/>
        <p:txBody>
          <a:bodyPr/>
          <a:lstStyle/>
          <a:p>
            <a:fld id="{6C56B8FA-5C00-4693-8C7F-3776FF570F07}" type="slidenum">
              <a:rPr lang="en-US" smtClean="0"/>
              <a:t>16</a:t>
            </a:fld>
            <a:endParaRPr lang="en-US"/>
          </a:p>
        </p:txBody>
      </p:sp>
      <p:sp>
        <p:nvSpPr>
          <p:cNvPr id="7" name="TextBox 6">
            <a:extLst>
              <a:ext uri="{FF2B5EF4-FFF2-40B4-BE49-F238E27FC236}">
                <a16:creationId xmlns:a16="http://schemas.microsoft.com/office/drawing/2014/main" id="{4AAA758A-A245-1CFE-2051-F0AC39351024}"/>
              </a:ext>
            </a:extLst>
          </p:cNvPr>
          <p:cNvSpPr txBox="1"/>
          <p:nvPr/>
        </p:nvSpPr>
        <p:spPr>
          <a:xfrm>
            <a:off x="9647261" y="3806625"/>
            <a:ext cx="968457" cy="1015663"/>
          </a:xfrm>
          <a:prstGeom prst="rect">
            <a:avLst/>
          </a:prstGeom>
          <a:noFill/>
        </p:spPr>
        <p:txBody>
          <a:bodyPr wrap="square" rtlCol="0">
            <a:spAutoFit/>
          </a:bodyPr>
          <a:lstStyle/>
          <a:p>
            <a:r>
              <a:rPr lang="en-US" sz="6000" dirty="0">
                <a:solidFill>
                  <a:schemeClr val="accent1">
                    <a:lumMod val="50000"/>
                  </a:schemeClr>
                </a:solidFill>
              </a:rPr>
              <a:t>05</a:t>
            </a:r>
            <a:endParaRPr lang="en-US" sz="4800" dirty="0">
              <a:solidFill>
                <a:schemeClr val="accent1">
                  <a:lumMod val="50000"/>
                </a:schemeClr>
              </a:solidFill>
            </a:endParaRPr>
          </a:p>
        </p:txBody>
      </p:sp>
    </p:spTree>
    <p:extLst>
      <p:ext uri="{BB962C8B-B14F-4D97-AF65-F5344CB8AC3E}">
        <p14:creationId xmlns:p14="http://schemas.microsoft.com/office/powerpoint/2010/main" val="2650450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owchart: Alternate Process 7">
            <a:extLst>
              <a:ext uri="{FF2B5EF4-FFF2-40B4-BE49-F238E27FC236}">
                <a16:creationId xmlns:a16="http://schemas.microsoft.com/office/drawing/2014/main" id="{11CB4A26-12F6-6CCB-ABA6-78A4C99F2F8C}"/>
              </a:ext>
            </a:extLst>
          </p:cNvPr>
          <p:cNvSpPr/>
          <p:nvPr/>
        </p:nvSpPr>
        <p:spPr>
          <a:xfrm>
            <a:off x="1091682" y="2188578"/>
            <a:ext cx="9486900" cy="1147598"/>
          </a:xfrm>
          <a:prstGeom prst="flowChartAlternateProcess">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5F2C6-DD9A-3359-3DA9-173D8DE545FD}"/>
              </a:ext>
            </a:extLst>
          </p:cNvPr>
          <p:cNvSpPr>
            <a:spLocks noGrp="1"/>
          </p:cNvSpPr>
          <p:nvPr>
            <p:ph type="title"/>
          </p:nvPr>
        </p:nvSpPr>
        <p:spPr/>
        <p:txBody>
          <a:bodyPr>
            <a:normAutofit/>
          </a:bodyPr>
          <a:lstStyle/>
          <a:p>
            <a:r>
              <a:rPr lang="en-US" b="1" dirty="0" err="1"/>
              <a:t>Những</a:t>
            </a:r>
            <a:r>
              <a:rPr lang="en-US" b="1" dirty="0"/>
              <a:t> </a:t>
            </a:r>
            <a:r>
              <a:rPr lang="en-US" b="1" dirty="0" err="1"/>
              <a:t>bài</a:t>
            </a:r>
            <a:r>
              <a:rPr lang="en-US" b="1" dirty="0"/>
              <a:t> </a:t>
            </a:r>
            <a:r>
              <a:rPr lang="en-US" b="1" dirty="0" err="1"/>
              <a:t>học</a:t>
            </a:r>
            <a:r>
              <a:rPr lang="en-US" b="1" dirty="0"/>
              <a:t> </a:t>
            </a:r>
            <a:r>
              <a:rPr lang="en-US" b="1" dirty="0" err="1"/>
              <a:t>kinh</a:t>
            </a:r>
            <a:r>
              <a:rPr lang="en-US" b="1" dirty="0"/>
              <a:t> </a:t>
            </a:r>
            <a:r>
              <a:rPr lang="en-US" b="1" dirty="0" err="1"/>
              <a:t>nghiệm</a:t>
            </a:r>
            <a:endParaRPr lang="en-US" dirty="0"/>
          </a:p>
        </p:txBody>
      </p:sp>
      <p:sp>
        <p:nvSpPr>
          <p:cNvPr id="6" name="Slide Number Placeholder 5">
            <a:extLst>
              <a:ext uri="{FF2B5EF4-FFF2-40B4-BE49-F238E27FC236}">
                <a16:creationId xmlns:a16="http://schemas.microsoft.com/office/drawing/2014/main" id="{C2F1655E-CEA5-BD40-34B3-401B600015BD}"/>
              </a:ext>
            </a:extLst>
          </p:cNvPr>
          <p:cNvSpPr>
            <a:spLocks noGrp="1"/>
          </p:cNvSpPr>
          <p:nvPr>
            <p:ph type="sldNum" sz="quarter" idx="12"/>
          </p:nvPr>
        </p:nvSpPr>
        <p:spPr/>
        <p:txBody>
          <a:bodyPr/>
          <a:lstStyle/>
          <a:p>
            <a:fld id="{6C56B8FA-5C00-4693-8C7F-3776FF570F07}" type="slidenum">
              <a:rPr lang="en-US" smtClean="0"/>
              <a:t>17</a:t>
            </a:fld>
            <a:endParaRPr lang="en-US"/>
          </a:p>
        </p:txBody>
      </p:sp>
      <p:sp>
        <p:nvSpPr>
          <p:cNvPr id="9" name="Pentagon 8">
            <a:extLst>
              <a:ext uri="{FF2B5EF4-FFF2-40B4-BE49-F238E27FC236}">
                <a16:creationId xmlns:a16="http://schemas.microsoft.com/office/drawing/2014/main" id="{B6459E37-25AE-3A2B-A432-B0CB2AD0B33E}"/>
              </a:ext>
            </a:extLst>
          </p:cNvPr>
          <p:cNvSpPr/>
          <p:nvPr/>
        </p:nvSpPr>
        <p:spPr>
          <a:xfrm>
            <a:off x="662474" y="2378672"/>
            <a:ext cx="858416" cy="767410"/>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01</a:t>
            </a:r>
            <a:endParaRPr lang="en-US" b="1" dirty="0">
              <a:solidFill>
                <a:schemeClr val="tx1"/>
              </a:solidFill>
            </a:endParaRPr>
          </a:p>
        </p:txBody>
      </p:sp>
      <p:sp>
        <p:nvSpPr>
          <p:cNvPr id="11" name="TextBox 10">
            <a:extLst>
              <a:ext uri="{FF2B5EF4-FFF2-40B4-BE49-F238E27FC236}">
                <a16:creationId xmlns:a16="http://schemas.microsoft.com/office/drawing/2014/main" id="{77863AB9-ADE5-A976-99A9-B6D1BE3B9526}"/>
              </a:ext>
            </a:extLst>
          </p:cNvPr>
          <p:cNvSpPr txBox="1"/>
          <p:nvPr/>
        </p:nvSpPr>
        <p:spPr>
          <a:xfrm>
            <a:off x="1908111" y="2189270"/>
            <a:ext cx="8836090" cy="400110"/>
          </a:xfrm>
          <a:prstGeom prst="rect">
            <a:avLst/>
          </a:prstGeom>
          <a:noFill/>
        </p:spPr>
        <p:txBody>
          <a:bodyPr wrap="square">
            <a:spAutoFit/>
          </a:bodyPr>
          <a:lstStyle/>
          <a:p>
            <a:pPr>
              <a:buNone/>
            </a:pPr>
            <a:r>
              <a:rPr lang="en-US" sz="2000" b="1" dirty="0" err="1">
                <a:solidFill>
                  <a:srgbClr val="226DF6"/>
                </a:solidFill>
                <a:effectLst/>
                <a:latin typeface="Noto Sans SC"/>
              </a:rPr>
              <a:t>Nâng</a:t>
            </a:r>
            <a:r>
              <a:rPr lang="en-US" sz="2000" b="1" dirty="0">
                <a:solidFill>
                  <a:srgbClr val="226DF6"/>
                </a:solidFill>
                <a:effectLst/>
                <a:latin typeface="Noto Sans SC"/>
              </a:rPr>
              <a:t> </a:t>
            </a:r>
            <a:r>
              <a:rPr lang="en-US" sz="2000" b="1" dirty="0" err="1">
                <a:solidFill>
                  <a:srgbClr val="226DF6"/>
                </a:solidFill>
                <a:effectLst/>
                <a:latin typeface="Noto Sans SC"/>
              </a:rPr>
              <a:t>cao</a:t>
            </a:r>
            <a:r>
              <a:rPr lang="en-US" sz="2000" b="1" dirty="0">
                <a:solidFill>
                  <a:srgbClr val="226DF6"/>
                </a:solidFill>
                <a:effectLst/>
                <a:latin typeface="Noto Sans SC"/>
              </a:rPr>
              <a:t> </a:t>
            </a:r>
            <a:r>
              <a:rPr lang="en-US" sz="2000" b="1" dirty="0" err="1">
                <a:solidFill>
                  <a:srgbClr val="226DF6"/>
                </a:solidFill>
                <a:effectLst/>
                <a:latin typeface="Noto Sans SC"/>
              </a:rPr>
              <a:t>hiểu</a:t>
            </a:r>
            <a:r>
              <a:rPr lang="en-US" sz="2000" b="1" dirty="0">
                <a:solidFill>
                  <a:srgbClr val="226DF6"/>
                </a:solidFill>
                <a:effectLst/>
                <a:latin typeface="Noto Sans SC"/>
              </a:rPr>
              <a:t> </a:t>
            </a:r>
            <a:r>
              <a:rPr lang="en-US" sz="2000" b="1" dirty="0" err="1">
                <a:solidFill>
                  <a:srgbClr val="226DF6"/>
                </a:solidFill>
                <a:effectLst/>
                <a:latin typeface="Noto Sans SC"/>
              </a:rPr>
              <a:t>biết</a:t>
            </a:r>
            <a:r>
              <a:rPr lang="en-US" sz="2000" b="1" dirty="0">
                <a:solidFill>
                  <a:srgbClr val="226DF6"/>
                </a:solidFill>
                <a:effectLst/>
                <a:latin typeface="Noto Sans SC"/>
              </a:rPr>
              <a:t> </a:t>
            </a:r>
            <a:r>
              <a:rPr lang="en-US" sz="2000" b="1" dirty="0" err="1">
                <a:solidFill>
                  <a:srgbClr val="226DF6"/>
                </a:solidFill>
                <a:effectLst/>
                <a:latin typeface="Noto Sans SC"/>
              </a:rPr>
              <a:t>về</a:t>
            </a:r>
            <a:r>
              <a:rPr lang="en-US" sz="2000" b="1" dirty="0">
                <a:solidFill>
                  <a:srgbClr val="226DF6"/>
                </a:solidFill>
                <a:effectLst/>
                <a:latin typeface="Noto Sans SC"/>
              </a:rPr>
              <a:t> </a:t>
            </a:r>
            <a:r>
              <a:rPr lang="en-US" sz="2000" b="1" dirty="0" err="1">
                <a:solidFill>
                  <a:srgbClr val="226DF6"/>
                </a:solidFill>
                <a:effectLst/>
                <a:latin typeface="Noto Sans SC"/>
              </a:rPr>
              <a:t>thuật</a:t>
            </a:r>
            <a:r>
              <a:rPr lang="en-US" sz="2000" b="1" dirty="0">
                <a:solidFill>
                  <a:srgbClr val="226DF6"/>
                </a:solidFill>
                <a:effectLst/>
                <a:latin typeface="Noto Sans SC"/>
              </a:rPr>
              <a:t> </a:t>
            </a:r>
            <a:r>
              <a:rPr lang="en-US" sz="2000" b="1" dirty="0" err="1">
                <a:solidFill>
                  <a:srgbClr val="226DF6"/>
                </a:solidFill>
                <a:effectLst/>
                <a:latin typeface="Noto Sans SC"/>
              </a:rPr>
              <a:t>toán</a:t>
            </a:r>
            <a:endParaRPr lang="en-US" sz="2000" dirty="0">
              <a:effectLst/>
            </a:endParaRPr>
          </a:p>
        </p:txBody>
      </p:sp>
      <p:sp>
        <p:nvSpPr>
          <p:cNvPr id="13" name="TextBox 12">
            <a:extLst>
              <a:ext uri="{FF2B5EF4-FFF2-40B4-BE49-F238E27FC236}">
                <a16:creationId xmlns:a16="http://schemas.microsoft.com/office/drawing/2014/main" id="{3BAB4C0C-5414-88C0-200D-AD3C86E6C6BB}"/>
              </a:ext>
            </a:extLst>
          </p:cNvPr>
          <p:cNvSpPr txBox="1"/>
          <p:nvPr/>
        </p:nvSpPr>
        <p:spPr>
          <a:xfrm>
            <a:off x="1727330" y="2523047"/>
            <a:ext cx="8836090" cy="646331"/>
          </a:xfrm>
          <a:prstGeom prst="rect">
            <a:avLst/>
          </a:prstGeom>
          <a:noFill/>
        </p:spPr>
        <p:txBody>
          <a:bodyPr wrap="square">
            <a:spAutoFit/>
          </a:bodyPr>
          <a:lstStyle/>
          <a:p>
            <a:pPr algn="just">
              <a:buNone/>
            </a:pPr>
            <a:r>
              <a:rPr lang="vi-VN" dirty="0">
                <a:solidFill>
                  <a:srgbClr val="000000"/>
                </a:solidFill>
                <a:effectLst/>
                <a:latin typeface="Noto Sans SC"/>
              </a:rPr>
              <a:t>Dự án giúp nhóm hiểu rõ hơn cách hoạt động của các thuật toán SJF và Priority, cũng như cách hệ điều hành sử dụng chúng để quản lý tài nguyên CPU.</a:t>
            </a:r>
            <a:endParaRPr lang="vi-VN" dirty="0">
              <a:effectLst/>
            </a:endParaRPr>
          </a:p>
        </p:txBody>
      </p:sp>
      <p:sp>
        <p:nvSpPr>
          <p:cNvPr id="14" name="Flowchart: Alternate Process 13">
            <a:extLst>
              <a:ext uri="{FF2B5EF4-FFF2-40B4-BE49-F238E27FC236}">
                <a16:creationId xmlns:a16="http://schemas.microsoft.com/office/drawing/2014/main" id="{5ACFA830-A177-FD5C-9545-27E74AEE8B2D}"/>
              </a:ext>
            </a:extLst>
          </p:cNvPr>
          <p:cNvSpPr/>
          <p:nvPr/>
        </p:nvSpPr>
        <p:spPr>
          <a:xfrm>
            <a:off x="1441581" y="3521825"/>
            <a:ext cx="9559211" cy="1140544"/>
          </a:xfrm>
          <a:prstGeom prst="flowChartAlternateProcess">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Pentagon 14">
            <a:extLst>
              <a:ext uri="{FF2B5EF4-FFF2-40B4-BE49-F238E27FC236}">
                <a16:creationId xmlns:a16="http://schemas.microsoft.com/office/drawing/2014/main" id="{2C3913A8-7994-87B8-5E4B-E227CA005EF6}"/>
              </a:ext>
            </a:extLst>
          </p:cNvPr>
          <p:cNvSpPr/>
          <p:nvPr/>
        </p:nvSpPr>
        <p:spPr>
          <a:xfrm>
            <a:off x="1012373" y="3717855"/>
            <a:ext cx="858416" cy="767410"/>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02</a:t>
            </a:r>
            <a:endParaRPr lang="en-US" b="1" dirty="0">
              <a:solidFill>
                <a:schemeClr val="tx1"/>
              </a:solidFill>
            </a:endParaRPr>
          </a:p>
        </p:txBody>
      </p:sp>
      <p:sp>
        <p:nvSpPr>
          <p:cNvPr id="17" name="TextBox 16">
            <a:extLst>
              <a:ext uri="{FF2B5EF4-FFF2-40B4-BE49-F238E27FC236}">
                <a16:creationId xmlns:a16="http://schemas.microsoft.com/office/drawing/2014/main" id="{B90CCC9A-4AAE-B560-603A-5EA217B76DE1}"/>
              </a:ext>
            </a:extLst>
          </p:cNvPr>
          <p:cNvSpPr txBox="1"/>
          <p:nvPr/>
        </p:nvSpPr>
        <p:spPr>
          <a:xfrm>
            <a:off x="2087725" y="3593485"/>
            <a:ext cx="6097554" cy="400110"/>
          </a:xfrm>
          <a:prstGeom prst="rect">
            <a:avLst/>
          </a:prstGeom>
          <a:noFill/>
        </p:spPr>
        <p:txBody>
          <a:bodyPr wrap="square">
            <a:spAutoFit/>
          </a:bodyPr>
          <a:lstStyle/>
          <a:p>
            <a:pPr>
              <a:buNone/>
            </a:pPr>
            <a:r>
              <a:rPr lang="en-US" sz="2000" b="1" dirty="0" err="1">
                <a:solidFill>
                  <a:srgbClr val="226DF6"/>
                </a:solidFill>
                <a:effectLst/>
                <a:latin typeface="Noto Sans SC"/>
              </a:rPr>
              <a:t>Tiêu</a:t>
            </a:r>
            <a:r>
              <a:rPr lang="en-US" sz="2000" b="1" dirty="0">
                <a:solidFill>
                  <a:srgbClr val="226DF6"/>
                </a:solidFill>
                <a:effectLst/>
                <a:latin typeface="Noto Sans SC"/>
              </a:rPr>
              <a:t> </a:t>
            </a:r>
            <a:r>
              <a:rPr lang="en-US" sz="2000" b="1" dirty="0" err="1">
                <a:solidFill>
                  <a:srgbClr val="226DF6"/>
                </a:solidFill>
                <a:effectLst/>
                <a:latin typeface="Noto Sans SC"/>
              </a:rPr>
              <a:t>chuẩn</a:t>
            </a:r>
            <a:r>
              <a:rPr lang="en-US" sz="2000" b="1" dirty="0">
                <a:solidFill>
                  <a:srgbClr val="226DF6"/>
                </a:solidFill>
                <a:effectLst/>
                <a:latin typeface="Noto Sans SC"/>
              </a:rPr>
              <a:t> </a:t>
            </a:r>
            <a:r>
              <a:rPr lang="en-US" sz="2000" b="1" dirty="0" err="1">
                <a:solidFill>
                  <a:srgbClr val="226DF6"/>
                </a:solidFill>
                <a:effectLst/>
                <a:latin typeface="Noto Sans SC"/>
              </a:rPr>
              <a:t>hóa</a:t>
            </a:r>
            <a:r>
              <a:rPr lang="en-US" sz="2000" b="1" dirty="0">
                <a:solidFill>
                  <a:srgbClr val="226DF6"/>
                </a:solidFill>
                <a:effectLst/>
                <a:latin typeface="Noto Sans SC"/>
              </a:rPr>
              <a:t> </a:t>
            </a:r>
            <a:r>
              <a:rPr lang="en-US" sz="2000" b="1" dirty="0" err="1">
                <a:solidFill>
                  <a:srgbClr val="226DF6"/>
                </a:solidFill>
                <a:effectLst/>
                <a:latin typeface="Noto Sans SC"/>
              </a:rPr>
              <a:t>mã</a:t>
            </a:r>
            <a:endParaRPr lang="en-US" sz="2000" dirty="0">
              <a:effectLst/>
            </a:endParaRPr>
          </a:p>
        </p:txBody>
      </p:sp>
      <p:sp>
        <p:nvSpPr>
          <p:cNvPr id="19" name="TextBox 18">
            <a:extLst>
              <a:ext uri="{FF2B5EF4-FFF2-40B4-BE49-F238E27FC236}">
                <a16:creationId xmlns:a16="http://schemas.microsoft.com/office/drawing/2014/main" id="{05C4CBD7-EB9C-EA8F-DE75-7C3E35028FFE}"/>
              </a:ext>
            </a:extLst>
          </p:cNvPr>
          <p:cNvSpPr txBox="1"/>
          <p:nvPr/>
        </p:nvSpPr>
        <p:spPr>
          <a:xfrm>
            <a:off x="1929882" y="3927924"/>
            <a:ext cx="9011817" cy="646331"/>
          </a:xfrm>
          <a:prstGeom prst="rect">
            <a:avLst/>
          </a:prstGeom>
          <a:noFill/>
        </p:spPr>
        <p:txBody>
          <a:bodyPr wrap="square">
            <a:spAutoFit/>
          </a:bodyPr>
          <a:lstStyle/>
          <a:p>
            <a:pPr algn="just">
              <a:buNone/>
            </a:pPr>
            <a:r>
              <a:rPr lang="vi-VN" dirty="0">
                <a:solidFill>
                  <a:srgbClr val="000000"/>
                </a:solidFill>
                <a:effectLst/>
                <a:latin typeface="Noto Sans SC"/>
              </a:rPr>
              <a:t>Việc sử dụng lớp `Process` và chia chương trình thành các module đã giúp tiêu chuẩn hóa và tối ưu hóa mã nguồn, cải thiện khả năng bảo trì và mở rộng của ứng dụng.</a:t>
            </a:r>
            <a:endParaRPr lang="vi-VN" dirty="0">
              <a:effectLst/>
            </a:endParaRPr>
          </a:p>
        </p:txBody>
      </p:sp>
      <p:sp>
        <p:nvSpPr>
          <p:cNvPr id="20" name="Flowchart: Alternate Process 19">
            <a:extLst>
              <a:ext uri="{FF2B5EF4-FFF2-40B4-BE49-F238E27FC236}">
                <a16:creationId xmlns:a16="http://schemas.microsoft.com/office/drawing/2014/main" id="{70544A09-0215-4997-A1F3-14778B578394}"/>
              </a:ext>
            </a:extLst>
          </p:cNvPr>
          <p:cNvSpPr/>
          <p:nvPr/>
        </p:nvSpPr>
        <p:spPr>
          <a:xfrm>
            <a:off x="1950098" y="4819704"/>
            <a:ext cx="9559211" cy="1140545"/>
          </a:xfrm>
          <a:prstGeom prst="flowChartAlternateProcess">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Pentagon 20">
            <a:extLst>
              <a:ext uri="{FF2B5EF4-FFF2-40B4-BE49-F238E27FC236}">
                <a16:creationId xmlns:a16="http://schemas.microsoft.com/office/drawing/2014/main" id="{5453D483-AC19-1F80-078E-4236F1643488}"/>
              </a:ext>
            </a:extLst>
          </p:cNvPr>
          <p:cNvSpPr/>
          <p:nvPr/>
        </p:nvSpPr>
        <p:spPr>
          <a:xfrm>
            <a:off x="1520890" y="5040467"/>
            <a:ext cx="858416" cy="732025"/>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03</a:t>
            </a:r>
            <a:endParaRPr lang="en-US" b="1" dirty="0">
              <a:solidFill>
                <a:schemeClr val="tx1"/>
              </a:solidFill>
            </a:endParaRPr>
          </a:p>
        </p:txBody>
      </p:sp>
      <p:sp>
        <p:nvSpPr>
          <p:cNvPr id="23" name="TextBox 22">
            <a:extLst>
              <a:ext uri="{FF2B5EF4-FFF2-40B4-BE49-F238E27FC236}">
                <a16:creationId xmlns:a16="http://schemas.microsoft.com/office/drawing/2014/main" id="{06188308-E540-5866-0CA4-81E5319E8DFA}"/>
              </a:ext>
            </a:extLst>
          </p:cNvPr>
          <p:cNvSpPr txBox="1"/>
          <p:nvPr/>
        </p:nvSpPr>
        <p:spPr>
          <a:xfrm>
            <a:off x="2619570" y="4868341"/>
            <a:ext cx="6097554" cy="400110"/>
          </a:xfrm>
          <a:prstGeom prst="rect">
            <a:avLst/>
          </a:prstGeom>
          <a:noFill/>
        </p:spPr>
        <p:txBody>
          <a:bodyPr wrap="square">
            <a:spAutoFit/>
          </a:bodyPr>
          <a:lstStyle/>
          <a:p>
            <a:pPr>
              <a:buNone/>
            </a:pPr>
            <a:r>
              <a:rPr lang="en-US" sz="2000" b="1" dirty="0">
                <a:solidFill>
                  <a:srgbClr val="226DF6"/>
                </a:solidFill>
                <a:effectLst/>
                <a:latin typeface="Noto Sans SC"/>
              </a:rPr>
              <a:t>Giao </a:t>
            </a:r>
            <a:r>
              <a:rPr lang="en-US" sz="2000" b="1" dirty="0" err="1">
                <a:solidFill>
                  <a:srgbClr val="226DF6"/>
                </a:solidFill>
                <a:effectLst/>
                <a:latin typeface="Noto Sans SC"/>
              </a:rPr>
              <a:t>tiếp</a:t>
            </a:r>
            <a:r>
              <a:rPr lang="en-US" sz="2000" b="1" dirty="0">
                <a:solidFill>
                  <a:srgbClr val="226DF6"/>
                </a:solidFill>
                <a:effectLst/>
                <a:latin typeface="Noto Sans SC"/>
              </a:rPr>
              <a:t> </a:t>
            </a:r>
            <a:r>
              <a:rPr lang="en-US" sz="2000" b="1" dirty="0" err="1">
                <a:solidFill>
                  <a:srgbClr val="226DF6"/>
                </a:solidFill>
                <a:effectLst/>
                <a:latin typeface="Noto Sans SC"/>
              </a:rPr>
              <a:t>cộng</a:t>
            </a:r>
            <a:r>
              <a:rPr lang="en-US" sz="2000" b="1" dirty="0">
                <a:solidFill>
                  <a:srgbClr val="226DF6"/>
                </a:solidFill>
                <a:effectLst/>
                <a:latin typeface="Noto Sans SC"/>
              </a:rPr>
              <a:t> </a:t>
            </a:r>
            <a:r>
              <a:rPr lang="en-US" sz="2000" b="1" dirty="0" err="1">
                <a:solidFill>
                  <a:srgbClr val="226DF6"/>
                </a:solidFill>
                <a:effectLst/>
                <a:latin typeface="Noto Sans SC"/>
              </a:rPr>
              <a:t>tác</a:t>
            </a:r>
            <a:endParaRPr lang="en-US" sz="2000" dirty="0">
              <a:effectLst/>
            </a:endParaRPr>
          </a:p>
        </p:txBody>
      </p:sp>
      <p:sp>
        <p:nvSpPr>
          <p:cNvPr id="25" name="TextBox 24">
            <a:extLst>
              <a:ext uri="{FF2B5EF4-FFF2-40B4-BE49-F238E27FC236}">
                <a16:creationId xmlns:a16="http://schemas.microsoft.com/office/drawing/2014/main" id="{D156E7AD-3798-574D-AE2D-AA01C399298B}"/>
              </a:ext>
            </a:extLst>
          </p:cNvPr>
          <p:cNvSpPr txBox="1"/>
          <p:nvPr/>
        </p:nvSpPr>
        <p:spPr>
          <a:xfrm>
            <a:off x="2446176" y="5188805"/>
            <a:ext cx="8996263" cy="646331"/>
          </a:xfrm>
          <a:prstGeom prst="rect">
            <a:avLst/>
          </a:prstGeom>
          <a:noFill/>
        </p:spPr>
        <p:txBody>
          <a:bodyPr wrap="square">
            <a:spAutoFit/>
          </a:bodyPr>
          <a:lstStyle/>
          <a:p>
            <a:pPr algn="just">
              <a:buNone/>
            </a:pPr>
            <a:r>
              <a:rPr lang="en-US" dirty="0" err="1">
                <a:solidFill>
                  <a:srgbClr val="000000"/>
                </a:solidFill>
                <a:effectLst/>
                <a:latin typeface="Noto Sans SC"/>
              </a:rPr>
              <a:t>Nhóm</a:t>
            </a:r>
            <a:r>
              <a:rPr lang="en-US" dirty="0">
                <a:solidFill>
                  <a:srgbClr val="000000"/>
                </a:solidFill>
                <a:effectLst/>
                <a:latin typeface="Noto Sans SC"/>
              </a:rPr>
              <a:t> </a:t>
            </a:r>
            <a:r>
              <a:rPr lang="en-US" dirty="0" err="1">
                <a:solidFill>
                  <a:srgbClr val="000000"/>
                </a:solidFill>
                <a:effectLst/>
                <a:latin typeface="Noto Sans SC"/>
              </a:rPr>
              <a:t>đã</a:t>
            </a:r>
            <a:r>
              <a:rPr lang="en-US" dirty="0">
                <a:solidFill>
                  <a:srgbClr val="000000"/>
                </a:solidFill>
                <a:effectLst/>
                <a:latin typeface="Noto Sans SC"/>
              </a:rPr>
              <a:t> </a:t>
            </a:r>
            <a:r>
              <a:rPr lang="en-US" dirty="0" err="1">
                <a:solidFill>
                  <a:srgbClr val="000000"/>
                </a:solidFill>
                <a:effectLst/>
                <a:latin typeface="Noto Sans SC"/>
              </a:rPr>
              <a:t>cải</a:t>
            </a:r>
            <a:r>
              <a:rPr lang="en-US" dirty="0">
                <a:solidFill>
                  <a:srgbClr val="000000"/>
                </a:solidFill>
                <a:effectLst/>
                <a:latin typeface="Noto Sans SC"/>
              </a:rPr>
              <a:t> </a:t>
            </a:r>
            <a:r>
              <a:rPr lang="en-US" dirty="0" err="1">
                <a:solidFill>
                  <a:srgbClr val="000000"/>
                </a:solidFill>
                <a:effectLst/>
                <a:latin typeface="Noto Sans SC"/>
              </a:rPr>
              <a:t>thiện</a:t>
            </a:r>
            <a:r>
              <a:rPr lang="en-US" dirty="0">
                <a:solidFill>
                  <a:srgbClr val="000000"/>
                </a:solidFill>
                <a:effectLst/>
                <a:latin typeface="Noto Sans SC"/>
              </a:rPr>
              <a:t> </a:t>
            </a:r>
            <a:r>
              <a:rPr lang="en-US" dirty="0" err="1">
                <a:solidFill>
                  <a:srgbClr val="000000"/>
                </a:solidFill>
                <a:effectLst/>
                <a:latin typeface="Noto Sans SC"/>
              </a:rPr>
              <a:t>kỹ</a:t>
            </a:r>
            <a:r>
              <a:rPr lang="en-US" dirty="0">
                <a:solidFill>
                  <a:srgbClr val="000000"/>
                </a:solidFill>
                <a:effectLst/>
                <a:latin typeface="Noto Sans SC"/>
              </a:rPr>
              <a:t> </a:t>
            </a:r>
            <a:r>
              <a:rPr lang="en-US" dirty="0" err="1">
                <a:solidFill>
                  <a:srgbClr val="000000"/>
                </a:solidFill>
                <a:effectLst/>
                <a:latin typeface="Noto Sans SC"/>
              </a:rPr>
              <a:t>năng</a:t>
            </a:r>
            <a:r>
              <a:rPr lang="en-US" dirty="0">
                <a:solidFill>
                  <a:srgbClr val="000000"/>
                </a:solidFill>
                <a:effectLst/>
                <a:latin typeface="Noto Sans SC"/>
              </a:rPr>
              <a:t> </a:t>
            </a:r>
            <a:r>
              <a:rPr lang="en-US" dirty="0" err="1">
                <a:solidFill>
                  <a:srgbClr val="000000"/>
                </a:solidFill>
                <a:effectLst/>
                <a:latin typeface="Noto Sans SC"/>
              </a:rPr>
              <a:t>giao</a:t>
            </a:r>
            <a:r>
              <a:rPr lang="en-US" dirty="0">
                <a:solidFill>
                  <a:srgbClr val="000000"/>
                </a:solidFill>
                <a:effectLst/>
                <a:latin typeface="Noto Sans SC"/>
              </a:rPr>
              <a:t> </a:t>
            </a:r>
            <a:r>
              <a:rPr lang="en-US" dirty="0" err="1">
                <a:solidFill>
                  <a:srgbClr val="000000"/>
                </a:solidFill>
                <a:effectLst/>
                <a:latin typeface="Noto Sans SC"/>
              </a:rPr>
              <a:t>tiếp</a:t>
            </a:r>
            <a:r>
              <a:rPr lang="en-US" dirty="0">
                <a:solidFill>
                  <a:srgbClr val="000000"/>
                </a:solidFill>
                <a:effectLst/>
                <a:latin typeface="Noto Sans SC"/>
              </a:rPr>
              <a:t> </a:t>
            </a:r>
            <a:r>
              <a:rPr lang="en-US" dirty="0" err="1">
                <a:solidFill>
                  <a:srgbClr val="000000"/>
                </a:solidFill>
                <a:effectLst/>
                <a:latin typeface="Noto Sans SC"/>
              </a:rPr>
              <a:t>thông</a:t>
            </a:r>
            <a:r>
              <a:rPr lang="en-US" dirty="0">
                <a:solidFill>
                  <a:srgbClr val="000000"/>
                </a:solidFill>
                <a:effectLst/>
                <a:latin typeface="Noto Sans SC"/>
              </a:rPr>
              <a:t> qua </a:t>
            </a:r>
            <a:r>
              <a:rPr lang="en-US" dirty="0" err="1">
                <a:solidFill>
                  <a:srgbClr val="000000"/>
                </a:solidFill>
                <a:effectLst/>
                <a:latin typeface="Noto Sans SC"/>
              </a:rPr>
              <a:t>việc</a:t>
            </a:r>
            <a:r>
              <a:rPr lang="en-US" dirty="0">
                <a:solidFill>
                  <a:srgbClr val="000000"/>
                </a:solidFill>
                <a:effectLst/>
                <a:latin typeface="Noto Sans SC"/>
              </a:rPr>
              <a:t> </a:t>
            </a:r>
            <a:r>
              <a:rPr lang="en-US" dirty="0" err="1">
                <a:solidFill>
                  <a:srgbClr val="000000"/>
                </a:solidFill>
                <a:effectLst/>
                <a:latin typeface="Noto Sans SC"/>
              </a:rPr>
              <a:t>thảo</a:t>
            </a:r>
            <a:r>
              <a:rPr lang="en-US" dirty="0">
                <a:solidFill>
                  <a:srgbClr val="000000"/>
                </a:solidFill>
                <a:effectLst/>
                <a:latin typeface="Noto Sans SC"/>
              </a:rPr>
              <a:t> </a:t>
            </a:r>
            <a:r>
              <a:rPr lang="en-US" dirty="0" err="1">
                <a:solidFill>
                  <a:srgbClr val="000000"/>
                </a:solidFill>
                <a:effectLst/>
                <a:latin typeface="Noto Sans SC"/>
              </a:rPr>
              <a:t>luận</a:t>
            </a:r>
            <a:r>
              <a:rPr lang="en-US" dirty="0">
                <a:solidFill>
                  <a:srgbClr val="000000"/>
                </a:solidFill>
                <a:effectLst/>
                <a:latin typeface="Noto Sans SC"/>
              </a:rPr>
              <a:t>, </a:t>
            </a:r>
            <a:r>
              <a:rPr lang="en-US" dirty="0" err="1">
                <a:solidFill>
                  <a:srgbClr val="000000"/>
                </a:solidFill>
                <a:effectLst/>
                <a:latin typeface="Noto Sans SC"/>
              </a:rPr>
              <a:t>giải</a:t>
            </a:r>
            <a:r>
              <a:rPr lang="en-US" dirty="0">
                <a:solidFill>
                  <a:srgbClr val="000000"/>
                </a:solidFill>
                <a:effectLst/>
                <a:latin typeface="Noto Sans SC"/>
              </a:rPr>
              <a:t> </a:t>
            </a:r>
            <a:r>
              <a:rPr lang="en-US" dirty="0" err="1">
                <a:solidFill>
                  <a:srgbClr val="000000"/>
                </a:solidFill>
                <a:effectLst/>
                <a:latin typeface="Noto Sans SC"/>
              </a:rPr>
              <a:t>quyết</a:t>
            </a:r>
            <a:r>
              <a:rPr lang="en-US" dirty="0">
                <a:solidFill>
                  <a:srgbClr val="000000"/>
                </a:solidFill>
                <a:effectLst/>
                <a:latin typeface="Noto Sans SC"/>
              </a:rPr>
              <a:t> </a:t>
            </a:r>
            <a:r>
              <a:rPr lang="en-US" dirty="0" err="1">
                <a:solidFill>
                  <a:srgbClr val="000000"/>
                </a:solidFill>
                <a:effectLst/>
                <a:latin typeface="Noto Sans SC"/>
              </a:rPr>
              <a:t>hiểu</a:t>
            </a:r>
            <a:r>
              <a:rPr lang="en-US" dirty="0">
                <a:solidFill>
                  <a:srgbClr val="000000"/>
                </a:solidFill>
                <a:effectLst/>
                <a:latin typeface="Noto Sans SC"/>
              </a:rPr>
              <a:t> </a:t>
            </a:r>
            <a:r>
              <a:rPr lang="en-US" dirty="0" err="1">
                <a:solidFill>
                  <a:srgbClr val="000000"/>
                </a:solidFill>
                <a:effectLst/>
                <a:latin typeface="Noto Sans SC"/>
              </a:rPr>
              <a:t>nhầm</a:t>
            </a:r>
            <a:r>
              <a:rPr lang="en-US" dirty="0">
                <a:solidFill>
                  <a:srgbClr val="000000"/>
                </a:solidFill>
                <a:effectLst/>
                <a:latin typeface="Noto Sans SC"/>
              </a:rPr>
              <a:t> </a:t>
            </a:r>
            <a:r>
              <a:rPr lang="en-US" dirty="0" err="1">
                <a:solidFill>
                  <a:srgbClr val="000000"/>
                </a:solidFill>
                <a:effectLst/>
                <a:latin typeface="Noto Sans SC"/>
              </a:rPr>
              <a:t>về</a:t>
            </a:r>
            <a:r>
              <a:rPr lang="en-US" dirty="0">
                <a:solidFill>
                  <a:srgbClr val="000000"/>
                </a:solidFill>
                <a:effectLst/>
                <a:latin typeface="Noto Sans SC"/>
              </a:rPr>
              <a:t> </a:t>
            </a:r>
            <a:r>
              <a:rPr lang="en-US" dirty="0" err="1">
                <a:solidFill>
                  <a:srgbClr val="000000"/>
                </a:solidFill>
                <a:effectLst/>
                <a:latin typeface="Noto Sans SC"/>
              </a:rPr>
              <a:t>phạm</a:t>
            </a:r>
            <a:r>
              <a:rPr lang="en-US" dirty="0">
                <a:solidFill>
                  <a:srgbClr val="000000"/>
                </a:solidFill>
                <a:effectLst/>
                <a:latin typeface="Noto Sans SC"/>
              </a:rPr>
              <a:t> vi </a:t>
            </a:r>
            <a:r>
              <a:rPr lang="en-US" dirty="0" err="1">
                <a:solidFill>
                  <a:srgbClr val="000000"/>
                </a:solidFill>
                <a:effectLst/>
                <a:latin typeface="Noto Sans SC"/>
              </a:rPr>
              <a:t>công</a:t>
            </a:r>
            <a:r>
              <a:rPr lang="en-US" dirty="0">
                <a:solidFill>
                  <a:srgbClr val="000000"/>
                </a:solidFill>
                <a:effectLst/>
                <a:latin typeface="Noto Sans SC"/>
              </a:rPr>
              <a:t> </a:t>
            </a:r>
            <a:r>
              <a:rPr lang="en-US" dirty="0" err="1">
                <a:solidFill>
                  <a:srgbClr val="000000"/>
                </a:solidFill>
                <a:effectLst/>
                <a:latin typeface="Noto Sans SC"/>
              </a:rPr>
              <a:t>việc</a:t>
            </a:r>
            <a:r>
              <a:rPr lang="en-US" dirty="0">
                <a:solidFill>
                  <a:srgbClr val="000000"/>
                </a:solidFill>
                <a:effectLst/>
                <a:latin typeface="Noto Sans SC"/>
              </a:rPr>
              <a:t> </a:t>
            </a:r>
            <a:r>
              <a:rPr lang="en-US" dirty="0" err="1">
                <a:solidFill>
                  <a:srgbClr val="000000"/>
                </a:solidFill>
                <a:effectLst/>
                <a:latin typeface="Noto Sans SC"/>
              </a:rPr>
              <a:t>và</a:t>
            </a:r>
            <a:r>
              <a:rPr lang="en-US" dirty="0">
                <a:solidFill>
                  <a:srgbClr val="000000"/>
                </a:solidFill>
                <a:effectLst/>
                <a:latin typeface="Noto Sans SC"/>
              </a:rPr>
              <a:t> </a:t>
            </a:r>
            <a:r>
              <a:rPr lang="en-US" dirty="0" err="1">
                <a:solidFill>
                  <a:srgbClr val="000000"/>
                </a:solidFill>
                <a:effectLst/>
                <a:latin typeface="Noto Sans SC"/>
              </a:rPr>
              <a:t>cùng</a:t>
            </a:r>
            <a:r>
              <a:rPr lang="en-US" dirty="0">
                <a:solidFill>
                  <a:srgbClr val="000000"/>
                </a:solidFill>
                <a:effectLst/>
                <a:latin typeface="Noto Sans SC"/>
              </a:rPr>
              <a:t> </a:t>
            </a:r>
            <a:r>
              <a:rPr lang="en-US" dirty="0" err="1">
                <a:solidFill>
                  <a:srgbClr val="000000"/>
                </a:solidFill>
                <a:effectLst/>
                <a:latin typeface="Noto Sans SC"/>
              </a:rPr>
              <a:t>thống</a:t>
            </a:r>
            <a:r>
              <a:rPr lang="en-US" dirty="0">
                <a:solidFill>
                  <a:srgbClr val="000000"/>
                </a:solidFill>
                <a:effectLst/>
                <a:latin typeface="Noto Sans SC"/>
              </a:rPr>
              <a:t> </a:t>
            </a:r>
            <a:r>
              <a:rPr lang="en-US" dirty="0" err="1">
                <a:solidFill>
                  <a:srgbClr val="000000"/>
                </a:solidFill>
                <a:effectLst/>
                <a:latin typeface="Noto Sans SC"/>
              </a:rPr>
              <a:t>nhất</a:t>
            </a:r>
            <a:r>
              <a:rPr lang="en-US" dirty="0">
                <a:solidFill>
                  <a:srgbClr val="000000"/>
                </a:solidFill>
                <a:effectLst/>
                <a:latin typeface="Noto Sans SC"/>
              </a:rPr>
              <a:t> </a:t>
            </a:r>
            <a:r>
              <a:rPr lang="en-US" dirty="0" err="1">
                <a:solidFill>
                  <a:srgbClr val="000000"/>
                </a:solidFill>
                <a:effectLst/>
                <a:latin typeface="Noto Sans SC"/>
              </a:rPr>
              <a:t>tiến</a:t>
            </a:r>
            <a:r>
              <a:rPr lang="en-US" dirty="0">
                <a:solidFill>
                  <a:srgbClr val="000000"/>
                </a:solidFill>
                <a:effectLst/>
                <a:latin typeface="Noto Sans SC"/>
              </a:rPr>
              <a:t> </a:t>
            </a:r>
            <a:r>
              <a:rPr lang="en-US" dirty="0" err="1">
                <a:solidFill>
                  <a:srgbClr val="000000"/>
                </a:solidFill>
                <a:effectLst/>
                <a:latin typeface="Noto Sans SC"/>
              </a:rPr>
              <a:t>độ</a:t>
            </a:r>
            <a:r>
              <a:rPr lang="en-US" dirty="0">
                <a:solidFill>
                  <a:srgbClr val="000000"/>
                </a:solidFill>
                <a:effectLst/>
                <a:latin typeface="Noto Sans SC"/>
              </a:rPr>
              <a:t> </a:t>
            </a:r>
            <a:r>
              <a:rPr lang="en-US" dirty="0" err="1">
                <a:solidFill>
                  <a:srgbClr val="000000"/>
                </a:solidFill>
                <a:effectLst/>
                <a:latin typeface="Noto Sans SC"/>
              </a:rPr>
              <a:t>thực</a:t>
            </a:r>
            <a:r>
              <a:rPr lang="en-US" dirty="0">
                <a:solidFill>
                  <a:srgbClr val="000000"/>
                </a:solidFill>
                <a:effectLst/>
                <a:latin typeface="Noto Sans SC"/>
              </a:rPr>
              <a:t> </a:t>
            </a:r>
            <a:r>
              <a:rPr lang="en-US" dirty="0" err="1">
                <a:solidFill>
                  <a:srgbClr val="000000"/>
                </a:solidFill>
                <a:effectLst/>
                <a:latin typeface="Noto Sans SC"/>
              </a:rPr>
              <a:t>hiện</a:t>
            </a:r>
            <a:r>
              <a:rPr lang="en-US" dirty="0">
                <a:solidFill>
                  <a:srgbClr val="000000"/>
                </a:solidFill>
                <a:effectLst/>
                <a:latin typeface="Noto Sans SC"/>
              </a:rPr>
              <a:t> </a:t>
            </a:r>
            <a:r>
              <a:rPr lang="en-US" dirty="0" err="1">
                <a:solidFill>
                  <a:srgbClr val="000000"/>
                </a:solidFill>
                <a:effectLst/>
                <a:latin typeface="Noto Sans SC"/>
              </a:rPr>
              <a:t>dự</a:t>
            </a:r>
            <a:r>
              <a:rPr lang="en-US" dirty="0">
                <a:solidFill>
                  <a:srgbClr val="000000"/>
                </a:solidFill>
                <a:effectLst/>
                <a:latin typeface="Noto Sans SC"/>
              </a:rPr>
              <a:t> </a:t>
            </a:r>
            <a:r>
              <a:rPr lang="en-US" dirty="0" err="1">
                <a:solidFill>
                  <a:srgbClr val="000000"/>
                </a:solidFill>
                <a:effectLst/>
                <a:latin typeface="Noto Sans SC"/>
              </a:rPr>
              <a:t>án</a:t>
            </a:r>
            <a:r>
              <a:rPr lang="en-US" dirty="0">
                <a:solidFill>
                  <a:srgbClr val="000000"/>
                </a:solidFill>
                <a:effectLst/>
                <a:latin typeface="Noto Sans SC"/>
              </a:rPr>
              <a:t>.</a:t>
            </a:r>
            <a:endParaRPr lang="en-US" dirty="0">
              <a:effectLst/>
            </a:endParaRPr>
          </a:p>
        </p:txBody>
      </p:sp>
    </p:spTree>
    <p:extLst>
      <p:ext uri="{BB962C8B-B14F-4D97-AF65-F5344CB8AC3E}">
        <p14:creationId xmlns:p14="http://schemas.microsoft.com/office/powerpoint/2010/main" val="1902842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728B9-2466-581E-13F5-0D1F47C3849F}"/>
              </a:ext>
            </a:extLst>
          </p:cNvPr>
          <p:cNvSpPr>
            <a:spLocks noGrp="1"/>
          </p:cNvSpPr>
          <p:nvPr>
            <p:ph type="title"/>
          </p:nvPr>
        </p:nvSpPr>
        <p:spPr/>
        <p:txBody>
          <a:bodyPr>
            <a:normAutofit/>
          </a:bodyPr>
          <a:lstStyle/>
          <a:p>
            <a:r>
              <a:rPr lang="en-US" b="1" dirty="0" err="1"/>
              <a:t>Hạn</a:t>
            </a:r>
            <a:r>
              <a:rPr lang="en-US" b="1" dirty="0"/>
              <a:t> </a:t>
            </a:r>
            <a:r>
              <a:rPr lang="en-US" b="1" dirty="0" err="1"/>
              <a:t>chế</a:t>
            </a:r>
            <a:endParaRPr lang="en-US" dirty="0"/>
          </a:p>
        </p:txBody>
      </p:sp>
      <p:sp>
        <p:nvSpPr>
          <p:cNvPr id="6" name="Slide Number Placeholder 5">
            <a:extLst>
              <a:ext uri="{FF2B5EF4-FFF2-40B4-BE49-F238E27FC236}">
                <a16:creationId xmlns:a16="http://schemas.microsoft.com/office/drawing/2014/main" id="{0064E301-7F53-257D-E3F9-4323CC61DD1D}"/>
              </a:ext>
            </a:extLst>
          </p:cNvPr>
          <p:cNvSpPr>
            <a:spLocks noGrp="1"/>
          </p:cNvSpPr>
          <p:nvPr>
            <p:ph type="sldNum" sz="quarter" idx="12"/>
          </p:nvPr>
        </p:nvSpPr>
        <p:spPr/>
        <p:txBody>
          <a:bodyPr/>
          <a:lstStyle/>
          <a:p>
            <a:fld id="{6C56B8FA-5C00-4693-8C7F-3776FF570F07}" type="slidenum">
              <a:rPr lang="en-US" smtClean="0"/>
              <a:t>18</a:t>
            </a:fld>
            <a:endParaRPr lang="en-US"/>
          </a:p>
        </p:txBody>
      </p:sp>
      <p:sp>
        <p:nvSpPr>
          <p:cNvPr id="8" name="TextBox 7">
            <a:extLst>
              <a:ext uri="{FF2B5EF4-FFF2-40B4-BE49-F238E27FC236}">
                <a16:creationId xmlns:a16="http://schemas.microsoft.com/office/drawing/2014/main" id="{40B593A4-423D-0529-6F80-A35F3F6CA1E9}"/>
              </a:ext>
            </a:extLst>
          </p:cNvPr>
          <p:cNvSpPr txBox="1"/>
          <p:nvPr/>
        </p:nvSpPr>
        <p:spPr>
          <a:xfrm>
            <a:off x="2897932" y="2204945"/>
            <a:ext cx="6097554" cy="461665"/>
          </a:xfrm>
          <a:prstGeom prst="rect">
            <a:avLst/>
          </a:prstGeom>
          <a:noFill/>
        </p:spPr>
        <p:txBody>
          <a:bodyPr wrap="square">
            <a:spAutoFit/>
          </a:bodyPr>
          <a:lstStyle/>
          <a:p>
            <a:pPr>
              <a:buNone/>
            </a:pPr>
            <a:r>
              <a:rPr lang="en-US" sz="2400" b="1" dirty="0" err="1">
                <a:solidFill>
                  <a:srgbClr val="226DF6"/>
                </a:solidFill>
                <a:effectLst/>
                <a:latin typeface="Noto Sans SC"/>
              </a:rPr>
              <a:t>Thiếu</a:t>
            </a:r>
            <a:r>
              <a:rPr lang="en-US" sz="2400" b="1" dirty="0">
                <a:solidFill>
                  <a:srgbClr val="226DF6"/>
                </a:solidFill>
                <a:effectLst/>
                <a:latin typeface="Noto Sans SC"/>
              </a:rPr>
              <a:t> </a:t>
            </a:r>
            <a:r>
              <a:rPr lang="en-US" sz="2400" b="1" dirty="0" err="1">
                <a:solidFill>
                  <a:srgbClr val="226DF6"/>
                </a:solidFill>
                <a:effectLst/>
                <a:latin typeface="Noto Sans SC"/>
              </a:rPr>
              <a:t>sự</a:t>
            </a:r>
            <a:r>
              <a:rPr lang="en-US" sz="2400" b="1" dirty="0">
                <a:solidFill>
                  <a:srgbClr val="226DF6"/>
                </a:solidFill>
                <a:effectLst/>
                <a:latin typeface="Noto Sans SC"/>
              </a:rPr>
              <a:t> so </a:t>
            </a:r>
            <a:r>
              <a:rPr lang="en-US" sz="2400" b="1" dirty="0" err="1">
                <a:solidFill>
                  <a:srgbClr val="226DF6"/>
                </a:solidFill>
                <a:effectLst/>
                <a:latin typeface="Noto Sans SC"/>
              </a:rPr>
              <a:t>sánh</a:t>
            </a:r>
            <a:r>
              <a:rPr lang="en-US" sz="2400" b="1" dirty="0">
                <a:solidFill>
                  <a:srgbClr val="226DF6"/>
                </a:solidFill>
                <a:effectLst/>
                <a:latin typeface="Noto Sans SC"/>
              </a:rPr>
              <a:t> </a:t>
            </a:r>
            <a:r>
              <a:rPr lang="en-US" sz="2400" b="1" dirty="0" err="1">
                <a:solidFill>
                  <a:srgbClr val="226DF6"/>
                </a:solidFill>
                <a:effectLst/>
                <a:latin typeface="Noto Sans SC"/>
              </a:rPr>
              <a:t>trực</a:t>
            </a:r>
            <a:r>
              <a:rPr lang="en-US" sz="2400" b="1" dirty="0">
                <a:solidFill>
                  <a:srgbClr val="226DF6"/>
                </a:solidFill>
                <a:effectLst/>
                <a:latin typeface="Noto Sans SC"/>
              </a:rPr>
              <a:t> </a:t>
            </a:r>
            <a:r>
              <a:rPr lang="en-US" sz="2400" b="1" dirty="0" err="1">
                <a:solidFill>
                  <a:srgbClr val="226DF6"/>
                </a:solidFill>
                <a:effectLst/>
                <a:latin typeface="Noto Sans SC"/>
              </a:rPr>
              <a:t>tiếp</a:t>
            </a:r>
            <a:r>
              <a:rPr lang="en-US" sz="2400" b="1" dirty="0">
                <a:solidFill>
                  <a:srgbClr val="226DF6"/>
                </a:solidFill>
                <a:effectLst/>
                <a:latin typeface="Noto Sans SC"/>
              </a:rPr>
              <a:t> </a:t>
            </a:r>
            <a:r>
              <a:rPr lang="en-US" sz="2400" b="1" dirty="0" err="1">
                <a:solidFill>
                  <a:srgbClr val="226DF6"/>
                </a:solidFill>
                <a:effectLst/>
                <a:latin typeface="Noto Sans SC"/>
              </a:rPr>
              <a:t>giữa</a:t>
            </a:r>
            <a:r>
              <a:rPr lang="en-US" sz="2400" b="1" dirty="0">
                <a:solidFill>
                  <a:srgbClr val="226DF6"/>
                </a:solidFill>
                <a:effectLst/>
                <a:latin typeface="Noto Sans SC"/>
              </a:rPr>
              <a:t> </a:t>
            </a:r>
            <a:r>
              <a:rPr lang="en-US" sz="2400" b="1" dirty="0" err="1">
                <a:solidFill>
                  <a:srgbClr val="226DF6"/>
                </a:solidFill>
                <a:effectLst/>
                <a:latin typeface="Noto Sans SC"/>
              </a:rPr>
              <a:t>các</a:t>
            </a:r>
            <a:r>
              <a:rPr lang="en-US" sz="2400" b="1" dirty="0">
                <a:solidFill>
                  <a:srgbClr val="226DF6"/>
                </a:solidFill>
                <a:effectLst/>
                <a:latin typeface="Noto Sans SC"/>
              </a:rPr>
              <a:t> </a:t>
            </a:r>
            <a:r>
              <a:rPr lang="en-US" sz="2400" b="1" dirty="0" err="1">
                <a:solidFill>
                  <a:srgbClr val="226DF6"/>
                </a:solidFill>
                <a:effectLst/>
                <a:latin typeface="Noto Sans SC"/>
              </a:rPr>
              <a:t>thuật</a:t>
            </a:r>
            <a:r>
              <a:rPr lang="en-US" sz="2400" b="1" dirty="0">
                <a:solidFill>
                  <a:srgbClr val="226DF6"/>
                </a:solidFill>
                <a:effectLst/>
                <a:latin typeface="Noto Sans SC"/>
              </a:rPr>
              <a:t> </a:t>
            </a:r>
            <a:r>
              <a:rPr lang="en-US" sz="2400" b="1" dirty="0" err="1">
                <a:solidFill>
                  <a:srgbClr val="226DF6"/>
                </a:solidFill>
                <a:effectLst/>
                <a:latin typeface="Noto Sans SC"/>
              </a:rPr>
              <a:t>toán</a:t>
            </a:r>
            <a:endParaRPr lang="en-US" sz="2400" dirty="0">
              <a:effectLst/>
            </a:endParaRPr>
          </a:p>
        </p:txBody>
      </p:sp>
      <p:sp>
        <p:nvSpPr>
          <p:cNvPr id="10" name="TextBox 9">
            <a:extLst>
              <a:ext uri="{FF2B5EF4-FFF2-40B4-BE49-F238E27FC236}">
                <a16:creationId xmlns:a16="http://schemas.microsoft.com/office/drawing/2014/main" id="{96FC0D71-8399-4A3C-C9AB-595EB316382F}"/>
              </a:ext>
            </a:extLst>
          </p:cNvPr>
          <p:cNvSpPr txBox="1"/>
          <p:nvPr/>
        </p:nvSpPr>
        <p:spPr>
          <a:xfrm>
            <a:off x="2897932" y="2715409"/>
            <a:ext cx="8455868" cy="646331"/>
          </a:xfrm>
          <a:prstGeom prst="rect">
            <a:avLst/>
          </a:prstGeom>
          <a:noFill/>
        </p:spPr>
        <p:txBody>
          <a:bodyPr wrap="square">
            <a:spAutoFit/>
          </a:bodyPr>
          <a:lstStyle/>
          <a:p>
            <a:pPr algn="just">
              <a:buNone/>
            </a:pPr>
            <a:r>
              <a:rPr lang="vi-VN" dirty="0">
                <a:solidFill>
                  <a:srgbClr val="000000"/>
                </a:solidFill>
                <a:effectLst/>
                <a:latin typeface="Noto Sans SC"/>
              </a:rPr>
              <a:t>Ứng dụng hiện tại chưa cung cấp tính năng để trực tiếp so sánh hiệu suất và ưu nhược điểm giữa thuật toán SJF và Priority, gây hạn chế trong việc phân tích chi tiết.</a:t>
            </a:r>
            <a:endParaRPr lang="vi-VN" dirty="0">
              <a:effectLst/>
            </a:endParaRPr>
          </a:p>
        </p:txBody>
      </p:sp>
      <p:cxnSp>
        <p:nvCxnSpPr>
          <p:cNvPr id="12" name="Straight Connector 11">
            <a:extLst>
              <a:ext uri="{FF2B5EF4-FFF2-40B4-BE49-F238E27FC236}">
                <a16:creationId xmlns:a16="http://schemas.microsoft.com/office/drawing/2014/main" id="{E50D4FD3-84EF-CE9A-09F0-B11EFE0ABE63}"/>
              </a:ext>
            </a:extLst>
          </p:cNvPr>
          <p:cNvCxnSpPr>
            <a:cxnSpLocks/>
          </p:cNvCxnSpPr>
          <p:nvPr/>
        </p:nvCxnSpPr>
        <p:spPr>
          <a:xfrm>
            <a:off x="3004457" y="3694923"/>
            <a:ext cx="9187543"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F174B653-D49B-6EE9-B497-A62F8C2526FE}"/>
              </a:ext>
            </a:extLst>
          </p:cNvPr>
          <p:cNvSpPr txBox="1"/>
          <p:nvPr/>
        </p:nvSpPr>
        <p:spPr>
          <a:xfrm>
            <a:off x="1183432" y="4105669"/>
            <a:ext cx="6097554" cy="461665"/>
          </a:xfrm>
          <a:prstGeom prst="rect">
            <a:avLst/>
          </a:prstGeom>
          <a:noFill/>
        </p:spPr>
        <p:txBody>
          <a:bodyPr wrap="square">
            <a:spAutoFit/>
          </a:bodyPr>
          <a:lstStyle/>
          <a:p>
            <a:pPr>
              <a:buNone/>
            </a:pPr>
            <a:r>
              <a:rPr lang="vi-VN" sz="2400" b="1" dirty="0">
                <a:solidFill>
                  <a:srgbClr val="226DF6"/>
                </a:solidFill>
                <a:effectLst/>
                <a:latin typeface="Noto Sans SC"/>
              </a:rPr>
              <a:t>Các tính năng giao diện người dùng nâng cao</a:t>
            </a:r>
            <a:endParaRPr lang="vi-VN" sz="2400" dirty="0">
              <a:effectLst/>
            </a:endParaRPr>
          </a:p>
        </p:txBody>
      </p:sp>
      <p:sp>
        <p:nvSpPr>
          <p:cNvPr id="16" name="TextBox 15">
            <a:extLst>
              <a:ext uri="{FF2B5EF4-FFF2-40B4-BE49-F238E27FC236}">
                <a16:creationId xmlns:a16="http://schemas.microsoft.com/office/drawing/2014/main" id="{BFFD7632-A1EC-EEF3-C309-6B2594AB0289}"/>
              </a:ext>
            </a:extLst>
          </p:cNvPr>
          <p:cNvSpPr txBox="1"/>
          <p:nvPr/>
        </p:nvSpPr>
        <p:spPr>
          <a:xfrm>
            <a:off x="1183431" y="4567334"/>
            <a:ext cx="8445759" cy="923330"/>
          </a:xfrm>
          <a:prstGeom prst="rect">
            <a:avLst/>
          </a:prstGeom>
          <a:noFill/>
        </p:spPr>
        <p:txBody>
          <a:bodyPr wrap="square">
            <a:spAutoFit/>
          </a:bodyPr>
          <a:lstStyle/>
          <a:p>
            <a:pPr algn="just">
              <a:buNone/>
            </a:pPr>
            <a:r>
              <a:rPr lang="vi-VN" dirty="0">
                <a:solidFill>
                  <a:srgbClr val="000000"/>
                </a:solidFill>
                <a:effectLst/>
                <a:latin typeface="Noto Sans SC"/>
              </a:rPr>
              <a:t>Giao diện người dùng của ứng dụng còn đơn giản, chưa tích hợp các tính năng như tùy chỉnh tham số thuật toán, hiển thị so sánh bằng biểu đồ nâng cao hoặc sửa đổi trực tiếp từ giao diện.</a:t>
            </a:r>
            <a:endParaRPr lang="vi-VN" dirty="0">
              <a:effectLst/>
            </a:endParaRPr>
          </a:p>
        </p:txBody>
      </p:sp>
      <p:cxnSp>
        <p:nvCxnSpPr>
          <p:cNvPr id="17" name="Straight Connector 16">
            <a:extLst>
              <a:ext uri="{FF2B5EF4-FFF2-40B4-BE49-F238E27FC236}">
                <a16:creationId xmlns:a16="http://schemas.microsoft.com/office/drawing/2014/main" id="{6661574D-39E1-066A-9B0D-2125F1ED202A}"/>
              </a:ext>
            </a:extLst>
          </p:cNvPr>
          <p:cNvCxnSpPr>
            <a:cxnSpLocks/>
          </p:cNvCxnSpPr>
          <p:nvPr/>
        </p:nvCxnSpPr>
        <p:spPr>
          <a:xfrm>
            <a:off x="1290734" y="5607634"/>
            <a:ext cx="10901266"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492226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B97D8-B0CB-4A4F-598F-6D59B3760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F70816-77A9-F60C-CC3A-50B0EB91FDC4}"/>
              </a:ext>
            </a:extLst>
          </p:cNvPr>
          <p:cNvSpPr>
            <a:spLocks noGrp="1"/>
          </p:cNvSpPr>
          <p:nvPr>
            <p:ph type="title"/>
          </p:nvPr>
        </p:nvSpPr>
        <p:spPr>
          <a:xfrm>
            <a:off x="4124131" y="4699219"/>
            <a:ext cx="6988239" cy="1272373"/>
          </a:xfrm>
        </p:spPr>
        <p:txBody>
          <a:bodyPr>
            <a:normAutofit/>
          </a:bodyPr>
          <a:lstStyle/>
          <a:p>
            <a:pPr algn="r"/>
            <a:r>
              <a:rPr lang="en-US" b="1" dirty="0" err="1"/>
              <a:t>Phần</a:t>
            </a:r>
            <a:r>
              <a:rPr lang="en-US" b="1" dirty="0"/>
              <a:t> </a:t>
            </a:r>
            <a:r>
              <a:rPr lang="en-US" b="1" dirty="0" err="1"/>
              <a:t>kết</a:t>
            </a:r>
            <a:r>
              <a:rPr lang="en-US" b="1" dirty="0"/>
              <a:t> </a:t>
            </a:r>
            <a:r>
              <a:rPr lang="en-US" b="1" dirty="0" err="1"/>
              <a:t>luận</a:t>
            </a:r>
            <a:endParaRPr lang="en-US" dirty="0">
              <a:effectLst/>
            </a:endParaRPr>
          </a:p>
        </p:txBody>
      </p:sp>
      <p:sp>
        <p:nvSpPr>
          <p:cNvPr id="4" name="Date Placeholder 3">
            <a:extLst>
              <a:ext uri="{FF2B5EF4-FFF2-40B4-BE49-F238E27FC236}">
                <a16:creationId xmlns:a16="http://schemas.microsoft.com/office/drawing/2014/main" id="{49C3F32B-5F96-2FB1-4BFA-00C790FC17D6}"/>
              </a:ext>
            </a:extLst>
          </p:cNvPr>
          <p:cNvSpPr>
            <a:spLocks noGrp="1"/>
          </p:cNvSpPr>
          <p:nvPr>
            <p:ph type="dt" sz="half" idx="10"/>
          </p:nvPr>
        </p:nvSpPr>
        <p:spPr/>
        <p:txBody>
          <a:bodyPr/>
          <a:lstStyle/>
          <a:p>
            <a:fld id="{F96A87E1-9421-4CB4-9C4B-92F8E5D00273}" type="datetime1">
              <a:rPr lang="en-US" smtClean="0"/>
              <a:t>4/14/2026</a:t>
            </a:fld>
            <a:endParaRPr lang="en-US"/>
          </a:p>
        </p:txBody>
      </p:sp>
      <p:sp>
        <p:nvSpPr>
          <p:cNvPr id="6" name="Slide Number Placeholder 5">
            <a:extLst>
              <a:ext uri="{FF2B5EF4-FFF2-40B4-BE49-F238E27FC236}">
                <a16:creationId xmlns:a16="http://schemas.microsoft.com/office/drawing/2014/main" id="{FF7AB425-C3ED-1B07-095C-F0F41316E2E3}"/>
              </a:ext>
            </a:extLst>
          </p:cNvPr>
          <p:cNvSpPr>
            <a:spLocks noGrp="1"/>
          </p:cNvSpPr>
          <p:nvPr>
            <p:ph type="sldNum" sz="quarter" idx="12"/>
          </p:nvPr>
        </p:nvSpPr>
        <p:spPr/>
        <p:txBody>
          <a:bodyPr/>
          <a:lstStyle/>
          <a:p>
            <a:fld id="{6C56B8FA-5C00-4693-8C7F-3776FF570F07}" type="slidenum">
              <a:rPr lang="en-US" smtClean="0"/>
              <a:t>19</a:t>
            </a:fld>
            <a:endParaRPr lang="en-US"/>
          </a:p>
        </p:txBody>
      </p:sp>
      <p:sp>
        <p:nvSpPr>
          <p:cNvPr id="7" name="TextBox 6">
            <a:extLst>
              <a:ext uri="{FF2B5EF4-FFF2-40B4-BE49-F238E27FC236}">
                <a16:creationId xmlns:a16="http://schemas.microsoft.com/office/drawing/2014/main" id="{B037B633-441D-E92D-CFC0-DDA9B6934566}"/>
              </a:ext>
            </a:extLst>
          </p:cNvPr>
          <p:cNvSpPr txBox="1"/>
          <p:nvPr/>
        </p:nvSpPr>
        <p:spPr>
          <a:xfrm>
            <a:off x="9647261" y="3999007"/>
            <a:ext cx="968457" cy="1015663"/>
          </a:xfrm>
          <a:prstGeom prst="rect">
            <a:avLst/>
          </a:prstGeom>
          <a:noFill/>
        </p:spPr>
        <p:txBody>
          <a:bodyPr wrap="square" rtlCol="0">
            <a:spAutoFit/>
          </a:bodyPr>
          <a:lstStyle/>
          <a:p>
            <a:r>
              <a:rPr lang="en-US" sz="6000" dirty="0">
                <a:solidFill>
                  <a:schemeClr val="accent1">
                    <a:lumMod val="50000"/>
                  </a:schemeClr>
                </a:solidFill>
              </a:rPr>
              <a:t>06</a:t>
            </a:r>
            <a:endParaRPr lang="en-US" sz="4800" dirty="0">
              <a:solidFill>
                <a:schemeClr val="accent1">
                  <a:lumMod val="50000"/>
                </a:schemeClr>
              </a:solidFill>
            </a:endParaRPr>
          </a:p>
        </p:txBody>
      </p:sp>
    </p:spTree>
    <p:extLst>
      <p:ext uri="{BB962C8B-B14F-4D97-AF65-F5344CB8AC3E}">
        <p14:creationId xmlns:p14="http://schemas.microsoft.com/office/powerpoint/2010/main" val="4051087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A6450-E410-0636-9744-E9012F8C722E}"/>
              </a:ext>
            </a:extLst>
          </p:cNvPr>
          <p:cNvSpPr>
            <a:spLocks noGrp="1"/>
          </p:cNvSpPr>
          <p:nvPr>
            <p:ph type="title"/>
          </p:nvPr>
        </p:nvSpPr>
        <p:spPr/>
        <p:txBody>
          <a:bodyPr>
            <a:normAutofit/>
          </a:bodyPr>
          <a:lstStyle/>
          <a:p>
            <a:r>
              <a:rPr lang="en-US" b="1" dirty="0" err="1"/>
              <a:t>Phần</a:t>
            </a:r>
            <a:r>
              <a:rPr lang="en-US" b="1" dirty="0"/>
              <a:t> </a:t>
            </a:r>
            <a:r>
              <a:rPr lang="en-US" b="1" dirty="0" err="1"/>
              <a:t>kết</a:t>
            </a:r>
            <a:r>
              <a:rPr lang="en-US" b="1" dirty="0"/>
              <a:t> </a:t>
            </a:r>
            <a:r>
              <a:rPr lang="en-US" b="1" dirty="0" err="1"/>
              <a:t>luận</a:t>
            </a:r>
            <a:endParaRPr lang="en-US" dirty="0"/>
          </a:p>
        </p:txBody>
      </p:sp>
      <p:sp>
        <p:nvSpPr>
          <p:cNvPr id="6" name="Slide Number Placeholder 5">
            <a:extLst>
              <a:ext uri="{FF2B5EF4-FFF2-40B4-BE49-F238E27FC236}">
                <a16:creationId xmlns:a16="http://schemas.microsoft.com/office/drawing/2014/main" id="{76116EED-950B-1E8F-2DEA-B015B93C8909}"/>
              </a:ext>
            </a:extLst>
          </p:cNvPr>
          <p:cNvSpPr>
            <a:spLocks noGrp="1"/>
          </p:cNvSpPr>
          <p:nvPr>
            <p:ph type="sldNum" sz="quarter" idx="12"/>
          </p:nvPr>
        </p:nvSpPr>
        <p:spPr/>
        <p:txBody>
          <a:bodyPr/>
          <a:lstStyle/>
          <a:p>
            <a:fld id="{6C56B8FA-5C00-4693-8C7F-3776FF570F07}" type="slidenum">
              <a:rPr lang="en-US" smtClean="0"/>
              <a:t>20</a:t>
            </a:fld>
            <a:endParaRPr lang="en-US"/>
          </a:p>
        </p:txBody>
      </p:sp>
      <p:pic>
        <p:nvPicPr>
          <p:cNvPr id="2050" name="Picture 2" descr="CPU Scheduling Algorithms. By: Archis Khuspe, Agnibha Sarkar… | by Archis  Khuspe | Medium">
            <a:extLst>
              <a:ext uri="{FF2B5EF4-FFF2-40B4-BE49-F238E27FC236}">
                <a16:creationId xmlns:a16="http://schemas.microsoft.com/office/drawing/2014/main" id="{5D4ACD26-B108-2D1A-9594-E0C69A69F8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3400" y="1814748"/>
            <a:ext cx="3335207" cy="3502729"/>
          </a:xfrm>
          <a:prstGeom prst="rect">
            <a:avLst/>
          </a:prstGeom>
          <a:noFill/>
          <a:extLst>
            <a:ext uri="{909E8E84-426E-40DD-AFC4-6F175D3DCCD1}">
              <a14:hiddenFill xmlns:a14="http://schemas.microsoft.com/office/drawing/2010/main">
                <a:solidFill>
                  <a:srgbClr val="FFFFFF"/>
                </a:solidFill>
              </a14:hiddenFill>
            </a:ext>
          </a:extLst>
        </p:spPr>
      </p:pic>
      <p:sp>
        <p:nvSpPr>
          <p:cNvPr id="7" name="Flowchart: Connector 6">
            <a:extLst>
              <a:ext uri="{FF2B5EF4-FFF2-40B4-BE49-F238E27FC236}">
                <a16:creationId xmlns:a16="http://schemas.microsoft.com/office/drawing/2014/main" id="{05F650D2-D16A-F9A1-16C5-A07BDD945DD6}"/>
              </a:ext>
            </a:extLst>
          </p:cNvPr>
          <p:cNvSpPr/>
          <p:nvPr/>
        </p:nvSpPr>
        <p:spPr>
          <a:xfrm>
            <a:off x="597159" y="2117069"/>
            <a:ext cx="793102" cy="767410"/>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1</a:t>
            </a:r>
          </a:p>
        </p:txBody>
      </p:sp>
      <p:sp>
        <p:nvSpPr>
          <p:cNvPr id="9" name="TextBox 8">
            <a:extLst>
              <a:ext uri="{FF2B5EF4-FFF2-40B4-BE49-F238E27FC236}">
                <a16:creationId xmlns:a16="http://schemas.microsoft.com/office/drawing/2014/main" id="{6F3DD5B6-ACAD-A6ED-4475-9453851CC4BB}"/>
              </a:ext>
            </a:extLst>
          </p:cNvPr>
          <p:cNvSpPr txBox="1"/>
          <p:nvPr/>
        </p:nvSpPr>
        <p:spPr>
          <a:xfrm>
            <a:off x="1390261" y="2078498"/>
            <a:ext cx="6097554" cy="461665"/>
          </a:xfrm>
          <a:prstGeom prst="rect">
            <a:avLst/>
          </a:prstGeom>
          <a:noFill/>
        </p:spPr>
        <p:txBody>
          <a:bodyPr wrap="square">
            <a:spAutoFit/>
          </a:bodyPr>
          <a:lstStyle/>
          <a:p>
            <a:pPr>
              <a:buNone/>
            </a:pPr>
            <a:r>
              <a:rPr lang="vi-VN" sz="2000" b="1" dirty="0">
                <a:solidFill>
                  <a:srgbClr val="226DF6"/>
                </a:solidFill>
                <a:effectLst/>
                <a:latin typeface="Noto Sans SC"/>
              </a:rPr>
              <a:t>Tóm tắt sự thành công của </a:t>
            </a:r>
            <a:r>
              <a:rPr lang="vi-VN" sz="2400" b="1" dirty="0">
                <a:solidFill>
                  <a:srgbClr val="226DF6"/>
                </a:solidFill>
                <a:effectLst/>
                <a:latin typeface="Noto Sans SC"/>
              </a:rPr>
              <a:t>chương</a:t>
            </a:r>
            <a:r>
              <a:rPr lang="vi-VN" sz="2000" b="1" dirty="0">
                <a:solidFill>
                  <a:srgbClr val="226DF6"/>
                </a:solidFill>
                <a:effectLst/>
                <a:latin typeface="Noto Sans SC"/>
              </a:rPr>
              <a:t> trình</a:t>
            </a:r>
            <a:endParaRPr lang="vi-VN" sz="2000" dirty="0">
              <a:effectLst/>
            </a:endParaRPr>
          </a:p>
        </p:txBody>
      </p:sp>
      <p:sp>
        <p:nvSpPr>
          <p:cNvPr id="11" name="TextBox 10">
            <a:extLst>
              <a:ext uri="{FF2B5EF4-FFF2-40B4-BE49-F238E27FC236}">
                <a16:creationId xmlns:a16="http://schemas.microsoft.com/office/drawing/2014/main" id="{9E23D37E-FF63-9AEF-FB4C-E4CA5D748A5C}"/>
              </a:ext>
            </a:extLst>
          </p:cNvPr>
          <p:cNvSpPr txBox="1"/>
          <p:nvPr/>
        </p:nvSpPr>
        <p:spPr>
          <a:xfrm>
            <a:off x="1447023" y="2447830"/>
            <a:ext cx="6577304" cy="830997"/>
          </a:xfrm>
          <a:prstGeom prst="rect">
            <a:avLst/>
          </a:prstGeom>
          <a:noFill/>
        </p:spPr>
        <p:txBody>
          <a:bodyPr wrap="square">
            <a:spAutoFit/>
          </a:bodyPr>
          <a:lstStyle/>
          <a:p>
            <a:pPr algn="just">
              <a:buNone/>
            </a:pPr>
            <a:r>
              <a:rPr lang="en-US" sz="1600" dirty="0" err="1">
                <a:solidFill>
                  <a:srgbClr val="000000"/>
                </a:solidFill>
                <a:effectLst/>
                <a:latin typeface="Noto Sans SC"/>
              </a:rPr>
              <a:t>Ứng</a:t>
            </a:r>
            <a:r>
              <a:rPr lang="en-US" sz="1600" dirty="0">
                <a:solidFill>
                  <a:srgbClr val="000000"/>
                </a:solidFill>
                <a:effectLst/>
                <a:latin typeface="Noto Sans SC"/>
              </a:rPr>
              <a:t> </a:t>
            </a:r>
            <a:r>
              <a:rPr lang="en-US" sz="1600" dirty="0" err="1">
                <a:solidFill>
                  <a:srgbClr val="000000"/>
                </a:solidFill>
                <a:effectLst/>
                <a:latin typeface="Noto Sans SC"/>
              </a:rPr>
              <a:t>dụng</a:t>
            </a:r>
            <a:r>
              <a:rPr lang="en-US" sz="1600" dirty="0">
                <a:solidFill>
                  <a:srgbClr val="000000"/>
                </a:solidFill>
                <a:effectLst/>
                <a:latin typeface="Noto Sans SC"/>
              </a:rPr>
              <a:t> </a:t>
            </a:r>
            <a:r>
              <a:rPr lang="en-US" sz="1600" dirty="0" err="1">
                <a:solidFill>
                  <a:srgbClr val="000000"/>
                </a:solidFill>
                <a:effectLst/>
                <a:latin typeface="Noto Sans SC"/>
              </a:rPr>
              <a:t>đã</a:t>
            </a:r>
            <a:r>
              <a:rPr lang="en-US" sz="1600" dirty="0">
                <a:solidFill>
                  <a:srgbClr val="000000"/>
                </a:solidFill>
                <a:effectLst/>
                <a:latin typeface="Noto Sans SC"/>
              </a:rPr>
              <a:t> </a:t>
            </a:r>
            <a:r>
              <a:rPr lang="en-US" sz="1600" dirty="0" err="1">
                <a:solidFill>
                  <a:srgbClr val="000000"/>
                </a:solidFill>
                <a:effectLst/>
                <a:latin typeface="Noto Sans SC"/>
              </a:rPr>
              <a:t>thực</a:t>
            </a:r>
            <a:r>
              <a:rPr lang="en-US" sz="1600" dirty="0">
                <a:solidFill>
                  <a:srgbClr val="000000"/>
                </a:solidFill>
                <a:effectLst/>
                <a:latin typeface="Noto Sans SC"/>
              </a:rPr>
              <a:t> </a:t>
            </a:r>
            <a:r>
              <a:rPr lang="en-US" sz="1600" dirty="0" err="1">
                <a:solidFill>
                  <a:srgbClr val="000000"/>
                </a:solidFill>
                <a:effectLst/>
                <a:latin typeface="Noto Sans SC"/>
              </a:rPr>
              <a:t>hiện</a:t>
            </a:r>
            <a:r>
              <a:rPr lang="en-US" sz="1600" dirty="0">
                <a:solidFill>
                  <a:srgbClr val="000000"/>
                </a:solidFill>
                <a:effectLst/>
                <a:latin typeface="Noto Sans SC"/>
              </a:rPr>
              <a:t> </a:t>
            </a:r>
            <a:r>
              <a:rPr lang="en-US" sz="1600" dirty="0" err="1">
                <a:solidFill>
                  <a:srgbClr val="000000"/>
                </a:solidFill>
                <a:effectLst/>
                <a:latin typeface="Noto Sans SC"/>
              </a:rPr>
              <a:t>thành</a:t>
            </a:r>
            <a:r>
              <a:rPr lang="en-US" sz="1600" dirty="0">
                <a:solidFill>
                  <a:srgbClr val="000000"/>
                </a:solidFill>
                <a:effectLst/>
                <a:latin typeface="Noto Sans SC"/>
              </a:rPr>
              <a:t> </a:t>
            </a:r>
            <a:r>
              <a:rPr lang="en-US" sz="1600" dirty="0" err="1">
                <a:solidFill>
                  <a:srgbClr val="000000"/>
                </a:solidFill>
                <a:effectLst/>
                <a:latin typeface="Noto Sans SC"/>
              </a:rPr>
              <a:t>công</a:t>
            </a:r>
            <a:r>
              <a:rPr lang="en-US" sz="1600" dirty="0">
                <a:solidFill>
                  <a:srgbClr val="000000"/>
                </a:solidFill>
                <a:effectLst/>
                <a:latin typeface="Noto Sans SC"/>
              </a:rPr>
              <a:t> </a:t>
            </a:r>
            <a:r>
              <a:rPr lang="en-US" sz="1600" dirty="0" err="1">
                <a:solidFill>
                  <a:srgbClr val="000000"/>
                </a:solidFill>
                <a:effectLst/>
                <a:latin typeface="Noto Sans SC"/>
              </a:rPr>
              <a:t>việc</a:t>
            </a:r>
            <a:r>
              <a:rPr lang="en-US" sz="1600" dirty="0">
                <a:solidFill>
                  <a:srgbClr val="000000"/>
                </a:solidFill>
                <a:effectLst/>
                <a:latin typeface="Noto Sans SC"/>
              </a:rPr>
              <a:t> </a:t>
            </a:r>
            <a:r>
              <a:rPr lang="en-US" sz="1600" dirty="0" err="1">
                <a:solidFill>
                  <a:srgbClr val="000000"/>
                </a:solidFill>
                <a:effectLst/>
                <a:latin typeface="Noto Sans SC"/>
              </a:rPr>
              <a:t>mô</a:t>
            </a:r>
            <a:r>
              <a:rPr lang="en-US" sz="1600" dirty="0">
                <a:solidFill>
                  <a:srgbClr val="000000"/>
                </a:solidFill>
                <a:effectLst/>
                <a:latin typeface="Noto Sans SC"/>
              </a:rPr>
              <a:t> </a:t>
            </a:r>
            <a:r>
              <a:rPr lang="en-US" sz="1600" dirty="0" err="1">
                <a:solidFill>
                  <a:srgbClr val="000000"/>
                </a:solidFill>
                <a:effectLst/>
                <a:latin typeface="Noto Sans SC"/>
              </a:rPr>
              <a:t>phỏng</a:t>
            </a:r>
            <a:r>
              <a:rPr lang="en-US" sz="1600" dirty="0">
                <a:solidFill>
                  <a:srgbClr val="000000"/>
                </a:solidFill>
                <a:effectLst/>
                <a:latin typeface="Noto Sans SC"/>
              </a:rPr>
              <a:t> </a:t>
            </a:r>
            <a:r>
              <a:rPr lang="en-US" sz="1600" dirty="0" err="1">
                <a:solidFill>
                  <a:srgbClr val="000000"/>
                </a:solidFill>
                <a:effectLst/>
                <a:latin typeface="Noto Sans SC"/>
              </a:rPr>
              <a:t>hai</a:t>
            </a:r>
            <a:r>
              <a:rPr lang="en-US" sz="1600" dirty="0">
                <a:solidFill>
                  <a:srgbClr val="000000"/>
                </a:solidFill>
                <a:effectLst/>
                <a:latin typeface="Noto Sans SC"/>
              </a:rPr>
              <a:t> </a:t>
            </a:r>
            <a:r>
              <a:rPr lang="en-US" sz="1600" dirty="0" err="1">
                <a:solidFill>
                  <a:srgbClr val="000000"/>
                </a:solidFill>
                <a:effectLst/>
                <a:latin typeface="Noto Sans SC"/>
              </a:rPr>
              <a:t>thuật</a:t>
            </a:r>
            <a:r>
              <a:rPr lang="en-US" sz="1600" dirty="0">
                <a:solidFill>
                  <a:srgbClr val="000000"/>
                </a:solidFill>
                <a:effectLst/>
                <a:latin typeface="Noto Sans SC"/>
              </a:rPr>
              <a:t> </a:t>
            </a:r>
            <a:r>
              <a:rPr lang="en-US" sz="1600" dirty="0" err="1">
                <a:solidFill>
                  <a:srgbClr val="000000"/>
                </a:solidFill>
                <a:effectLst/>
                <a:latin typeface="Noto Sans SC"/>
              </a:rPr>
              <a:t>toán</a:t>
            </a:r>
            <a:r>
              <a:rPr lang="en-US" sz="1600" dirty="0">
                <a:solidFill>
                  <a:srgbClr val="000000"/>
                </a:solidFill>
                <a:effectLst/>
                <a:latin typeface="Noto Sans SC"/>
              </a:rPr>
              <a:t> </a:t>
            </a:r>
            <a:r>
              <a:rPr lang="en-US" sz="1600" dirty="0" err="1">
                <a:solidFill>
                  <a:srgbClr val="000000"/>
                </a:solidFill>
                <a:effectLst/>
                <a:latin typeface="Noto Sans SC"/>
              </a:rPr>
              <a:t>lập</a:t>
            </a:r>
            <a:r>
              <a:rPr lang="en-US" sz="1600" dirty="0">
                <a:solidFill>
                  <a:srgbClr val="000000"/>
                </a:solidFill>
                <a:effectLst/>
                <a:latin typeface="Noto Sans SC"/>
              </a:rPr>
              <a:t> </a:t>
            </a:r>
            <a:r>
              <a:rPr lang="en-US" sz="1600" dirty="0" err="1">
                <a:solidFill>
                  <a:srgbClr val="000000"/>
                </a:solidFill>
                <a:effectLst/>
                <a:latin typeface="Noto Sans SC"/>
              </a:rPr>
              <a:t>lịch</a:t>
            </a:r>
            <a:r>
              <a:rPr lang="en-US" sz="1600" dirty="0">
                <a:solidFill>
                  <a:srgbClr val="000000"/>
                </a:solidFill>
                <a:effectLst/>
                <a:latin typeface="Noto Sans SC"/>
              </a:rPr>
              <a:t> CPU, </a:t>
            </a:r>
            <a:r>
              <a:rPr lang="en-US" sz="1600" dirty="0" err="1">
                <a:solidFill>
                  <a:srgbClr val="000000"/>
                </a:solidFill>
                <a:effectLst/>
                <a:latin typeface="Noto Sans SC"/>
              </a:rPr>
              <a:t>đáp</a:t>
            </a:r>
            <a:r>
              <a:rPr lang="en-US" sz="1600" dirty="0">
                <a:solidFill>
                  <a:srgbClr val="000000"/>
                </a:solidFill>
                <a:effectLst/>
                <a:latin typeface="Noto Sans SC"/>
              </a:rPr>
              <a:t> </a:t>
            </a:r>
            <a:r>
              <a:rPr lang="en-US" sz="1600" dirty="0" err="1">
                <a:solidFill>
                  <a:srgbClr val="000000"/>
                </a:solidFill>
                <a:effectLst/>
                <a:latin typeface="Noto Sans SC"/>
              </a:rPr>
              <a:t>ứng</a:t>
            </a:r>
            <a:r>
              <a:rPr lang="en-US" sz="1600" dirty="0">
                <a:solidFill>
                  <a:srgbClr val="000000"/>
                </a:solidFill>
                <a:effectLst/>
                <a:latin typeface="Noto Sans SC"/>
              </a:rPr>
              <a:t> </a:t>
            </a:r>
            <a:r>
              <a:rPr lang="en-US" sz="1600" dirty="0" err="1">
                <a:solidFill>
                  <a:srgbClr val="000000"/>
                </a:solidFill>
                <a:effectLst/>
                <a:latin typeface="Noto Sans SC"/>
              </a:rPr>
              <a:t>các</a:t>
            </a:r>
            <a:r>
              <a:rPr lang="en-US" sz="1600" dirty="0">
                <a:solidFill>
                  <a:srgbClr val="000000"/>
                </a:solidFill>
                <a:effectLst/>
                <a:latin typeface="Noto Sans SC"/>
              </a:rPr>
              <a:t> </a:t>
            </a:r>
            <a:r>
              <a:rPr lang="en-US" sz="1600" dirty="0" err="1">
                <a:solidFill>
                  <a:srgbClr val="000000"/>
                </a:solidFill>
                <a:effectLst/>
                <a:latin typeface="Noto Sans SC"/>
              </a:rPr>
              <a:t>mục</a:t>
            </a:r>
            <a:r>
              <a:rPr lang="en-US" sz="1600" dirty="0">
                <a:solidFill>
                  <a:srgbClr val="000000"/>
                </a:solidFill>
                <a:effectLst/>
                <a:latin typeface="Noto Sans SC"/>
              </a:rPr>
              <a:t> </a:t>
            </a:r>
            <a:r>
              <a:rPr lang="en-US" sz="1600" dirty="0" err="1">
                <a:solidFill>
                  <a:srgbClr val="000000"/>
                </a:solidFill>
                <a:effectLst/>
                <a:latin typeface="Noto Sans SC"/>
              </a:rPr>
              <a:t>tiêu</a:t>
            </a:r>
            <a:r>
              <a:rPr lang="en-US" sz="1600" dirty="0">
                <a:solidFill>
                  <a:srgbClr val="000000"/>
                </a:solidFill>
                <a:effectLst/>
                <a:latin typeface="Noto Sans SC"/>
              </a:rPr>
              <a:t> </a:t>
            </a:r>
            <a:r>
              <a:rPr lang="en-US" sz="1600" dirty="0" err="1">
                <a:solidFill>
                  <a:srgbClr val="000000"/>
                </a:solidFill>
                <a:effectLst/>
                <a:latin typeface="Noto Sans SC"/>
              </a:rPr>
              <a:t>đã</a:t>
            </a:r>
            <a:r>
              <a:rPr lang="en-US" sz="1600" dirty="0">
                <a:solidFill>
                  <a:srgbClr val="000000"/>
                </a:solidFill>
                <a:effectLst/>
                <a:latin typeface="Noto Sans SC"/>
              </a:rPr>
              <a:t> </a:t>
            </a:r>
            <a:r>
              <a:rPr lang="en-US" sz="1600" dirty="0" err="1">
                <a:solidFill>
                  <a:srgbClr val="000000"/>
                </a:solidFill>
                <a:effectLst/>
                <a:latin typeface="Noto Sans SC"/>
              </a:rPr>
              <a:t>đề</a:t>
            </a:r>
            <a:r>
              <a:rPr lang="en-US" sz="1600" dirty="0">
                <a:solidFill>
                  <a:srgbClr val="000000"/>
                </a:solidFill>
                <a:effectLst/>
                <a:latin typeface="Noto Sans SC"/>
              </a:rPr>
              <a:t> </a:t>
            </a:r>
            <a:r>
              <a:rPr lang="en-US" sz="1600" dirty="0" err="1">
                <a:solidFill>
                  <a:srgbClr val="000000"/>
                </a:solidFill>
                <a:effectLst/>
                <a:latin typeface="Noto Sans SC"/>
              </a:rPr>
              <a:t>ra</a:t>
            </a:r>
            <a:r>
              <a:rPr lang="en-US" sz="1600" dirty="0">
                <a:solidFill>
                  <a:srgbClr val="000000"/>
                </a:solidFill>
                <a:effectLst/>
                <a:latin typeface="Noto Sans SC"/>
              </a:rPr>
              <a:t> </a:t>
            </a:r>
            <a:r>
              <a:rPr lang="en-US" sz="1600" dirty="0" err="1">
                <a:solidFill>
                  <a:srgbClr val="000000"/>
                </a:solidFill>
                <a:effectLst/>
                <a:latin typeface="Noto Sans SC"/>
              </a:rPr>
              <a:t>và</a:t>
            </a:r>
            <a:r>
              <a:rPr lang="en-US" sz="1600" dirty="0">
                <a:solidFill>
                  <a:srgbClr val="000000"/>
                </a:solidFill>
                <a:effectLst/>
                <a:latin typeface="Noto Sans SC"/>
              </a:rPr>
              <a:t> </a:t>
            </a:r>
            <a:r>
              <a:rPr lang="en-US" sz="1600" dirty="0" err="1">
                <a:solidFill>
                  <a:srgbClr val="000000"/>
                </a:solidFill>
                <a:effectLst/>
                <a:latin typeface="Noto Sans SC"/>
              </a:rPr>
              <a:t>cung</a:t>
            </a:r>
            <a:r>
              <a:rPr lang="en-US" sz="1600" dirty="0">
                <a:solidFill>
                  <a:srgbClr val="000000"/>
                </a:solidFill>
                <a:effectLst/>
                <a:latin typeface="Noto Sans SC"/>
              </a:rPr>
              <a:t> </a:t>
            </a:r>
            <a:r>
              <a:rPr lang="en-US" sz="1600" dirty="0" err="1">
                <a:solidFill>
                  <a:srgbClr val="000000"/>
                </a:solidFill>
                <a:effectLst/>
                <a:latin typeface="Noto Sans SC"/>
              </a:rPr>
              <a:t>cấp</a:t>
            </a:r>
            <a:r>
              <a:rPr lang="en-US" sz="1600" dirty="0">
                <a:solidFill>
                  <a:srgbClr val="000000"/>
                </a:solidFill>
                <a:effectLst/>
                <a:latin typeface="Noto Sans SC"/>
              </a:rPr>
              <a:t> </a:t>
            </a:r>
            <a:r>
              <a:rPr lang="en-US" sz="1600" dirty="0" err="1">
                <a:solidFill>
                  <a:srgbClr val="000000"/>
                </a:solidFill>
                <a:effectLst/>
                <a:latin typeface="Noto Sans SC"/>
              </a:rPr>
              <a:t>dữ</a:t>
            </a:r>
            <a:r>
              <a:rPr lang="en-US" sz="1600" dirty="0">
                <a:solidFill>
                  <a:srgbClr val="000000"/>
                </a:solidFill>
                <a:effectLst/>
                <a:latin typeface="Noto Sans SC"/>
              </a:rPr>
              <a:t> </a:t>
            </a:r>
            <a:r>
              <a:rPr lang="en-US" sz="1600" dirty="0" err="1">
                <a:solidFill>
                  <a:srgbClr val="000000"/>
                </a:solidFill>
                <a:effectLst/>
                <a:latin typeface="Noto Sans SC"/>
              </a:rPr>
              <a:t>liệu</a:t>
            </a:r>
            <a:r>
              <a:rPr lang="en-US" sz="1600" dirty="0">
                <a:solidFill>
                  <a:srgbClr val="000000"/>
                </a:solidFill>
                <a:effectLst/>
                <a:latin typeface="Noto Sans SC"/>
              </a:rPr>
              <a:t> </a:t>
            </a:r>
            <a:r>
              <a:rPr lang="en-US" sz="1600" dirty="0" err="1">
                <a:solidFill>
                  <a:srgbClr val="000000"/>
                </a:solidFill>
                <a:effectLst/>
                <a:latin typeface="Noto Sans SC"/>
              </a:rPr>
              <a:t>kết</a:t>
            </a:r>
            <a:r>
              <a:rPr lang="en-US" sz="1600" dirty="0">
                <a:solidFill>
                  <a:srgbClr val="000000"/>
                </a:solidFill>
                <a:effectLst/>
                <a:latin typeface="Noto Sans SC"/>
              </a:rPr>
              <a:t> </a:t>
            </a:r>
            <a:r>
              <a:rPr lang="en-US" sz="1600" dirty="0" err="1">
                <a:solidFill>
                  <a:srgbClr val="000000"/>
                </a:solidFill>
                <a:effectLst/>
                <a:latin typeface="Noto Sans SC"/>
              </a:rPr>
              <a:t>quả</a:t>
            </a:r>
            <a:r>
              <a:rPr lang="en-US" sz="1600" dirty="0">
                <a:solidFill>
                  <a:srgbClr val="000000"/>
                </a:solidFill>
                <a:effectLst/>
                <a:latin typeface="Noto Sans SC"/>
              </a:rPr>
              <a:t> </a:t>
            </a:r>
            <a:r>
              <a:rPr lang="en-US" sz="1600" dirty="0" err="1">
                <a:solidFill>
                  <a:srgbClr val="000000"/>
                </a:solidFill>
                <a:effectLst/>
                <a:latin typeface="Noto Sans SC"/>
              </a:rPr>
              <a:t>rõ</a:t>
            </a:r>
            <a:r>
              <a:rPr lang="en-US" sz="1600" dirty="0">
                <a:solidFill>
                  <a:srgbClr val="000000"/>
                </a:solidFill>
                <a:effectLst/>
                <a:latin typeface="Noto Sans SC"/>
              </a:rPr>
              <a:t> </a:t>
            </a:r>
            <a:r>
              <a:rPr lang="en-US" sz="1600" dirty="0" err="1">
                <a:solidFill>
                  <a:srgbClr val="000000"/>
                </a:solidFill>
                <a:effectLst/>
                <a:latin typeface="Noto Sans SC"/>
              </a:rPr>
              <a:t>ràng</a:t>
            </a:r>
            <a:r>
              <a:rPr lang="en-US" sz="1600" dirty="0">
                <a:solidFill>
                  <a:srgbClr val="000000"/>
                </a:solidFill>
                <a:effectLst/>
                <a:latin typeface="Noto Sans SC"/>
              </a:rPr>
              <a:t> qua </a:t>
            </a:r>
            <a:r>
              <a:rPr lang="en-US" sz="1600" dirty="0" err="1">
                <a:solidFill>
                  <a:srgbClr val="000000"/>
                </a:solidFill>
                <a:effectLst/>
                <a:latin typeface="Noto Sans SC"/>
              </a:rPr>
              <a:t>biểu</a:t>
            </a:r>
            <a:r>
              <a:rPr lang="en-US" sz="1600" dirty="0">
                <a:solidFill>
                  <a:srgbClr val="000000"/>
                </a:solidFill>
                <a:effectLst/>
                <a:latin typeface="Noto Sans SC"/>
              </a:rPr>
              <a:t> </a:t>
            </a:r>
            <a:r>
              <a:rPr lang="en-US" sz="1600" dirty="0" err="1">
                <a:solidFill>
                  <a:srgbClr val="000000"/>
                </a:solidFill>
                <a:effectLst/>
                <a:latin typeface="Noto Sans SC"/>
              </a:rPr>
              <a:t>đồ</a:t>
            </a:r>
            <a:r>
              <a:rPr lang="en-US" sz="1600" dirty="0">
                <a:solidFill>
                  <a:srgbClr val="000000"/>
                </a:solidFill>
                <a:effectLst/>
                <a:latin typeface="Noto Sans SC"/>
              </a:rPr>
              <a:t> Gantt </a:t>
            </a:r>
            <a:r>
              <a:rPr lang="en-US" sz="1600" dirty="0" err="1">
                <a:solidFill>
                  <a:srgbClr val="000000"/>
                </a:solidFill>
                <a:effectLst/>
                <a:latin typeface="Noto Sans SC"/>
              </a:rPr>
              <a:t>trực</a:t>
            </a:r>
            <a:r>
              <a:rPr lang="en-US" sz="1600" dirty="0">
                <a:solidFill>
                  <a:srgbClr val="000000"/>
                </a:solidFill>
                <a:effectLst/>
                <a:latin typeface="Noto Sans SC"/>
              </a:rPr>
              <a:t> </a:t>
            </a:r>
            <a:r>
              <a:rPr lang="en-US" sz="1600" dirty="0" err="1">
                <a:solidFill>
                  <a:srgbClr val="000000"/>
                </a:solidFill>
                <a:effectLst/>
                <a:latin typeface="Noto Sans SC"/>
              </a:rPr>
              <a:t>quan</a:t>
            </a:r>
            <a:r>
              <a:rPr lang="en-US" sz="1600" dirty="0">
                <a:solidFill>
                  <a:srgbClr val="000000"/>
                </a:solidFill>
                <a:effectLst/>
                <a:latin typeface="Noto Sans SC"/>
              </a:rPr>
              <a:t>.</a:t>
            </a:r>
            <a:endParaRPr lang="en-US" sz="1600" dirty="0">
              <a:effectLst/>
            </a:endParaRPr>
          </a:p>
        </p:txBody>
      </p:sp>
      <p:sp>
        <p:nvSpPr>
          <p:cNvPr id="14" name="Flowchart: Connector 13">
            <a:extLst>
              <a:ext uri="{FF2B5EF4-FFF2-40B4-BE49-F238E27FC236}">
                <a16:creationId xmlns:a16="http://schemas.microsoft.com/office/drawing/2014/main" id="{55C0370A-E77D-825E-958C-438D6A6641DA}"/>
              </a:ext>
            </a:extLst>
          </p:cNvPr>
          <p:cNvSpPr/>
          <p:nvPr/>
        </p:nvSpPr>
        <p:spPr>
          <a:xfrm>
            <a:off x="597159" y="3554363"/>
            <a:ext cx="793102" cy="767410"/>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2</a:t>
            </a:r>
          </a:p>
        </p:txBody>
      </p:sp>
      <p:sp>
        <p:nvSpPr>
          <p:cNvPr id="15" name="Flowchart: Connector 14">
            <a:extLst>
              <a:ext uri="{FF2B5EF4-FFF2-40B4-BE49-F238E27FC236}">
                <a16:creationId xmlns:a16="http://schemas.microsoft.com/office/drawing/2014/main" id="{6869D01D-0906-5383-3499-B2B43FBF5EDE}"/>
              </a:ext>
            </a:extLst>
          </p:cNvPr>
          <p:cNvSpPr/>
          <p:nvPr/>
        </p:nvSpPr>
        <p:spPr>
          <a:xfrm>
            <a:off x="597159" y="4862358"/>
            <a:ext cx="793102" cy="767410"/>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3</a:t>
            </a:r>
          </a:p>
        </p:txBody>
      </p:sp>
      <p:sp>
        <p:nvSpPr>
          <p:cNvPr id="17" name="TextBox 16">
            <a:extLst>
              <a:ext uri="{FF2B5EF4-FFF2-40B4-BE49-F238E27FC236}">
                <a16:creationId xmlns:a16="http://schemas.microsoft.com/office/drawing/2014/main" id="{D54ED15E-7A4C-A85B-4773-8720BD8F57C5}"/>
              </a:ext>
            </a:extLst>
          </p:cNvPr>
          <p:cNvSpPr txBox="1"/>
          <p:nvPr/>
        </p:nvSpPr>
        <p:spPr>
          <a:xfrm>
            <a:off x="1390261" y="3427135"/>
            <a:ext cx="6097554" cy="400110"/>
          </a:xfrm>
          <a:prstGeom prst="rect">
            <a:avLst/>
          </a:prstGeom>
          <a:noFill/>
        </p:spPr>
        <p:txBody>
          <a:bodyPr wrap="square">
            <a:spAutoFit/>
          </a:bodyPr>
          <a:lstStyle/>
          <a:p>
            <a:pPr>
              <a:buNone/>
            </a:pPr>
            <a:r>
              <a:rPr lang="en-US" sz="2000" b="1" dirty="0">
                <a:solidFill>
                  <a:srgbClr val="226DF6"/>
                </a:solidFill>
                <a:effectLst/>
                <a:latin typeface="Noto Sans SC"/>
              </a:rPr>
              <a:t>Minh </a:t>
            </a:r>
            <a:r>
              <a:rPr lang="en-US" sz="2000" b="1" dirty="0" err="1">
                <a:solidFill>
                  <a:srgbClr val="226DF6"/>
                </a:solidFill>
                <a:effectLst/>
                <a:latin typeface="Noto Sans SC"/>
              </a:rPr>
              <a:t>họa</a:t>
            </a:r>
            <a:r>
              <a:rPr lang="en-US" sz="2000" b="1" dirty="0">
                <a:solidFill>
                  <a:srgbClr val="226DF6"/>
                </a:solidFill>
                <a:effectLst/>
                <a:latin typeface="Noto Sans SC"/>
              </a:rPr>
              <a:t> </a:t>
            </a:r>
            <a:r>
              <a:rPr lang="en-US" sz="2000" b="1" dirty="0" err="1">
                <a:solidFill>
                  <a:srgbClr val="226DF6"/>
                </a:solidFill>
                <a:effectLst/>
                <a:latin typeface="Noto Sans SC"/>
              </a:rPr>
              <a:t>trực</a:t>
            </a:r>
            <a:r>
              <a:rPr lang="en-US" sz="2000" b="1" dirty="0">
                <a:solidFill>
                  <a:srgbClr val="226DF6"/>
                </a:solidFill>
                <a:effectLst/>
                <a:latin typeface="Noto Sans SC"/>
              </a:rPr>
              <a:t> </a:t>
            </a:r>
            <a:r>
              <a:rPr lang="en-US" sz="2000" b="1" dirty="0" err="1">
                <a:solidFill>
                  <a:srgbClr val="226DF6"/>
                </a:solidFill>
                <a:effectLst/>
                <a:latin typeface="Noto Sans SC"/>
              </a:rPr>
              <a:t>quan</a:t>
            </a:r>
            <a:r>
              <a:rPr lang="en-US" sz="2000" b="1" dirty="0">
                <a:solidFill>
                  <a:srgbClr val="226DF6"/>
                </a:solidFill>
                <a:effectLst/>
                <a:latin typeface="Noto Sans SC"/>
              </a:rPr>
              <a:t> </a:t>
            </a:r>
            <a:r>
              <a:rPr lang="en-US" sz="2000" b="1" dirty="0" err="1">
                <a:solidFill>
                  <a:srgbClr val="226DF6"/>
                </a:solidFill>
                <a:effectLst/>
                <a:latin typeface="Noto Sans SC"/>
              </a:rPr>
              <a:t>bằng</a:t>
            </a:r>
            <a:r>
              <a:rPr lang="en-US" sz="2000" b="1" dirty="0">
                <a:solidFill>
                  <a:srgbClr val="226DF6"/>
                </a:solidFill>
                <a:effectLst/>
                <a:latin typeface="Noto Sans SC"/>
              </a:rPr>
              <a:t> Gantt Chart</a:t>
            </a:r>
            <a:endParaRPr lang="en-US" sz="2000" dirty="0">
              <a:effectLst/>
            </a:endParaRPr>
          </a:p>
        </p:txBody>
      </p:sp>
      <p:sp>
        <p:nvSpPr>
          <p:cNvPr id="19" name="TextBox 18">
            <a:extLst>
              <a:ext uri="{FF2B5EF4-FFF2-40B4-BE49-F238E27FC236}">
                <a16:creationId xmlns:a16="http://schemas.microsoft.com/office/drawing/2014/main" id="{12DEC1BE-334C-F3A0-E701-F237DEA1DB3E}"/>
              </a:ext>
            </a:extLst>
          </p:cNvPr>
          <p:cNvSpPr txBox="1"/>
          <p:nvPr/>
        </p:nvSpPr>
        <p:spPr>
          <a:xfrm>
            <a:off x="1447022" y="3790887"/>
            <a:ext cx="6511989" cy="830997"/>
          </a:xfrm>
          <a:prstGeom prst="rect">
            <a:avLst/>
          </a:prstGeom>
          <a:noFill/>
        </p:spPr>
        <p:txBody>
          <a:bodyPr wrap="square">
            <a:spAutoFit/>
          </a:bodyPr>
          <a:lstStyle/>
          <a:p>
            <a:pPr algn="just">
              <a:buNone/>
            </a:pPr>
            <a:r>
              <a:rPr lang="vi-VN" sz="1600" dirty="0">
                <a:solidFill>
                  <a:srgbClr val="000000"/>
                </a:solidFill>
                <a:effectLst/>
                <a:latin typeface="Noto Sans SC"/>
              </a:rPr>
              <a:t>Biểu đồ Gantt được xây dựng không chỉ giúp người dùng hiểu rõ thứ tự xử lý tiến trình mà còn minh họa toàn bộ chuỗi hoạt động của thuật toán một cách sinh động và trực quan.</a:t>
            </a:r>
            <a:endParaRPr lang="vi-VN" sz="1600" dirty="0">
              <a:effectLst/>
            </a:endParaRPr>
          </a:p>
        </p:txBody>
      </p:sp>
      <p:sp>
        <p:nvSpPr>
          <p:cNvPr id="21" name="TextBox 20">
            <a:extLst>
              <a:ext uri="{FF2B5EF4-FFF2-40B4-BE49-F238E27FC236}">
                <a16:creationId xmlns:a16="http://schemas.microsoft.com/office/drawing/2014/main" id="{280B009A-A23A-855A-154B-5D8341D88446}"/>
              </a:ext>
            </a:extLst>
          </p:cNvPr>
          <p:cNvSpPr txBox="1"/>
          <p:nvPr/>
        </p:nvSpPr>
        <p:spPr>
          <a:xfrm>
            <a:off x="1447021" y="4800970"/>
            <a:ext cx="5271019" cy="400110"/>
          </a:xfrm>
          <a:prstGeom prst="rect">
            <a:avLst/>
          </a:prstGeom>
          <a:noFill/>
        </p:spPr>
        <p:txBody>
          <a:bodyPr wrap="square">
            <a:spAutoFit/>
          </a:bodyPr>
          <a:lstStyle/>
          <a:p>
            <a:pPr>
              <a:buNone/>
            </a:pPr>
            <a:r>
              <a:rPr lang="en-US" sz="2000" b="1" dirty="0" err="1">
                <a:solidFill>
                  <a:srgbClr val="226DF6"/>
                </a:solidFill>
                <a:effectLst/>
                <a:latin typeface="Noto Sans SC"/>
              </a:rPr>
              <a:t>Đánh</a:t>
            </a:r>
            <a:r>
              <a:rPr lang="en-US" sz="2000" b="1" dirty="0">
                <a:solidFill>
                  <a:srgbClr val="226DF6"/>
                </a:solidFill>
                <a:effectLst/>
                <a:latin typeface="Noto Sans SC"/>
              </a:rPr>
              <a:t> </a:t>
            </a:r>
            <a:r>
              <a:rPr lang="en-US" sz="2000" b="1" dirty="0" err="1">
                <a:solidFill>
                  <a:srgbClr val="226DF6"/>
                </a:solidFill>
                <a:effectLst/>
                <a:latin typeface="Noto Sans SC"/>
              </a:rPr>
              <a:t>giá</a:t>
            </a:r>
            <a:r>
              <a:rPr lang="en-US" sz="2000" b="1" dirty="0">
                <a:solidFill>
                  <a:srgbClr val="226DF6"/>
                </a:solidFill>
                <a:effectLst/>
                <a:latin typeface="Noto Sans SC"/>
              </a:rPr>
              <a:t> </a:t>
            </a:r>
            <a:r>
              <a:rPr lang="en-US" sz="2000" b="1" dirty="0" err="1">
                <a:solidFill>
                  <a:srgbClr val="226DF6"/>
                </a:solidFill>
                <a:effectLst/>
                <a:latin typeface="Noto Sans SC"/>
              </a:rPr>
              <a:t>tính</a:t>
            </a:r>
            <a:r>
              <a:rPr lang="en-US" sz="2000" b="1" dirty="0">
                <a:solidFill>
                  <a:srgbClr val="226DF6"/>
                </a:solidFill>
                <a:effectLst/>
                <a:latin typeface="Noto Sans SC"/>
              </a:rPr>
              <a:t> </a:t>
            </a:r>
            <a:r>
              <a:rPr lang="en-US" sz="2000" b="1" dirty="0" err="1">
                <a:solidFill>
                  <a:srgbClr val="226DF6"/>
                </a:solidFill>
                <a:effectLst/>
                <a:latin typeface="Noto Sans SC"/>
              </a:rPr>
              <a:t>chính</a:t>
            </a:r>
            <a:r>
              <a:rPr lang="en-US" sz="2000" b="1" dirty="0">
                <a:solidFill>
                  <a:srgbClr val="226DF6"/>
                </a:solidFill>
                <a:effectLst/>
                <a:latin typeface="Noto Sans SC"/>
              </a:rPr>
              <a:t> </a:t>
            </a:r>
            <a:r>
              <a:rPr lang="en-US" sz="2000" b="1" dirty="0" err="1">
                <a:solidFill>
                  <a:srgbClr val="226DF6"/>
                </a:solidFill>
                <a:effectLst/>
                <a:latin typeface="Noto Sans SC"/>
              </a:rPr>
              <a:t>xác</a:t>
            </a:r>
            <a:r>
              <a:rPr lang="en-US" sz="2000" b="1" dirty="0">
                <a:solidFill>
                  <a:srgbClr val="226DF6"/>
                </a:solidFill>
                <a:effectLst/>
                <a:latin typeface="Noto Sans SC"/>
              </a:rPr>
              <a:t> </a:t>
            </a:r>
            <a:r>
              <a:rPr lang="en-US" sz="2000" b="1" dirty="0" err="1">
                <a:solidFill>
                  <a:srgbClr val="226DF6"/>
                </a:solidFill>
                <a:effectLst/>
                <a:latin typeface="Noto Sans SC"/>
              </a:rPr>
              <a:t>và</a:t>
            </a:r>
            <a:r>
              <a:rPr lang="en-US" sz="2000" b="1" dirty="0">
                <a:solidFill>
                  <a:srgbClr val="226DF6"/>
                </a:solidFill>
                <a:effectLst/>
                <a:latin typeface="Noto Sans SC"/>
              </a:rPr>
              <a:t> </a:t>
            </a:r>
            <a:r>
              <a:rPr lang="en-US" sz="2000" b="1" dirty="0" err="1">
                <a:solidFill>
                  <a:srgbClr val="226DF6"/>
                </a:solidFill>
                <a:effectLst/>
                <a:latin typeface="Noto Sans SC"/>
              </a:rPr>
              <a:t>hiệu</a:t>
            </a:r>
            <a:r>
              <a:rPr lang="en-US" sz="2000" b="1" dirty="0">
                <a:solidFill>
                  <a:srgbClr val="226DF6"/>
                </a:solidFill>
                <a:effectLst/>
                <a:latin typeface="Noto Sans SC"/>
              </a:rPr>
              <a:t> </a:t>
            </a:r>
            <a:r>
              <a:rPr lang="en-US" sz="2000" b="1" dirty="0" err="1">
                <a:solidFill>
                  <a:srgbClr val="226DF6"/>
                </a:solidFill>
                <a:effectLst/>
                <a:latin typeface="Noto Sans SC"/>
              </a:rPr>
              <a:t>quả</a:t>
            </a:r>
            <a:endParaRPr lang="en-US" sz="2000" dirty="0">
              <a:effectLst/>
            </a:endParaRPr>
          </a:p>
        </p:txBody>
      </p:sp>
      <p:sp>
        <p:nvSpPr>
          <p:cNvPr id="23" name="TextBox 22">
            <a:extLst>
              <a:ext uri="{FF2B5EF4-FFF2-40B4-BE49-F238E27FC236}">
                <a16:creationId xmlns:a16="http://schemas.microsoft.com/office/drawing/2014/main" id="{00E7B3C1-9837-C02D-64D1-28A8C913843F}"/>
              </a:ext>
            </a:extLst>
          </p:cNvPr>
          <p:cNvSpPr txBox="1"/>
          <p:nvPr/>
        </p:nvSpPr>
        <p:spPr>
          <a:xfrm>
            <a:off x="1453632" y="5201080"/>
            <a:ext cx="6577304" cy="830997"/>
          </a:xfrm>
          <a:prstGeom prst="rect">
            <a:avLst/>
          </a:prstGeom>
          <a:noFill/>
        </p:spPr>
        <p:txBody>
          <a:bodyPr wrap="square">
            <a:spAutoFit/>
          </a:bodyPr>
          <a:lstStyle/>
          <a:p>
            <a:pPr algn="just">
              <a:buNone/>
            </a:pPr>
            <a:r>
              <a:rPr lang="vi-VN" sz="1600" dirty="0">
                <a:solidFill>
                  <a:srgbClr val="000000"/>
                </a:solidFill>
                <a:effectLst/>
                <a:latin typeface="Noto Sans SC"/>
              </a:rPr>
              <a:t>Thông qua kiểm thử với nhiều trường hợp dữ liệu khác nhau, chương trình hoạt động ổn định, thể hiện tính chính xác của thuật toán SJF và Priority cũng như sự hiệu quả trong xử lý tài nguyên CPU.</a:t>
            </a:r>
            <a:endParaRPr lang="vi-VN" sz="1600" dirty="0">
              <a:effectLst/>
            </a:endParaRPr>
          </a:p>
        </p:txBody>
      </p:sp>
    </p:spTree>
    <p:extLst>
      <p:ext uri="{BB962C8B-B14F-4D97-AF65-F5344CB8AC3E}">
        <p14:creationId xmlns:p14="http://schemas.microsoft.com/office/powerpoint/2010/main" val="3254424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DE1AA-6FAD-191D-D895-B9E8B0BC25ED}"/>
              </a:ext>
            </a:extLst>
          </p:cNvPr>
          <p:cNvSpPr>
            <a:spLocks noGrp="1"/>
          </p:cNvSpPr>
          <p:nvPr>
            <p:ph type="title"/>
          </p:nvPr>
        </p:nvSpPr>
        <p:spPr/>
        <p:txBody>
          <a:bodyPr>
            <a:normAutofit/>
          </a:bodyPr>
          <a:lstStyle/>
          <a:p>
            <a:r>
              <a:rPr lang="en-US" b="1" dirty="0" err="1"/>
              <a:t>Phần</a:t>
            </a:r>
            <a:r>
              <a:rPr lang="en-US" b="1" dirty="0"/>
              <a:t> </a:t>
            </a:r>
            <a:r>
              <a:rPr lang="en-US" b="1" dirty="0" err="1"/>
              <a:t>kết</a:t>
            </a:r>
            <a:r>
              <a:rPr lang="en-US" b="1" dirty="0"/>
              <a:t> </a:t>
            </a:r>
            <a:r>
              <a:rPr lang="en-US" b="1" dirty="0" err="1"/>
              <a:t>luận</a:t>
            </a:r>
            <a:endParaRPr lang="en-US" dirty="0"/>
          </a:p>
        </p:txBody>
      </p:sp>
      <p:sp>
        <p:nvSpPr>
          <p:cNvPr id="6" name="Slide Number Placeholder 5">
            <a:extLst>
              <a:ext uri="{FF2B5EF4-FFF2-40B4-BE49-F238E27FC236}">
                <a16:creationId xmlns:a16="http://schemas.microsoft.com/office/drawing/2014/main" id="{32B718FC-FA73-F42D-A3F5-13BC3CF0D4E3}"/>
              </a:ext>
            </a:extLst>
          </p:cNvPr>
          <p:cNvSpPr>
            <a:spLocks noGrp="1"/>
          </p:cNvSpPr>
          <p:nvPr>
            <p:ph type="sldNum" sz="quarter" idx="12"/>
          </p:nvPr>
        </p:nvSpPr>
        <p:spPr/>
        <p:txBody>
          <a:bodyPr/>
          <a:lstStyle/>
          <a:p>
            <a:fld id="{6C56B8FA-5C00-4693-8C7F-3776FF570F07}" type="slidenum">
              <a:rPr lang="en-US" smtClean="0"/>
              <a:t>21</a:t>
            </a:fld>
            <a:endParaRPr lang="en-US"/>
          </a:p>
        </p:txBody>
      </p:sp>
      <p:sp>
        <p:nvSpPr>
          <p:cNvPr id="7" name="Rectangle: Rounded Corners 6">
            <a:extLst>
              <a:ext uri="{FF2B5EF4-FFF2-40B4-BE49-F238E27FC236}">
                <a16:creationId xmlns:a16="http://schemas.microsoft.com/office/drawing/2014/main" id="{4F9A054E-4B71-A421-07D6-6E48F8BD8B6E}"/>
              </a:ext>
            </a:extLst>
          </p:cNvPr>
          <p:cNvSpPr/>
          <p:nvPr/>
        </p:nvSpPr>
        <p:spPr>
          <a:xfrm>
            <a:off x="838198" y="2216466"/>
            <a:ext cx="10731759" cy="1564883"/>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8C841358-AF98-05D9-D929-28EE44B25C52}"/>
              </a:ext>
            </a:extLst>
          </p:cNvPr>
          <p:cNvSpPr/>
          <p:nvPr/>
        </p:nvSpPr>
        <p:spPr>
          <a:xfrm>
            <a:off x="838198" y="4197674"/>
            <a:ext cx="10731759" cy="153052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A75DFC9-64FE-0C37-ACB0-0CC8E4891FA9}"/>
              </a:ext>
            </a:extLst>
          </p:cNvPr>
          <p:cNvSpPr txBox="1"/>
          <p:nvPr/>
        </p:nvSpPr>
        <p:spPr>
          <a:xfrm>
            <a:off x="1145333" y="2352864"/>
            <a:ext cx="6097554" cy="461665"/>
          </a:xfrm>
          <a:prstGeom prst="rect">
            <a:avLst/>
          </a:prstGeom>
          <a:noFill/>
        </p:spPr>
        <p:txBody>
          <a:bodyPr wrap="square">
            <a:spAutoFit/>
          </a:bodyPr>
          <a:lstStyle/>
          <a:p>
            <a:pPr>
              <a:buNone/>
            </a:pPr>
            <a:r>
              <a:rPr lang="vi-VN" sz="2400" b="1" dirty="0">
                <a:effectLst/>
                <a:latin typeface="Noto Sans SC"/>
              </a:rPr>
              <a:t>Tổng kết bài học và kết quả đạt được</a:t>
            </a:r>
            <a:endParaRPr lang="vi-VN" sz="2400" dirty="0">
              <a:effectLst/>
            </a:endParaRPr>
          </a:p>
        </p:txBody>
      </p:sp>
      <p:sp>
        <p:nvSpPr>
          <p:cNvPr id="12" name="TextBox 11">
            <a:extLst>
              <a:ext uri="{FF2B5EF4-FFF2-40B4-BE49-F238E27FC236}">
                <a16:creationId xmlns:a16="http://schemas.microsoft.com/office/drawing/2014/main" id="{B8D7B983-E741-BA57-FEA2-6304885B1438}"/>
              </a:ext>
            </a:extLst>
          </p:cNvPr>
          <p:cNvSpPr txBox="1"/>
          <p:nvPr/>
        </p:nvSpPr>
        <p:spPr>
          <a:xfrm>
            <a:off x="1140279" y="2846582"/>
            <a:ext cx="9911442" cy="646331"/>
          </a:xfrm>
          <a:prstGeom prst="rect">
            <a:avLst/>
          </a:prstGeom>
          <a:noFill/>
        </p:spPr>
        <p:txBody>
          <a:bodyPr wrap="square">
            <a:spAutoFit/>
          </a:bodyPr>
          <a:lstStyle/>
          <a:p>
            <a:pPr algn="just">
              <a:buNone/>
            </a:pPr>
            <a:r>
              <a:rPr lang="en-US" dirty="0" err="1">
                <a:effectLst/>
                <a:latin typeface="Noto Sans SC"/>
              </a:rPr>
              <a:t>Đội</a:t>
            </a:r>
            <a:r>
              <a:rPr lang="en-US" dirty="0">
                <a:effectLst/>
                <a:latin typeface="Noto Sans SC"/>
              </a:rPr>
              <a:t> </a:t>
            </a:r>
            <a:r>
              <a:rPr lang="en-US" dirty="0" err="1">
                <a:effectLst/>
                <a:latin typeface="Noto Sans SC"/>
              </a:rPr>
              <a:t>ngũ</a:t>
            </a:r>
            <a:r>
              <a:rPr lang="en-US" dirty="0">
                <a:effectLst/>
                <a:latin typeface="Noto Sans SC"/>
              </a:rPr>
              <a:t> </a:t>
            </a:r>
            <a:r>
              <a:rPr lang="en-US" dirty="0" err="1">
                <a:effectLst/>
                <a:latin typeface="Noto Sans SC"/>
              </a:rPr>
              <a:t>phát</a:t>
            </a:r>
            <a:r>
              <a:rPr lang="en-US" dirty="0">
                <a:effectLst/>
                <a:latin typeface="Noto Sans SC"/>
              </a:rPr>
              <a:t> </a:t>
            </a:r>
            <a:r>
              <a:rPr lang="en-US" dirty="0" err="1">
                <a:effectLst/>
                <a:latin typeface="Noto Sans SC"/>
              </a:rPr>
              <a:t>triển</a:t>
            </a:r>
            <a:r>
              <a:rPr lang="en-US" dirty="0">
                <a:effectLst/>
                <a:latin typeface="Noto Sans SC"/>
              </a:rPr>
              <a:t> </a:t>
            </a:r>
            <a:r>
              <a:rPr lang="en-US" dirty="0" err="1">
                <a:effectLst/>
                <a:latin typeface="Noto Sans SC"/>
              </a:rPr>
              <a:t>đã</a:t>
            </a:r>
            <a:r>
              <a:rPr lang="en-US" dirty="0">
                <a:effectLst/>
                <a:latin typeface="Noto Sans SC"/>
              </a:rPr>
              <a:t> </a:t>
            </a:r>
            <a:r>
              <a:rPr lang="en-US" dirty="0" err="1">
                <a:effectLst/>
                <a:latin typeface="Noto Sans SC"/>
              </a:rPr>
              <a:t>nâng</a:t>
            </a:r>
            <a:r>
              <a:rPr lang="en-US" dirty="0">
                <a:effectLst/>
                <a:latin typeface="Noto Sans SC"/>
              </a:rPr>
              <a:t> </a:t>
            </a:r>
            <a:r>
              <a:rPr lang="en-US" dirty="0" err="1">
                <a:effectLst/>
                <a:latin typeface="Noto Sans SC"/>
              </a:rPr>
              <a:t>cao</a:t>
            </a:r>
            <a:r>
              <a:rPr lang="en-US" dirty="0">
                <a:effectLst/>
                <a:latin typeface="Noto Sans SC"/>
              </a:rPr>
              <a:t> </a:t>
            </a:r>
            <a:r>
              <a:rPr lang="en-US" dirty="0" err="1">
                <a:effectLst/>
                <a:latin typeface="Noto Sans SC"/>
              </a:rPr>
              <a:t>kiến</a:t>
            </a:r>
            <a:r>
              <a:rPr lang="en-US" dirty="0">
                <a:effectLst/>
                <a:latin typeface="Noto Sans SC"/>
              </a:rPr>
              <a:t> </a:t>
            </a:r>
            <a:r>
              <a:rPr lang="en-US" dirty="0" err="1">
                <a:effectLst/>
                <a:latin typeface="Noto Sans SC"/>
              </a:rPr>
              <a:t>thức</a:t>
            </a:r>
            <a:r>
              <a:rPr lang="en-US" dirty="0">
                <a:effectLst/>
                <a:latin typeface="Noto Sans SC"/>
              </a:rPr>
              <a:t> </a:t>
            </a:r>
            <a:r>
              <a:rPr lang="en-US" dirty="0" err="1">
                <a:effectLst/>
                <a:latin typeface="Noto Sans SC"/>
              </a:rPr>
              <a:t>về</a:t>
            </a:r>
            <a:r>
              <a:rPr lang="en-US" dirty="0">
                <a:effectLst/>
                <a:latin typeface="Noto Sans SC"/>
              </a:rPr>
              <a:t> </a:t>
            </a:r>
            <a:r>
              <a:rPr lang="en-US" dirty="0" err="1">
                <a:effectLst/>
                <a:latin typeface="Noto Sans SC"/>
              </a:rPr>
              <a:t>thuật</a:t>
            </a:r>
            <a:r>
              <a:rPr lang="en-US" dirty="0">
                <a:effectLst/>
                <a:latin typeface="Noto Sans SC"/>
              </a:rPr>
              <a:t> </a:t>
            </a:r>
            <a:r>
              <a:rPr lang="en-US" dirty="0" err="1">
                <a:effectLst/>
                <a:latin typeface="Noto Sans SC"/>
              </a:rPr>
              <a:t>toán</a:t>
            </a:r>
            <a:r>
              <a:rPr lang="en-US" dirty="0">
                <a:effectLst/>
                <a:latin typeface="Noto Sans SC"/>
              </a:rPr>
              <a:t> </a:t>
            </a:r>
            <a:r>
              <a:rPr lang="en-US" dirty="0" err="1">
                <a:effectLst/>
                <a:latin typeface="Noto Sans SC"/>
              </a:rPr>
              <a:t>lập</a:t>
            </a:r>
            <a:r>
              <a:rPr lang="en-US" dirty="0">
                <a:effectLst/>
                <a:latin typeface="Noto Sans SC"/>
              </a:rPr>
              <a:t> </a:t>
            </a:r>
            <a:r>
              <a:rPr lang="en-US" dirty="0" err="1">
                <a:effectLst/>
                <a:latin typeface="Noto Sans SC"/>
              </a:rPr>
              <a:t>lịch</a:t>
            </a:r>
            <a:r>
              <a:rPr lang="en-US" dirty="0">
                <a:effectLst/>
                <a:latin typeface="Noto Sans SC"/>
              </a:rPr>
              <a:t>, </a:t>
            </a:r>
            <a:r>
              <a:rPr lang="en-US" dirty="0" err="1">
                <a:effectLst/>
                <a:latin typeface="Noto Sans SC"/>
              </a:rPr>
              <a:t>cải</a:t>
            </a:r>
            <a:r>
              <a:rPr lang="en-US" dirty="0">
                <a:effectLst/>
                <a:latin typeface="Noto Sans SC"/>
              </a:rPr>
              <a:t> </a:t>
            </a:r>
            <a:r>
              <a:rPr lang="en-US" dirty="0" err="1">
                <a:effectLst/>
                <a:latin typeface="Noto Sans SC"/>
              </a:rPr>
              <a:t>tiến</a:t>
            </a:r>
            <a:r>
              <a:rPr lang="en-US" dirty="0">
                <a:effectLst/>
                <a:latin typeface="Noto Sans SC"/>
              </a:rPr>
              <a:t> </a:t>
            </a:r>
            <a:r>
              <a:rPr lang="en-US" dirty="0" err="1">
                <a:effectLst/>
                <a:latin typeface="Noto Sans SC"/>
              </a:rPr>
              <a:t>kỹ</a:t>
            </a:r>
            <a:r>
              <a:rPr lang="en-US" dirty="0">
                <a:effectLst/>
                <a:latin typeface="Noto Sans SC"/>
              </a:rPr>
              <a:t> </a:t>
            </a:r>
            <a:r>
              <a:rPr lang="en-US" dirty="0" err="1">
                <a:effectLst/>
                <a:latin typeface="Noto Sans SC"/>
              </a:rPr>
              <a:t>năng</a:t>
            </a:r>
            <a:r>
              <a:rPr lang="en-US" dirty="0">
                <a:effectLst/>
                <a:latin typeface="Noto Sans SC"/>
              </a:rPr>
              <a:t> </a:t>
            </a:r>
            <a:r>
              <a:rPr lang="en-US" dirty="0" err="1">
                <a:effectLst/>
                <a:latin typeface="Noto Sans SC"/>
              </a:rPr>
              <a:t>thực</a:t>
            </a:r>
            <a:r>
              <a:rPr lang="en-US" dirty="0">
                <a:effectLst/>
                <a:latin typeface="Noto Sans SC"/>
              </a:rPr>
              <a:t> </a:t>
            </a:r>
            <a:r>
              <a:rPr lang="en-US" dirty="0" err="1">
                <a:effectLst/>
                <a:latin typeface="Noto Sans SC"/>
              </a:rPr>
              <a:t>hiện</a:t>
            </a:r>
            <a:r>
              <a:rPr lang="en-US" dirty="0">
                <a:effectLst/>
                <a:latin typeface="Noto Sans SC"/>
              </a:rPr>
              <a:t> </a:t>
            </a:r>
            <a:r>
              <a:rPr lang="en-US" dirty="0" err="1">
                <a:effectLst/>
                <a:latin typeface="Noto Sans SC"/>
              </a:rPr>
              <a:t>dự</a:t>
            </a:r>
            <a:r>
              <a:rPr lang="en-US" dirty="0">
                <a:effectLst/>
                <a:latin typeface="Noto Sans SC"/>
              </a:rPr>
              <a:t> </a:t>
            </a:r>
            <a:r>
              <a:rPr lang="en-US" dirty="0" err="1">
                <a:effectLst/>
                <a:latin typeface="Noto Sans SC"/>
              </a:rPr>
              <a:t>án</a:t>
            </a:r>
            <a:r>
              <a:rPr lang="en-US" dirty="0">
                <a:effectLst/>
                <a:latin typeface="Noto Sans SC"/>
              </a:rPr>
              <a:t> group, </a:t>
            </a:r>
            <a:r>
              <a:rPr lang="en-US" dirty="0" err="1">
                <a:effectLst/>
                <a:latin typeface="Noto Sans SC"/>
              </a:rPr>
              <a:t>đồng</a:t>
            </a:r>
            <a:r>
              <a:rPr lang="en-US" dirty="0">
                <a:effectLst/>
                <a:latin typeface="Noto Sans SC"/>
              </a:rPr>
              <a:t> </a:t>
            </a:r>
            <a:r>
              <a:rPr lang="en-US" dirty="0" err="1">
                <a:effectLst/>
                <a:latin typeface="Noto Sans SC"/>
              </a:rPr>
              <a:t>thời</a:t>
            </a:r>
            <a:r>
              <a:rPr lang="en-US" dirty="0">
                <a:effectLst/>
                <a:latin typeface="Noto Sans SC"/>
              </a:rPr>
              <a:t> </a:t>
            </a:r>
            <a:r>
              <a:rPr lang="en-US" dirty="0" err="1">
                <a:effectLst/>
                <a:latin typeface="Noto Sans SC"/>
              </a:rPr>
              <a:t>hoàn</a:t>
            </a:r>
            <a:r>
              <a:rPr lang="en-US" dirty="0">
                <a:effectLst/>
                <a:latin typeface="Noto Sans SC"/>
              </a:rPr>
              <a:t> </a:t>
            </a:r>
            <a:r>
              <a:rPr lang="en-US" dirty="0" err="1">
                <a:effectLst/>
                <a:latin typeface="Noto Sans SC"/>
              </a:rPr>
              <a:t>thiện</a:t>
            </a:r>
            <a:r>
              <a:rPr lang="en-US" dirty="0">
                <a:effectLst/>
                <a:latin typeface="Noto Sans SC"/>
              </a:rPr>
              <a:t> </a:t>
            </a:r>
            <a:r>
              <a:rPr lang="en-US" dirty="0" err="1">
                <a:effectLst/>
                <a:latin typeface="Noto Sans SC"/>
              </a:rPr>
              <a:t>một</a:t>
            </a:r>
            <a:r>
              <a:rPr lang="en-US" dirty="0">
                <a:effectLst/>
                <a:latin typeface="Noto Sans SC"/>
              </a:rPr>
              <a:t> </a:t>
            </a:r>
            <a:r>
              <a:rPr lang="en-US" dirty="0" err="1">
                <a:effectLst/>
                <a:latin typeface="Noto Sans SC"/>
              </a:rPr>
              <a:t>ứng</a:t>
            </a:r>
            <a:r>
              <a:rPr lang="en-US" dirty="0">
                <a:effectLst/>
                <a:latin typeface="Noto Sans SC"/>
              </a:rPr>
              <a:t> </a:t>
            </a:r>
            <a:r>
              <a:rPr lang="en-US" dirty="0" err="1">
                <a:effectLst/>
                <a:latin typeface="Noto Sans SC"/>
              </a:rPr>
              <a:t>dụng</a:t>
            </a:r>
            <a:r>
              <a:rPr lang="en-US" dirty="0">
                <a:effectLst/>
                <a:latin typeface="Noto Sans SC"/>
              </a:rPr>
              <a:t> </a:t>
            </a:r>
            <a:r>
              <a:rPr lang="en-US" dirty="0" err="1">
                <a:effectLst/>
                <a:latin typeface="Noto Sans SC"/>
              </a:rPr>
              <a:t>có</a:t>
            </a:r>
            <a:r>
              <a:rPr lang="en-US" dirty="0">
                <a:effectLst/>
                <a:latin typeface="Noto Sans SC"/>
              </a:rPr>
              <a:t> ý </a:t>
            </a:r>
            <a:r>
              <a:rPr lang="en-US" dirty="0" err="1">
                <a:effectLst/>
                <a:latin typeface="Noto Sans SC"/>
              </a:rPr>
              <a:t>nghĩa</a:t>
            </a:r>
            <a:r>
              <a:rPr lang="en-US" dirty="0">
                <a:effectLst/>
                <a:latin typeface="Noto Sans SC"/>
              </a:rPr>
              <a:t> </a:t>
            </a:r>
            <a:r>
              <a:rPr lang="en-US" dirty="0" err="1">
                <a:effectLst/>
                <a:latin typeface="Noto Sans SC"/>
              </a:rPr>
              <a:t>giáo</a:t>
            </a:r>
            <a:r>
              <a:rPr lang="en-US" dirty="0">
                <a:effectLst/>
                <a:latin typeface="Noto Sans SC"/>
              </a:rPr>
              <a:t> </a:t>
            </a:r>
            <a:r>
              <a:rPr lang="en-US" dirty="0" err="1">
                <a:effectLst/>
                <a:latin typeface="Noto Sans SC"/>
              </a:rPr>
              <a:t>dục</a:t>
            </a:r>
            <a:r>
              <a:rPr lang="en-US" dirty="0">
                <a:effectLst/>
                <a:latin typeface="Noto Sans SC"/>
              </a:rPr>
              <a:t> </a:t>
            </a:r>
            <a:r>
              <a:rPr lang="en-US" dirty="0" err="1">
                <a:effectLst/>
                <a:latin typeface="Noto Sans SC"/>
              </a:rPr>
              <a:t>và</a:t>
            </a:r>
            <a:r>
              <a:rPr lang="en-US" dirty="0">
                <a:effectLst/>
                <a:latin typeface="Noto Sans SC"/>
              </a:rPr>
              <a:t> </a:t>
            </a:r>
            <a:r>
              <a:rPr lang="en-US" dirty="0" err="1">
                <a:effectLst/>
                <a:latin typeface="Noto Sans SC"/>
              </a:rPr>
              <a:t>thực</a:t>
            </a:r>
            <a:r>
              <a:rPr lang="en-US" dirty="0">
                <a:effectLst/>
                <a:latin typeface="Noto Sans SC"/>
              </a:rPr>
              <a:t> </a:t>
            </a:r>
            <a:r>
              <a:rPr lang="en-US" dirty="0" err="1">
                <a:effectLst/>
                <a:latin typeface="Noto Sans SC"/>
              </a:rPr>
              <a:t>tiễn</a:t>
            </a:r>
            <a:r>
              <a:rPr lang="en-US" dirty="0">
                <a:effectLst/>
                <a:latin typeface="Noto Sans SC"/>
              </a:rPr>
              <a:t>.</a:t>
            </a:r>
            <a:endParaRPr lang="en-US" dirty="0">
              <a:effectLst/>
            </a:endParaRPr>
          </a:p>
        </p:txBody>
      </p:sp>
      <p:sp>
        <p:nvSpPr>
          <p:cNvPr id="14" name="TextBox 13">
            <a:extLst>
              <a:ext uri="{FF2B5EF4-FFF2-40B4-BE49-F238E27FC236}">
                <a16:creationId xmlns:a16="http://schemas.microsoft.com/office/drawing/2014/main" id="{59FD75A5-EA43-063F-FBE6-B7640FF0DFD4}"/>
              </a:ext>
            </a:extLst>
          </p:cNvPr>
          <p:cNvSpPr txBox="1"/>
          <p:nvPr/>
        </p:nvSpPr>
        <p:spPr>
          <a:xfrm>
            <a:off x="1140279" y="4341939"/>
            <a:ext cx="6097554" cy="461665"/>
          </a:xfrm>
          <a:prstGeom prst="rect">
            <a:avLst/>
          </a:prstGeom>
          <a:noFill/>
        </p:spPr>
        <p:txBody>
          <a:bodyPr wrap="square">
            <a:spAutoFit/>
          </a:bodyPr>
          <a:lstStyle/>
          <a:p>
            <a:pPr>
              <a:buNone/>
            </a:pPr>
            <a:r>
              <a:rPr lang="vi-VN" sz="2400" b="1" dirty="0">
                <a:effectLst/>
                <a:latin typeface="Noto Sans SC"/>
              </a:rPr>
              <a:t>Định hướng phát triển tương lai</a:t>
            </a:r>
            <a:endParaRPr lang="vi-VN" sz="2400" dirty="0">
              <a:effectLst/>
            </a:endParaRPr>
          </a:p>
        </p:txBody>
      </p:sp>
      <p:sp>
        <p:nvSpPr>
          <p:cNvPr id="16" name="TextBox 15">
            <a:extLst>
              <a:ext uri="{FF2B5EF4-FFF2-40B4-BE49-F238E27FC236}">
                <a16:creationId xmlns:a16="http://schemas.microsoft.com/office/drawing/2014/main" id="{27092E6D-EA73-83DE-16B7-6CDCCAC21D6C}"/>
              </a:ext>
            </a:extLst>
          </p:cNvPr>
          <p:cNvSpPr txBox="1"/>
          <p:nvPr/>
        </p:nvSpPr>
        <p:spPr>
          <a:xfrm>
            <a:off x="1140279" y="4798338"/>
            <a:ext cx="10213522" cy="646331"/>
          </a:xfrm>
          <a:prstGeom prst="rect">
            <a:avLst/>
          </a:prstGeom>
          <a:noFill/>
        </p:spPr>
        <p:txBody>
          <a:bodyPr wrap="square">
            <a:spAutoFit/>
          </a:bodyPr>
          <a:lstStyle/>
          <a:p>
            <a:pPr algn="just">
              <a:buNone/>
            </a:pPr>
            <a:r>
              <a:rPr lang="vi-VN" dirty="0">
                <a:effectLst/>
                <a:latin typeface="Noto Sans SC"/>
              </a:rPr>
              <a:t>Dù đạt được mục tiêu đề ra, nhóm nhận thấy tiềm năng mở rộng ứng dụng với giao diện trực quan hơn, cũng như bổ sung chức năng so sánh hiệu quả giữa các thuật toán để phục vụ nhu cầu nghiên cứu sâu hơn.</a:t>
            </a:r>
            <a:endParaRPr lang="vi-VN" dirty="0">
              <a:effectLst/>
            </a:endParaRPr>
          </a:p>
        </p:txBody>
      </p:sp>
    </p:spTree>
    <p:extLst>
      <p:ext uri="{BB962C8B-B14F-4D97-AF65-F5344CB8AC3E}">
        <p14:creationId xmlns:p14="http://schemas.microsoft.com/office/powerpoint/2010/main" val="3232230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65C4B8D-18EE-878F-ADD3-1D6861041442}"/>
              </a:ext>
            </a:extLst>
          </p:cNvPr>
          <p:cNvSpPr>
            <a:spLocks noGrp="1"/>
          </p:cNvSpPr>
          <p:nvPr>
            <p:ph type="sldNum" sz="quarter" idx="12"/>
          </p:nvPr>
        </p:nvSpPr>
        <p:spPr/>
        <p:txBody>
          <a:bodyPr/>
          <a:lstStyle/>
          <a:p>
            <a:fld id="{6C56B8FA-5C00-4693-8C7F-3776FF570F07}" type="slidenum">
              <a:rPr lang="en-US" smtClean="0"/>
              <a:t>22</a:t>
            </a:fld>
            <a:endParaRPr lang="en-US"/>
          </a:p>
        </p:txBody>
      </p:sp>
      <p:sp>
        <p:nvSpPr>
          <p:cNvPr id="8" name="TextBox 7">
            <a:extLst>
              <a:ext uri="{FF2B5EF4-FFF2-40B4-BE49-F238E27FC236}">
                <a16:creationId xmlns:a16="http://schemas.microsoft.com/office/drawing/2014/main" id="{0DF82221-5C54-2CF5-1A01-09FF67A430EC}"/>
              </a:ext>
            </a:extLst>
          </p:cNvPr>
          <p:cNvSpPr txBox="1"/>
          <p:nvPr/>
        </p:nvSpPr>
        <p:spPr>
          <a:xfrm>
            <a:off x="575777" y="2329934"/>
            <a:ext cx="6925646" cy="1862048"/>
          </a:xfrm>
          <a:prstGeom prst="rect">
            <a:avLst/>
          </a:prstGeom>
          <a:noFill/>
        </p:spPr>
        <p:txBody>
          <a:bodyPr wrap="square">
            <a:spAutoFit/>
          </a:bodyPr>
          <a:lstStyle/>
          <a:p>
            <a:pPr algn="l">
              <a:buNone/>
            </a:pPr>
            <a:r>
              <a:rPr lang="en-US" sz="11500" b="1" dirty="0">
                <a:solidFill>
                  <a:srgbClr val="226DF6"/>
                </a:solidFill>
                <a:effectLst/>
              </a:rPr>
              <a:t>Thank you</a:t>
            </a:r>
            <a:endParaRPr lang="en-US" sz="11500" dirty="0">
              <a:effectLst/>
            </a:endParaRPr>
          </a:p>
        </p:txBody>
      </p:sp>
    </p:spTree>
    <p:extLst>
      <p:ext uri="{BB962C8B-B14F-4D97-AF65-F5344CB8AC3E}">
        <p14:creationId xmlns:p14="http://schemas.microsoft.com/office/powerpoint/2010/main" val="3108222317"/>
      </p:ext>
    </p:extLst>
  </p:cSld>
  <p:clrMapOvr>
    <a:masterClrMapping/>
  </p:clrMapOvr>
</p:sld>
</file>

<file path=ppt/theme/theme1.xml><?xml version="1.0" encoding="utf-8"?>
<a:theme xmlns:a="http://schemas.openxmlformats.org/drawingml/2006/main" name="UTH-Slide-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TH-Slide-Theme" id="{2763F190-FCB6-4FC7-BA38-A1E39173AA87}" vid="{E1D9DFA4-F8AD-4E2F-9982-D367BC00A6B9}"/>
    </a:ext>
  </a:extLst>
</a:theme>
</file>

<file path=docProps/app.xml><?xml version="1.0" encoding="utf-8"?>
<Properties xmlns="http://schemas.openxmlformats.org/officeDocument/2006/extended-properties" xmlns:vt="http://schemas.openxmlformats.org/officeDocument/2006/docPropsVTypes">
  <Template>UTH-Slide-Theme (1)</Template>
  <TotalTime>1505</TotalTime>
  <Words>1519</Words>
  <Application>Microsoft Office PowerPoint</Application>
  <PresentationFormat>Widescreen</PresentationFormat>
  <Paragraphs>158</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Noto Sans SC</vt:lpstr>
      <vt:lpstr>Segoe UI Black</vt:lpstr>
      <vt:lpstr>Times New Roman</vt:lpstr>
      <vt:lpstr>UTH-Slide-Theme</vt:lpstr>
      <vt:lpstr>OS_SCH_04: Build an APP for demonstration CPU Scheduling algorithm: SJF (non-preemptive) and Priority (non-preemptive)</vt:lpstr>
      <vt:lpstr>MỤC LỤC</vt:lpstr>
      <vt:lpstr>01. Giới thiệu</vt:lpstr>
      <vt:lpstr>Mục tiêu</vt:lpstr>
      <vt:lpstr>Phạm vi</vt:lpstr>
      <vt:lpstr>Cấu trúc và triển khai chương trình</vt:lpstr>
      <vt:lpstr>Các mô-đun chương trình</vt:lpstr>
      <vt:lpstr>Sử dụng lớp quy trình</vt:lpstr>
      <vt:lpstr>Triển khai thuật toán SJF và thuật toán ưu tiên</vt:lpstr>
      <vt:lpstr>Xử lý và trực quan hóa dữ liệu</vt:lpstr>
      <vt:lpstr>Xử lý dữ liệu</vt:lpstr>
      <vt:lpstr>PowerPoint Presentation</vt:lpstr>
      <vt:lpstr>Thử nghiệm và Thách thức</vt:lpstr>
      <vt:lpstr>Các trường hợp thử nghiệm</vt:lpstr>
      <vt:lpstr>Thách thức và giải pháp</vt:lpstr>
      <vt:lpstr>Những bài học kinh nghiệm và hạn chế</vt:lpstr>
      <vt:lpstr>Những bài học kinh nghiệm</vt:lpstr>
      <vt:lpstr>Hạn chế</vt:lpstr>
      <vt:lpstr>Phần kết luận</vt:lpstr>
      <vt:lpstr>Phần kết luận</vt:lpstr>
      <vt:lpstr>Phần kết luận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Yui Karamy</dc:creator>
  <cp:lastModifiedBy>Yui Karamy</cp:lastModifiedBy>
  <cp:revision>9</cp:revision>
  <dcterms:created xsi:type="dcterms:W3CDTF">2026-04-09T14:51:15Z</dcterms:created>
  <dcterms:modified xsi:type="dcterms:W3CDTF">2026-04-14T14:21:59Z</dcterms:modified>
</cp:coreProperties>
</file>