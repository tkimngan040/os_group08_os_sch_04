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0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1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6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4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3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2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6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46" indent="0" algn="ctr">
              <a:buNone/>
              <a:defRPr sz="2000"/>
            </a:lvl2pPr>
            <a:lvl3pPr marL="914492" indent="0" algn="ctr">
              <a:buNone/>
              <a:defRPr sz="1800"/>
            </a:lvl3pPr>
            <a:lvl4pPr marL="1371738" indent="0" algn="ctr">
              <a:buNone/>
              <a:defRPr sz="1600"/>
            </a:lvl4pPr>
            <a:lvl5pPr marL="1828983" indent="0" algn="ctr">
              <a:buNone/>
              <a:defRPr sz="1600"/>
            </a:lvl5pPr>
            <a:lvl6pPr marL="2286228" indent="0" algn="ctr">
              <a:buNone/>
              <a:defRPr sz="1600"/>
            </a:lvl6pPr>
            <a:lvl7pPr marL="2743475" indent="0" algn="ctr">
              <a:buNone/>
              <a:defRPr sz="1600"/>
            </a:lvl7pPr>
            <a:lvl8pPr marL="3200720" indent="0" algn="ctr">
              <a:buNone/>
              <a:defRPr sz="1600"/>
            </a:lvl8pPr>
            <a:lvl9pPr marL="365796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007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  <a:pPr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442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7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4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9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7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22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4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7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9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370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30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018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  <a:t>18/04/2026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579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  <a:t>18/04/2026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901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  <a:t>18/04/2026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016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987428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821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46" indent="0">
              <a:buNone/>
              <a:defRPr sz="2800"/>
            </a:lvl2pPr>
            <a:lvl3pPr marL="914492" indent="0">
              <a:buNone/>
              <a:defRPr sz="2400"/>
            </a:lvl3pPr>
            <a:lvl4pPr marL="1371738" indent="0">
              <a:buNone/>
              <a:defRPr sz="2000"/>
            </a:lvl4pPr>
            <a:lvl5pPr marL="1828983" indent="0">
              <a:buNone/>
              <a:defRPr sz="2000"/>
            </a:lvl5pPr>
            <a:lvl6pPr marL="2286228" indent="0">
              <a:buNone/>
              <a:defRPr sz="2000"/>
            </a:lvl6pPr>
            <a:lvl7pPr marL="2743475" indent="0">
              <a:buNone/>
              <a:defRPr sz="2000"/>
            </a:lvl7pPr>
            <a:lvl8pPr marL="3200720" indent="0">
              <a:buNone/>
              <a:defRPr sz="2000"/>
            </a:lvl8pPr>
            <a:lvl9pPr marL="3657966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  <a:t>18/04/2026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903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702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2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30"/>
            <a:ext cx="10515600" cy="40019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  <a:pPr/>
              <a:t>18/04/2026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F9058A-D643-E990-0257-69C3B7F9EF2C}"/>
              </a:ext>
            </a:extLst>
          </p:cNvPr>
          <p:cNvSpPr txBox="1">
            <a:spLocks/>
          </p:cNvSpPr>
          <p:nvPr/>
        </p:nvSpPr>
        <p:spPr>
          <a:xfrm>
            <a:off x="5344358" y="228539"/>
            <a:ext cx="6847642" cy="689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760992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9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pitchFamily="18" charset="0"/>
        </a:defRPr>
      </a:lvl1pPr>
    </p:titleStyle>
    <p:bodyStyle>
      <a:lvl1pPr marL="228623" indent="-228623" algn="l" defTabSz="91449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6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114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360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606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852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9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43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8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92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3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83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2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75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72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6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E95E5-5A7B-ECEB-1B77-A3A81C8C2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53513"/>
            <a:ext cx="12192000" cy="2054054"/>
          </a:xfrm>
        </p:spPr>
        <p:txBody>
          <a:bodyPr>
            <a:normAutofit/>
          </a:bodyPr>
          <a:lstStyle/>
          <a:p>
            <a:pPr marL="291465" marR="629920">
              <a:lnSpc>
                <a:spcPct val="150000"/>
              </a:lnSpc>
              <a:spcAft>
                <a:spcPts val="0"/>
              </a:spcAft>
            </a:pP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OS_SCH_04:</a:t>
            </a:r>
            <a:br>
              <a:rPr lang="en-US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Build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an APP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demonstration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CPU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Scheduling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algorithm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b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SJF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Priority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CDBE1-1D8E-1F40-4B9E-DB2B0C02B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159" y="3359443"/>
            <a:ext cx="11184294" cy="1655762"/>
          </a:xfrm>
        </p:spPr>
        <p:txBody>
          <a:bodyPr/>
          <a:lstStyle/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MÔN</a:t>
            </a:r>
            <a:r>
              <a:rPr lang="vi-VN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HỌC:</a:t>
            </a:r>
            <a:r>
              <a:rPr lang="vi-VN" sz="1800" b="1" spc="-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HỆ ĐIỀU HÀNH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GIẢNG VIÊN: MAI NGỌC CHÂU</a:t>
            </a:r>
          </a:p>
          <a:p>
            <a:pPr marL="292100" algn="l">
              <a:lnSpc>
                <a:spcPct val="100000"/>
              </a:lnSpc>
              <a:spcBef>
                <a:spcPts val="1640"/>
              </a:spcBef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 GROUP 08: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6047F89-3710-4653-90D3-BA50C3D02E39}"/>
              </a:ext>
            </a:extLst>
          </p:cNvPr>
          <p:cNvGraphicFramePr>
            <a:graphicFrameLocks noGrp="1"/>
          </p:cNvGraphicFramePr>
          <p:nvPr/>
        </p:nvGraphicFramePr>
        <p:xfrm>
          <a:off x="2689289" y="4429920"/>
          <a:ext cx="6402874" cy="206418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3201437">
                  <a:extLst>
                    <a:ext uri="{9D8B030D-6E8A-4147-A177-3AD203B41FA5}">
                      <a16:colId xmlns:a16="http://schemas.microsoft.com/office/drawing/2014/main" val="1930828786"/>
                    </a:ext>
                  </a:extLst>
                </a:gridCol>
                <a:gridCol w="3201437">
                  <a:extLst>
                    <a:ext uri="{9D8B030D-6E8A-4147-A177-3AD203B41FA5}">
                      <a16:colId xmlns:a16="http://schemas.microsoft.com/office/drawing/2014/main" val="1348496732"/>
                    </a:ext>
                  </a:extLst>
                </a:gridCol>
              </a:tblGrid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HỌ VÀ TÊN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MSSV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1211771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Ngọc Bảo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066206017701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86037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Huy Công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066206001968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17037502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Trần Xuân Huấn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001206002736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6630729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Văn Tiến Minh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070206010073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6671564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Trần Thị Kim Ngân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056306006618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23122496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Vũ Hồng Quân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070206003068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052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744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Mục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tiêu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án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Nghiên cứu cơ chế điều phối tiến trình của CPU.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Cài đặt hai thuật toán lập lịch không ưu tiên ngắt (Non-</a:t>
            </a:r>
            <a:r>
              <a:rPr lang="vi-VN" sz="2800" dirty="0" err="1"/>
              <a:t>preemptive</a:t>
            </a:r>
            <a:r>
              <a:rPr lang="vi-VN" sz="2800" dirty="0"/>
              <a:t>): </a:t>
            </a:r>
            <a:r>
              <a:rPr lang="vi-VN" sz="2800" dirty="0" err="1"/>
              <a:t>Shortest</a:t>
            </a:r>
            <a:r>
              <a:rPr lang="vi-VN" sz="2800" dirty="0"/>
              <a:t> </a:t>
            </a:r>
            <a:r>
              <a:rPr lang="vi-VN" sz="2800" dirty="0" err="1"/>
              <a:t>Job</a:t>
            </a:r>
            <a:r>
              <a:rPr lang="vi-VN" sz="2800" dirty="0"/>
              <a:t> </a:t>
            </a:r>
            <a:r>
              <a:rPr lang="vi-VN" sz="2800" dirty="0" err="1"/>
              <a:t>First</a:t>
            </a:r>
            <a:r>
              <a:rPr lang="vi-VN" sz="2800" dirty="0"/>
              <a:t> (SJF) và </a:t>
            </a:r>
            <a:r>
              <a:rPr lang="vi-VN" sz="2800" dirty="0" err="1"/>
              <a:t>Priority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Xây dựng công cụ mô phỏng có giao diện người dùng (GUI) và trực quan hóa kết quả bằng biểu đồ </a:t>
            </a:r>
            <a:r>
              <a:rPr lang="vi-VN" sz="2800" dirty="0" err="1"/>
              <a:t>Gantt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484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1484"/>
            <a:ext cx="12192000" cy="767410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803" y="1775428"/>
            <a:ext cx="11975258" cy="4748284"/>
          </a:xfrm>
        </p:spPr>
        <p:txBody>
          <a:bodyPr>
            <a:normAutofit/>
          </a:bodyPr>
          <a:lstStyle/>
          <a:p>
            <a:pPr algn="l">
              <a:lnSpc>
                <a:spcPct val="160000"/>
              </a:lnSpc>
            </a:pPr>
            <a:r>
              <a:rPr lang="vi-VN" sz="2800" dirty="0"/>
              <a:t>SJF chọn tiến trình có thời gian xử lý (</a:t>
            </a:r>
            <a:r>
              <a:rPr lang="vi-VN" sz="2800" dirty="0" err="1"/>
              <a:t>Burst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) nhỏ nhất để thực thi.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Thuật toán không cho phép ngắt tiến trình khi đang chạy.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Giúp giảm thời gian chờ trung bình của hệ thống.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Tuy nhiên có thể gây ra hiện tượng </a:t>
            </a:r>
            <a:r>
              <a:rPr lang="vi-VN" sz="2800" dirty="0" err="1"/>
              <a:t>starvation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042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66191"/>
            <a:ext cx="12192000" cy="1124082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789" y="1790273"/>
            <a:ext cx="11747240" cy="39844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Thuật toán chọn tiến trình dựa trên độ ưu tiên (</a:t>
            </a:r>
            <a:r>
              <a:rPr lang="vi-VN" sz="2800" dirty="0" err="1"/>
              <a:t>Priority</a:t>
            </a:r>
            <a:r>
              <a:rPr lang="vi-VN" sz="2800" dirty="0"/>
              <a:t>).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Giá trị </a:t>
            </a:r>
            <a:r>
              <a:rPr lang="vi-VN" sz="2800" dirty="0" err="1"/>
              <a:t>priority</a:t>
            </a:r>
            <a:r>
              <a:rPr lang="vi-VN" sz="2800" dirty="0"/>
              <a:t> càng nhỏ thì mức ưu tiên càng cao.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Tiến trình sẽ chạy đến khi hoàn thành mà không bị ngắt.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Có thể xảy ra </a:t>
            </a:r>
            <a:r>
              <a:rPr lang="vi-VN" sz="2800" dirty="0" err="1"/>
              <a:t>starvation</a:t>
            </a:r>
            <a:r>
              <a:rPr lang="vi-VN" sz="2800" dirty="0"/>
              <a:t> với tiến trình ưu tiên thấp.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188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5158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cấu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trúc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liệu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678" y="962468"/>
            <a:ext cx="11848322" cy="4862458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Mỗi tiến trình được biểu diễn bằng một </a:t>
            </a:r>
            <a:r>
              <a:rPr lang="vi-VN" sz="2200" dirty="0" err="1"/>
              <a:t>class</a:t>
            </a:r>
            <a:r>
              <a:rPr lang="vi-VN" sz="2200" dirty="0"/>
              <a:t> </a:t>
            </a:r>
            <a:r>
              <a:rPr lang="vi-VN" sz="2200" dirty="0" err="1"/>
              <a:t>Process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Bao gồm các thuộc tính: PID,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như </a:t>
            </a:r>
            <a:r>
              <a:rPr lang="vi-VN" sz="2200" dirty="0" err="1"/>
              <a:t>Start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, </a:t>
            </a:r>
            <a:r>
              <a:rPr lang="vi-VN" sz="2200" dirty="0" err="1"/>
              <a:t>Waiting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được tính trong quá trình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Cấu trúc này giúp quản lý và xử lý dữ liệu dễ dàng hơn.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F2C7B5-80BD-D9CF-56CD-0F8EC70E1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990" y="3466006"/>
            <a:ext cx="6374019" cy="319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25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vi-VN" b="1" dirty="0">
                <a:latin typeface="+mj-lt"/>
              </a:rPr>
              <a:t>Lưu đồ giải thuật (</a:t>
            </a:r>
            <a:r>
              <a:rPr lang="vi-VN" b="1" dirty="0" err="1">
                <a:latin typeface="+mj-lt"/>
              </a:rPr>
              <a:t>Flowchart</a:t>
            </a:r>
            <a:r>
              <a:rPr lang="vi-VN" b="1" dirty="0">
                <a:latin typeface="+mj-lt"/>
              </a:rPr>
              <a:t>)</a:t>
            </a:r>
            <a:endParaRPr lang="en-US" b="1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913" y="1228231"/>
            <a:ext cx="9526556" cy="4276829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Chương trình bắt đầu bằng việc đọc dữ liệu từ </a:t>
            </a:r>
            <a:r>
              <a:rPr lang="vi-VN" sz="2800" dirty="0" err="1"/>
              <a:t>file</a:t>
            </a:r>
            <a:r>
              <a:rPr lang="vi-VN" sz="2800" dirty="0"/>
              <a:t> CSV.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Lặp lại cho đến khi tất cả tiến trình được xử lý.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Tại mỗi bước, chọn tiến trình phù hợp theo thuật toán.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Tính toán các thông số và cập nhật thời gian.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thúc khi tất cả tiến trình hoàn thành.</a:t>
            </a:r>
            <a:endParaRPr lang="en-US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2518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5" y="1048841"/>
            <a:ext cx="4657530" cy="51000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duyệt các tiến trình đã đến tại thời điểm hiện tại.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Chọn tiến trình có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nhỏ nhất để thực thi.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trùng nhau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tính </a:t>
            </a:r>
            <a:r>
              <a:rPr lang="vi-VN" sz="2200" dirty="0" err="1"/>
              <a:t>Start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các chỉ số liên quan.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7DD1BD-3196-3449-9AAF-E82368944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160" y="1215254"/>
            <a:ext cx="5582882" cy="30281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6F7C4-F642-B347-851E-60DDB2ACE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937" y="4447871"/>
            <a:ext cx="5043328" cy="154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390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4781" y="1048842"/>
            <a:ext cx="4749282" cy="49787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chọn tiến trình có giá trị </a:t>
            </a:r>
            <a:r>
              <a:rPr lang="vi-VN" sz="2200" dirty="0" err="1"/>
              <a:t>Priority</a:t>
            </a:r>
            <a:r>
              <a:rPr lang="vi-VN" sz="2200" dirty="0"/>
              <a:t> cao nhất.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các tiến trình có cùng </a:t>
            </a:r>
            <a:r>
              <a:rPr lang="vi-VN" sz="2200" dirty="0" err="1"/>
              <a:t>priority</a:t>
            </a:r>
            <a:r>
              <a:rPr lang="vi-VN" sz="2200" dirty="0"/>
              <a:t>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vẫn bằng nhau thì xét thêm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tiến hành tính toán các thông số tương tự SJF.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105E2-5987-EB34-697D-84467995B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75" y="1110342"/>
            <a:ext cx="5017567" cy="33114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0ECED-F1F0-04D2-B797-E2945BD1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75" y="4477032"/>
            <a:ext cx="5426617" cy="13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912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giao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diện</a:t>
            </a:r>
            <a:r>
              <a:rPr lang="en-US" b="1" dirty="0">
                <a:latin typeface="Times New Roman" panose="02020603050405020304" pitchFamily="18" charset="0"/>
              </a:rPr>
              <a:t> (GUI)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497" y="1006002"/>
            <a:ext cx="11736355" cy="52275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Giao diện được xây dựng bằng thư viện </a:t>
            </a:r>
            <a:r>
              <a:rPr lang="vi-VN" sz="2200" dirty="0" err="1"/>
              <a:t>Tkinter</a:t>
            </a:r>
            <a:r>
              <a:rPr lang="vi-VN" sz="2200" dirty="0"/>
              <a:t> trong </a:t>
            </a:r>
            <a:r>
              <a:rPr lang="vi-VN" sz="2200" dirty="0" err="1"/>
              <a:t>Python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Cho phép người dùng chọn một trong các </a:t>
            </a:r>
            <a:r>
              <a:rPr lang="vi-VN" sz="2200" dirty="0" err="1"/>
              <a:t>file</a:t>
            </a:r>
            <a:r>
              <a:rPr lang="vi-VN" sz="2200" dirty="0"/>
              <a:t> CSV có sẵn để tải lên dữ liệu.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Hỗ trợ chọn thuật toán để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Hiển thị kết quả sau khi xử lý.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9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75CBD2-A2FD-DBBB-758B-361642FAF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887" y="2333887"/>
            <a:ext cx="5667637" cy="41538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7F401C-6B14-39F3-EF13-73C7FA804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73" y="3523811"/>
            <a:ext cx="4998390" cy="313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84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661" y="1048842"/>
            <a:ext cx="10666445" cy="4654977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SJF cho ra thứ tự thực thi tối ưu theo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</a:t>
            </a:r>
            <a:r>
              <a:rPr lang="vi-VN" sz="2200" dirty="0" err="1"/>
              <a:t>Waiting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được tính toán đầy đủ.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được hiển thị dưới dạng bảng.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Có thể quan sát rõ hiệu quả của thuật toán.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10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32F224-F3C5-9C9F-8F21-2F4E7EA681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56098" r="47464" b="8779"/>
          <a:stretch/>
        </p:blipFill>
        <p:spPr>
          <a:xfrm>
            <a:off x="7517928" y="3589966"/>
            <a:ext cx="4674072" cy="1966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BAAC07-CB24-E6D3-E028-4446072B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65210"/>
            <a:ext cx="7439894" cy="1007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113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</a:t>
            </a:r>
            <a:r>
              <a:rPr lang="vi-VN" sz="2200" dirty="0" err="1"/>
              <a:t>Priority</a:t>
            </a:r>
            <a:r>
              <a:rPr lang="vi-VN" sz="2200" dirty="0"/>
              <a:t> thực thi dựa trên mức độ ưu tiên của tiến trình.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Thứ tự thực thi có thể khác so với SJF.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thông số thời gian được tính tương tự.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giúp đánh giá ảnh hưởng của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A1260-1BC8-4AF0-852E-9B4E59ADA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968" r="55057" b="9024"/>
          <a:stretch/>
        </p:blipFill>
        <p:spPr>
          <a:xfrm>
            <a:off x="6518141" y="1986775"/>
            <a:ext cx="4761552" cy="2331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02040B-FFA1-EC20-087F-54F538CFB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911" y="4415197"/>
            <a:ext cx="8129178" cy="166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127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vi-VN" b="1" dirty="0">
                <a:latin typeface="Times New Roman" panose="02020603050405020304" pitchFamily="18" charset="0"/>
              </a:rPr>
              <a:t>S</a:t>
            </a:r>
            <a:r>
              <a:rPr lang="en-US" b="1" dirty="0">
                <a:latin typeface="Times New Roman" panose="02020603050405020304" pitchFamily="18" charset="0"/>
              </a:rPr>
              <a:t>o </a:t>
            </a:r>
            <a:r>
              <a:rPr lang="en-US" b="1" dirty="0" err="1">
                <a:latin typeface="Times New Roman" panose="02020603050405020304" pitchFamily="18" charset="0"/>
              </a:rPr>
              <a:t>sánh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hiệu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năng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SJF thường cho </a:t>
            </a:r>
            <a:r>
              <a:rPr lang="vi-VN" sz="2800" dirty="0" err="1"/>
              <a:t>Waiting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 trung bình thấp hơn.</a:t>
            </a:r>
          </a:p>
          <a:p>
            <a:pPr algn="l">
              <a:lnSpc>
                <a:spcPct val="150000"/>
              </a:lnSpc>
            </a:pPr>
            <a:r>
              <a:rPr lang="vi-VN" sz="2800" dirty="0" err="1"/>
              <a:t>Priority</a:t>
            </a:r>
            <a:r>
              <a:rPr lang="vi-VN" sz="2800" dirty="0"/>
              <a:t> linh hoạt hơn trong việc xử lý tiến trình quan trọng.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quả phụ thuộc vào dữ liệu đầu vào.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Mỗi thuật toán phù hợp với từng trường hợp cụ thể.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1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luận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Đồ án đã cài đặt thành công hai thuật toán CPU </a:t>
            </a:r>
            <a:r>
              <a:rPr lang="vi-VN" sz="2800" dirty="0" err="1"/>
              <a:t>Scheduling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Hiểu rõ cách hoạt động và sự khác biệt giữa chúng.</a:t>
            </a:r>
          </a:p>
          <a:p>
            <a:pPr lvl="1" algn="l">
              <a:lnSpc>
                <a:spcPct val="150000"/>
              </a:lnSpc>
            </a:pPr>
            <a:r>
              <a:rPr lang="vi-VN" dirty="0"/>
              <a:t>SJF tối ưu thời gian chờ nhưng có hạn chế </a:t>
            </a:r>
            <a:r>
              <a:rPr lang="vi-VN" dirty="0" err="1"/>
              <a:t>starvation</a:t>
            </a:r>
            <a:r>
              <a:rPr lang="vi-VN" dirty="0"/>
              <a:t>.</a:t>
            </a:r>
          </a:p>
          <a:p>
            <a:pPr lvl="1" algn="l">
              <a:lnSpc>
                <a:spcPct val="150000"/>
              </a:lnSpc>
            </a:pPr>
            <a:r>
              <a:rPr lang="vi-VN" dirty="0" err="1"/>
              <a:t>Priority</a:t>
            </a:r>
            <a:r>
              <a:rPr lang="vi-VN" dirty="0"/>
              <a:t> phù hợp với hệ thống cần phân cấp ưu tiên.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86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B3946E-1F44-10A7-8A9D-36F33FFA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8376"/>
            <a:ext cx="12192000" cy="2799183"/>
          </a:xfrm>
        </p:spPr>
        <p:txBody>
          <a:bodyPr>
            <a:normAutofit/>
          </a:bodyPr>
          <a:lstStyle/>
          <a:p>
            <a:pPr algn="ctr"/>
            <a:r>
              <a:rPr lang="vi-VN" sz="6600" b="1" dirty="0">
                <a:latin typeface="+mj-lt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082414188"/>
      </p:ext>
    </p:extLst>
  </p:cSld>
  <p:clrMapOvr>
    <a:masterClrMapping/>
  </p:clrMapOvr>
</p:sld>
</file>

<file path=ppt/theme/theme1.xml><?xml version="1.0" encoding="utf-8"?>
<a:theme xmlns:a="http://schemas.openxmlformats.org/drawingml/2006/main" name="UTH-Slide-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TH-Slide-Theme" id="{2763F190-FCB6-4FC7-BA38-A1E39173AA87}" vid="{E1D9DFA4-F8AD-4E2F-9982-D367BC00A6B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UTH-Slide-Theme (1)</Template>
  <TotalTime>181</TotalTime>
  <Words>775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Black</vt:lpstr>
      <vt:lpstr>Times New Roman</vt:lpstr>
      <vt:lpstr>UTH-Slide-Theme</vt:lpstr>
      <vt:lpstr>OS_SCH_04: Build an APP for demonstration CPU Scheduling algorithm: SJF (non-preemptive) and Priority (non-preemptive)</vt:lpstr>
      <vt:lpstr>Mục tiêu đồ án</vt:lpstr>
      <vt:lpstr>Tổng quan thuật toán SJF (Non-preemptive)</vt:lpstr>
      <vt:lpstr>Tổng quan thuật toán Priority (Non-preemptive)</vt:lpstr>
      <vt:lpstr>Thiết kế cấu trúc dữ liệu</vt:lpstr>
      <vt:lpstr>Lưu đồ giải thuật (Flowchart)</vt:lpstr>
      <vt:lpstr>Cài đặt thuật toán SJF</vt:lpstr>
      <vt:lpstr>Cài đặt thuật toán Priority</vt:lpstr>
      <vt:lpstr>Thiết kế giao diện (GUI)</vt:lpstr>
      <vt:lpstr>Minh họa kết quả - Thuật toán SJF</vt:lpstr>
      <vt:lpstr>Minh họa kết quả - Thuật toán Priority</vt:lpstr>
      <vt:lpstr>So sánh hiệu năng</vt:lpstr>
      <vt:lpstr>Kết luận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Yui Karamy</dc:creator>
  <cp:lastModifiedBy>Yui Karamy</cp:lastModifiedBy>
  <cp:revision>15</cp:revision>
  <dcterms:created xsi:type="dcterms:W3CDTF">2026-04-09T14:51:15Z</dcterms:created>
  <dcterms:modified xsi:type="dcterms:W3CDTF">2026-04-18T14:14:31Z</dcterms:modified>
</cp:coreProperties>
</file>