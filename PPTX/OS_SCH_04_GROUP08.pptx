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sldIdLst>
    <p:sldId id="256" r:id="rId2"/>
    <p:sldId id="257" r:id="rId3"/>
    <p:sldId id="267" r:id="rId4"/>
    <p:sldId id="268" r:id="rId5"/>
    <p:sldId id="269" r:id="rId6"/>
    <p:sldId id="287" r:id="rId7"/>
    <p:sldId id="270" r:id="rId8"/>
    <p:sldId id="272" r:id="rId9"/>
    <p:sldId id="273" r:id="rId10"/>
    <p:sldId id="288" r:id="rId11"/>
    <p:sldId id="275" r:id="rId12"/>
    <p:sldId id="289" r:id="rId13"/>
    <p:sldId id="277" r:id="rId14"/>
    <p:sldId id="279" r:id="rId15"/>
    <p:sldId id="290" r:id="rId16"/>
    <p:sldId id="281" r:id="rId17"/>
    <p:sldId id="282" r:id="rId18"/>
    <p:sldId id="291" r:id="rId19"/>
    <p:sldId id="283" r:id="rId20"/>
    <p:sldId id="285" r:id="rId21"/>
    <p:sldId id="286" r:id="rId22"/>
  </p:sldIdLst>
  <p:sldSz cx="12192000" cy="6858000"/>
  <p:notesSz cx="6858000" cy="9144000"/>
  <p:defaultTextStyle>
    <a:defPPr>
      <a:defRPr lang="en-US"/>
    </a:defPPr>
    <a:lvl1pPr marL="0" algn="l" defTabSz="914218" rtl="0" eaLnBrk="1" latinLnBrk="0" hangingPunct="1">
      <a:defRPr sz="1800" kern="1200">
        <a:solidFill>
          <a:schemeClr val="tx1"/>
        </a:solidFill>
        <a:latin typeface="+mn-lt"/>
        <a:ea typeface="+mn-ea"/>
        <a:cs typeface="+mn-cs"/>
      </a:defRPr>
    </a:lvl1pPr>
    <a:lvl2pPr marL="457108" algn="l" defTabSz="914218" rtl="0" eaLnBrk="1" latinLnBrk="0" hangingPunct="1">
      <a:defRPr sz="1800" kern="1200">
        <a:solidFill>
          <a:schemeClr val="tx1"/>
        </a:solidFill>
        <a:latin typeface="+mn-lt"/>
        <a:ea typeface="+mn-ea"/>
        <a:cs typeface="+mn-cs"/>
      </a:defRPr>
    </a:lvl2pPr>
    <a:lvl3pPr marL="914218" algn="l" defTabSz="914218" rtl="0" eaLnBrk="1" latinLnBrk="0" hangingPunct="1">
      <a:defRPr sz="1800" kern="1200">
        <a:solidFill>
          <a:schemeClr val="tx1"/>
        </a:solidFill>
        <a:latin typeface="+mn-lt"/>
        <a:ea typeface="+mn-ea"/>
        <a:cs typeface="+mn-cs"/>
      </a:defRPr>
    </a:lvl3pPr>
    <a:lvl4pPr marL="1371326" algn="l" defTabSz="914218" rtl="0" eaLnBrk="1" latinLnBrk="0" hangingPunct="1">
      <a:defRPr sz="1800" kern="1200">
        <a:solidFill>
          <a:schemeClr val="tx1"/>
        </a:solidFill>
        <a:latin typeface="+mn-lt"/>
        <a:ea typeface="+mn-ea"/>
        <a:cs typeface="+mn-cs"/>
      </a:defRPr>
    </a:lvl4pPr>
    <a:lvl5pPr marL="1828434" algn="l" defTabSz="914218" rtl="0" eaLnBrk="1" latinLnBrk="0" hangingPunct="1">
      <a:defRPr sz="1800" kern="1200">
        <a:solidFill>
          <a:schemeClr val="tx1"/>
        </a:solidFill>
        <a:latin typeface="+mn-lt"/>
        <a:ea typeface="+mn-ea"/>
        <a:cs typeface="+mn-cs"/>
      </a:defRPr>
    </a:lvl5pPr>
    <a:lvl6pPr marL="2285543" algn="l" defTabSz="914218" rtl="0" eaLnBrk="1" latinLnBrk="0" hangingPunct="1">
      <a:defRPr sz="1800" kern="1200">
        <a:solidFill>
          <a:schemeClr val="tx1"/>
        </a:solidFill>
        <a:latin typeface="+mn-lt"/>
        <a:ea typeface="+mn-ea"/>
        <a:cs typeface="+mn-cs"/>
      </a:defRPr>
    </a:lvl6pPr>
    <a:lvl7pPr marL="2742652" algn="l" defTabSz="914218" rtl="0" eaLnBrk="1" latinLnBrk="0" hangingPunct="1">
      <a:defRPr sz="1800" kern="1200">
        <a:solidFill>
          <a:schemeClr val="tx1"/>
        </a:solidFill>
        <a:latin typeface="+mn-lt"/>
        <a:ea typeface="+mn-ea"/>
        <a:cs typeface="+mn-cs"/>
      </a:defRPr>
    </a:lvl7pPr>
    <a:lvl8pPr marL="3199760" algn="l" defTabSz="914218" rtl="0" eaLnBrk="1" latinLnBrk="0" hangingPunct="1">
      <a:defRPr sz="1800" kern="1200">
        <a:solidFill>
          <a:schemeClr val="tx1"/>
        </a:solidFill>
        <a:latin typeface="+mn-lt"/>
        <a:ea typeface="+mn-ea"/>
        <a:cs typeface="+mn-cs"/>
      </a:defRPr>
    </a:lvl8pPr>
    <a:lvl9pPr marL="3656868" algn="l" defTabSz="914218"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2" d="100"/>
          <a:sy n="82" d="100"/>
        </p:scale>
        <p:origin x="720" y="72"/>
      </p:cViewPr>
      <p:guideLst>
        <p:guide orient="horz" pos="2160"/>
        <p:guide pos="384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normAutofit/>
          </a:bodyPr>
          <a:lstStyle>
            <a:lvl1pPr algn="ctr">
              <a:defRPr sz="4800">
                <a:solidFill>
                  <a:srgbClr val="C00000"/>
                </a:solidFill>
                <a:latin typeface="Segoe UI Black" panose="020B0A02040204020203" pitchFamily="34" charset="0"/>
                <a:ea typeface="Segoe UI Black" panose="020B0A02040204020203" pitchFamily="34" charset="0"/>
              </a:defRPr>
            </a:lvl1pPr>
          </a:lstStyle>
          <a:p>
            <a:r>
              <a:rPr lang="en-US"/>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solidFill>
                  <a:srgbClr val="008080"/>
                </a:solidFill>
                <a:latin typeface="Segoe UI Black" panose="020B0A02040204020203" pitchFamily="34" charset="0"/>
                <a:ea typeface="Segoe UI Black" panose="020B0A02040204020203" pitchFamily="34" charset="0"/>
              </a:defRPr>
            </a:lvl1pPr>
            <a:lvl2pPr marL="457246" indent="0" algn="ctr">
              <a:buNone/>
              <a:defRPr sz="2000"/>
            </a:lvl2pPr>
            <a:lvl3pPr marL="914492" indent="0" algn="ctr">
              <a:buNone/>
              <a:defRPr sz="1800"/>
            </a:lvl3pPr>
            <a:lvl4pPr marL="1371738" indent="0" algn="ctr">
              <a:buNone/>
              <a:defRPr sz="1600"/>
            </a:lvl4pPr>
            <a:lvl5pPr marL="1828983" indent="0" algn="ctr">
              <a:buNone/>
              <a:defRPr sz="1600"/>
            </a:lvl5pPr>
            <a:lvl6pPr marL="2286228" indent="0" algn="ctr">
              <a:buNone/>
              <a:defRPr sz="1600"/>
            </a:lvl6pPr>
            <a:lvl7pPr marL="2743475" indent="0" algn="ctr">
              <a:buNone/>
              <a:defRPr sz="1600"/>
            </a:lvl7pPr>
            <a:lvl8pPr marL="3200720" indent="0" algn="ctr">
              <a:buNone/>
              <a:defRPr sz="1600"/>
            </a:lvl8pPr>
            <a:lvl9pPr marL="3657966" indent="0" algn="ctr">
              <a:buNone/>
              <a:defRPr sz="1600"/>
            </a:lvl9pPr>
          </a:lstStyle>
          <a:p>
            <a:r>
              <a:rPr lang="en-US"/>
              <a:t>Click to edit Master subtitle style</a:t>
            </a:r>
            <a:endParaRPr lang="en-GB"/>
          </a:p>
        </p:txBody>
      </p:sp>
      <p:sp>
        <p:nvSpPr>
          <p:cNvPr id="4" name="Date Placeholder 3"/>
          <p:cNvSpPr>
            <a:spLocks noGrp="1"/>
          </p:cNvSpPr>
          <p:nvPr>
            <p:ph type="dt" sz="half" idx="10"/>
          </p:nvPr>
        </p:nvSpPr>
        <p:spPr/>
        <p:txBody>
          <a:bodyPr/>
          <a:lstStyle/>
          <a:p>
            <a:fld id="{A3340687-F0A6-4844-9D0E-4A71047B582E}" type="datetime1">
              <a:rPr lang="en-GB" smtClean="0"/>
              <a:t>14/04/2026</a:t>
            </a:fld>
            <a:endParaRPr lang="en-GB"/>
          </a:p>
        </p:txBody>
      </p:sp>
      <p:sp>
        <p:nvSpPr>
          <p:cNvPr id="5" name="Footer Placeholder 4"/>
          <p:cNvSpPr>
            <a:spLocks noGrp="1"/>
          </p:cNvSpPr>
          <p:nvPr>
            <p:ph type="ftr" sz="quarter" idx="11"/>
          </p:nvPr>
        </p:nvSpPr>
        <p:spPr/>
        <p:txBody>
          <a:bodyPr/>
          <a:lstStyle/>
          <a:p>
            <a:r>
              <a:rPr lang="en-GB"/>
              <a:t>KIẾN THỨC - KỸ NĂNG - SÁNG TẠO - HỘI NHẬP</a:t>
            </a:r>
          </a:p>
        </p:txBody>
      </p:sp>
      <p:sp>
        <p:nvSpPr>
          <p:cNvPr id="6" name="Slide Number Placeholder 5"/>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20690076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15848B"/>
                </a:solidFill>
              </a:defRPr>
            </a:lvl1pPr>
          </a:lstStyle>
          <a:p>
            <a:r>
              <a:rPr lang="en-US"/>
              <a:t>Click to edit Master title style</a:t>
            </a:r>
            <a:endParaRPr lang="en-GB"/>
          </a:p>
        </p:txBody>
      </p:sp>
      <p:sp>
        <p:nvSpPr>
          <p:cNvPr id="3" name="Content Placeholder 2"/>
          <p:cNvSpPr>
            <a:spLocks noGrp="1"/>
          </p:cNvSpPr>
          <p:nvPr>
            <p:ph idx="1"/>
          </p:nvPr>
        </p:nvSpPr>
        <p:spPr/>
        <p:txBody>
          <a:bodyPr/>
          <a:lstStyle>
            <a:lvl1pPr algn="just">
              <a:defRPr/>
            </a:lvl1pPr>
            <a:lvl2pPr algn="just">
              <a:defRPr/>
            </a:lvl2pPr>
            <a:lvl3pPr algn="just">
              <a:defRPr/>
            </a:lvl3pPr>
            <a:lvl4pPr algn="just">
              <a:defRPr/>
            </a:lvl4pPr>
            <a:lvl5pPr algn="ju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lvl1pPr>
              <a:defRPr>
                <a:solidFill>
                  <a:schemeClr val="bg1"/>
                </a:solidFill>
              </a:defRPr>
            </a:lvl1pPr>
          </a:lstStyle>
          <a:p>
            <a:fld id="{19E0BBC2-331D-455A-8F34-6CACAAA7B272}" type="datetime1">
              <a:rPr lang="en-GB" smtClean="0"/>
              <a:pPr/>
              <a:t>14/04/2026</a:t>
            </a:fld>
            <a:endParaRPr lang="en-GB"/>
          </a:p>
        </p:txBody>
      </p:sp>
      <p:sp>
        <p:nvSpPr>
          <p:cNvPr id="5" name="Footer Placeholder 4"/>
          <p:cNvSpPr>
            <a:spLocks noGrp="1"/>
          </p:cNvSpPr>
          <p:nvPr>
            <p:ph type="ftr" sz="quarter" idx="11"/>
          </p:nvPr>
        </p:nvSpPr>
        <p:spPr/>
        <p:txBody>
          <a:bodyPr/>
          <a:lstStyle/>
          <a:p>
            <a:r>
              <a:rPr lang="en-GB"/>
              <a:t>KIẾN THỨC - KỸ NĂNG - SÁNG TẠO - HỘI NHẬP</a:t>
            </a:r>
          </a:p>
        </p:txBody>
      </p:sp>
      <p:sp>
        <p:nvSpPr>
          <p:cNvPr id="6" name="Slide Number Placeholder 5"/>
          <p:cNvSpPr>
            <a:spLocks noGrp="1"/>
          </p:cNvSpPr>
          <p:nvPr>
            <p:ph type="sldNum" sz="quarter" idx="12"/>
          </p:nvPr>
        </p:nvSpPr>
        <p:spPr/>
        <p:txBody>
          <a:bodyPr/>
          <a:lstStyle>
            <a:lvl1pPr>
              <a:defRPr>
                <a:solidFill>
                  <a:schemeClr val="bg1"/>
                </a:solidFill>
              </a:defRPr>
            </a:lvl1pPr>
          </a:lstStyle>
          <a:p>
            <a:fld id="{AA3D6EC1-CEF0-44B9-AC69-1554EEB371D5}" type="slidenum">
              <a:rPr lang="en-GB" smtClean="0"/>
              <a:pPr/>
              <a:t>‹#›</a:t>
            </a:fld>
            <a:endParaRPr lang="en-GB"/>
          </a:p>
        </p:txBody>
      </p:sp>
    </p:spTree>
    <p:extLst>
      <p:ext uri="{BB962C8B-B14F-4D97-AF65-F5344CB8AC3E}">
        <p14:creationId xmlns:p14="http://schemas.microsoft.com/office/powerpoint/2010/main" val="42644273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42"/>
            <a:ext cx="10515600" cy="2852737"/>
          </a:xfrm>
        </p:spPr>
        <p:txBody>
          <a:bodyPr anchor="b"/>
          <a:lstStyle>
            <a:lvl1pPr>
              <a:defRPr sz="6000"/>
            </a:lvl1pPr>
          </a:lstStyle>
          <a:p>
            <a:r>
              <a:rPr lang="en-US"/>
              <a:t>Click to edit Master title style</a:t>
            </a:r>
            <a:endParaRPr lang="en-GB"/>
          </a:p>
        </p:txBody>
      </p:sp>
      <p:sp>
        <p:nvSpPr>
          <p:cNvPr id="3" name="Text Placeholder 2"/>
          <p:cNvSpPr>
            <a:spLocks noGrp="1"/>
          </p:cNvSpPr>
          <p:nvPr>
            <p:ph type="body" idx="1"/>
          </p:nvPr>
        </p:nvSpPr>
        <p:spPr>
          <a:xfrm>
            <a:off x="831850" y="4589467"/>
            <a:ext cx="10515600" cy="1500187"/>
          </a:xfrm>
        </p:spPr>
        <p:txBody>
          <a:bodyPr/>
          <a:lstStyle>
            <a:lvl1pPr marL="0" indent="0">
              <a:buNone/>
              <a:defRPr sz="2400">
                <a:solidFill>
                  <a:schemeClr val="tx1">
                    <a:tint val="75000"/>
                  </a:schemeClr>
                </a:solidFill>
              </a:defRPr>
            </a:lvl1pPr>
            <a:lvl2pPr marL="457246" indent="0">
              <a:buNone/>
              <a:defRPr sz="2000">
                <a:solidFill>
                  <a:schemeClr val="tx1">
                    <a:tint val="75000"/>
                  </a:schemeClr>
                </a:solidFill>
              </a:defRPr>
            </a:lvl2pPr>
            <a:lvl3pPr marL="914492" indent="0">
              <a:buNone/>
              <a:defRPr sz="1800">
                <a:solidFill>
                  <a:schemeClr val="tx1">
                    <a:tint val="75000"/>
                  </a:schemeClr>
                </a:solidFill>
              </a:defRPr>
            </a:lvl3pPr>
            <a:lvl4pPr marL="1371738" indent="0">
              <a:buNone/>
              <a:defRPr sz="1600">
                <a:solidFill>
                  <a:schemeClr val="tx1">
                    <a:tint val="75000"/>
                  </a:schemeClr>
                </a:solidFill>
              </a:defRPr>
            </a:lvl4pPr>
            <a:lvl5pPr marL="1828983" indent="0">
              <a:buNone/>
              <a:defRPr sz="1600">
                <a:solidFill>
                  <a:schemeClr val="tx1">
                    <a:tint val="75000"/>
                  </a:schemeClr>
                </a:solidFill>
              </a:defRPr>
            </a:lvl5pPr>
            <a:lvl6pPr marL="2286228" indent="0">
              <a:buNone/>
              <a:defRPr sz="1600">
                <a:solidFill>
                  <a:schemeClr val="tx1">
                    <a:tint val="75000"/>
                  </a:schemeClr>
                </a:solidFill>
              </a:defRPr>
            </a:lvl6pPr>
            <a:lvl7pPr marL="2743475" indent="0">
              <a:buNone/>
              <a:defRPr sz="1600">
                <a:solidFill>
                  <a:schemeClr val="tx1">
                    <a:tint val="75000"/>
                  </a:schemeClr>
                </a:solidFill>
              </a:defRPr>
            </a:lvl7pPr>
            <a:lvl8pPr marL="3200720" indent="0">
              <a:buNone/>
              <a:defRPr sz="1600">
                <a:solidFill>
                  <a:schemeClr val="tx1">
                    <a:tint val="75000"/>
                  </a:schemeClr>
                </a:solidFill>
              </a:defRPr>
            </a:lvl8pPr>
            <a:lvl9pPr marL="3657966"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2796F3C-EA11-4B8E-A5D6-898715DAA61A}" type="datetime1">
              <a:rPr lang="en-GB" smtClean="0"/>
              <a:t>14/04/2026</a:t>
            </a:fld>
            <a:endParaRPr lang="en-GB"/>
          </a:p>
        </p:txBody>
      </p:sp>
      <p:sp>
        <p:nvSpPr>
          <p:cNvPr id="5" name="Footer Placeholder 4"/>
          <p:cNvSpPr>
            <a:spLocks noGrp="1"/>
          </p:cNvSpPr>
          <p:nvPr>
            <p:ph type="ftr" sz="quarter" idx="11"/>
          </p:nvPr>
        </p:nvSpPr>
        <p:spPr/>
        <p:txBody>
          <a:bodyPr/>
          <a:lstStyle/>
          <a:p>
            <a:r>
              <a:rPr lang="en-GB"/>
              <a:t>KIẾN THỨC - KỸ NĂNG - SÁNG TẠO - HỘI NHẬP</a:t>
            </a:r>
          </a:p>
        </p:txBody>
      </p:sp>
      <p:sp>
        <p:nvSpPr>
          <p:cNvPr id="6" name="Slide Number Placeholder 5"/>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40537093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8080"/>
                </a:solidFill>
              </a:defRPr>
            </a:lvl1pPr>
          </a:lstStyle>
          <a:p>
            <a:r>
              <a:rPr lang="en-US"/>
              <a:t>Click to edit Master title style</a:t>
            </a:r>
            <a:endParaRPr lang="en-GB"/>
          </a:p>
        </p:txBody>
      </p:sp>
      <p:sp>
        <p:nvSpPr>
          <p:cNvPr id="3" name="Content Placeholder 2"/>
          <p:cNvSpPr>
            <a:spLocks noGrp="1"/>
          </p:cNvSpPr>
          <p:nvPr>
            <p:ph sz="half" idx="1"/>
          </p:nvPr>
        </p:nvSpPr>
        <p:spPr>
          <a:xfrm>
            <a:off x="838200" y="2095130"/>
            <a:ext cx="5181600" cy="40818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6172200" y="2095129"/>
            <a:ext cx="5181600" cy="408183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p:cNvSpPr>
          <p:nvPr>
            <p:ph type="dt" sz="half" idx="10"/>
          </p:nvPr>
        </p:nvSpPr>
        <p:spPr/>
        <p:txBody>
          <a:bodyPr/>
          <a:lstStyle/>
          <a:p>
            <a:fld id="{9DE42CF6-A011-4145-8138-B18222BE784F}" type="datetime1">
              <a:rPr lang="en-GB" smtClean="0"/>
              <a:t>14/04/2026</a:t>
            </a:fld>
            <a:endParaRPr lang="en-GB"/>
          </a:p>
        </p:txBody>
      </p:sp>
      <p:sp>
        <p:nvSpPr>
          <p:cNvPr id="6" name="Footer Placeholder 5"/>
          <p:cNvSpPr>
            <a:spLocks noGrp="1"/>
          </p:cNvSpPr>
          <p:nvPr>
            <p:ph type="ftr" sz="quarter" idx="11"/>
          </p:nvPr>
        </p:nvSpPr>
        <p:spPr/>
        <p:txBody>
          <a:bodyPr/>
          <a:lstStyle/>
          <a:p>
            <a:r>
              <a:rPr lang="en-GB"/>
              <a:t>KIẾN THỨC - KỸ NĂNG - SÁNG TẠO - HỘI NHẬP</a:t>
            </a:r>
          </a:p>
        </p:txBody>
      </p:sp>
      <p:sp>
        <p:nvSpPr>
          <p:cNvPr id="7" name="Slide Number Placeholder 6"/>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17100181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866776"/>
            <a:ext cx="10515600" cy="823912"/>
          </a:xfrm>
        </p:spPr>
        <p:txBody>
          <a:bodyPr/>
          <a:lstStyle/>
          <a:p>
            <a:r>
              <a:rPr lang="en-US"/>
              <a:t>Click to edit Master title style</a:t>
            </a:r>
            <a:endParaRPr lang="en-GB"/>
          </a:p>
        </p:txBody>
      </p:sp>
      <p:sp>
        <p:nvSpPr>
          <p:cNvPr id="3" name="Text Placeholder 2"/>
          <p:cNvSpPr>
            <a:spLocks noGrp="1"/>
          </p:cNvSpPr>
          <p:nvPr>
            <p:ph type="body" idx="1"/>
          </p:nvPr>
        </p:nvSpPr>
        <p:spPr>
          <a:xfrm>
            <a:off x="839791" y="1857375"/>
            <a:ext cx="5157787" cy="647700"/>
          </a:xfrm>
        </p:spPr>
        <p:txBody>
          <a:bodyPr anchor="b"/>
          <a:lstStyle>
            <a:lvl1pPr marL="0" indent="0">
              <a:buNone/>
              <a:defRPr sz="2400" b="1"/>
            </a:lvl1pPr>
            <a:lvl2pPr marL="457246" indent="0">
              <a:buNone/>
              <a:defRPr sz="2000" b="1"/>
            </a:lvl2pPr>
            <a:lvl3pPr marL="914492" indent="0">
              <a:buNone/>
              <a:defRPr sz="1800" b="1"/>
            </a:lvl3pPr>
            <a:lvl4pPr marL="1371738" indent="0">
              <a:buNone/>
              <a:defRPr sz="1600" b="1"/>
            </a:lvl4pPr>
            <a:lvl5pPr marL="1828983" indent="0">
              <a:buNone/>
              <a:defRPr sz="1600" b="1"/>
            </a:lvl5pPr>
            <a:lvl6pPr marL="2286228" indent="0">
              <a:buNone/>
              <a:defRPr sz="1600" b="1"/>
            </a:lvl6pPr>
            <a:lvl7pPr marL="2743475" indent="0">
              <a:buNone/>
              <a:defRPr sz="1600" b="1"/>
            </a:lvl7pPr>
            <a:lvl8pPr marL="3200720" indent="0">
              <a:buNone/>
              <a:defRPr sz="1600" b="1"/>
            </a:lvl8pPr>
            <a:lvl9pPr marL="3657966"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91"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6172200" y="1857375"/>
            <a:ext cx="5183188" cy="647700"/>
          </a:xfrm>
        </p:spPr>
        <p:txBody>
          <a:bodyPr anchor="b"/>
          <a:lstStyle>
            <a:lvl1pPr marL="0" indent="0">
              <a:buNone/>
              <a:defRPr sz="2400" b="1"/>
            </a:lvl1pPr>
            <a:lvl2pPr marL="457246" indent="0">
              <a:buNone/>
              <a:defRPr sz="2000" b="1"/>
            </a:lvl2pPr>
            <a:lvl3pPr marL="914492" indent="0">
              <a:buNone/>
              <a:defRPr sz="1800" b="1"/>
            </a:lvl3pPr>
            <a:lvl4pPr marL="1371738" indent="0">
              <a:buNone/>
              <a:defRPr sz="1600" b="1"/>
            </a:lvl4pPr>
            <a:lvl5pPr marL="1828983" indent="0">
              <a:buNone/>
              <a:defRPr sz="1600" b="1"/>
            </a:lvl5pPr>
            <a:lvl6pPr marL="2286228" indent="0">
              <a:buNone/>
              <a:defRPr sz="1600" b="1"/>
            </a:lvl6pPr>
            <a:lvl7pPr marL="2743475" indent="0">
              <a:buNone/>
              <a:defRPr sz="1600" b="1"/>
            </a:lvl7pPr>
            <a:lvl8pPr marL="3200720" indent="0">
              <a:buNone/>
              <a:defRPr sz="1600" b="1"/>
            </a:lvl8pPr>
            <a:lvl9pPr marL="3657966"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p:cNvSpPr>
            <a:spLocks noGrp="1"/>
          </p:cNvSpPr>
          <p:nvPr>
            <p:ph type="dt" sz="half" idx="10"/>
          </p:nvPr>
        </p:nvSpPr>
        <p:spPr/>
        <p:txBody>
          <a:bodyPr/>
          <a:lstStyle/>
          <a:p>
            <a:fld id="{16776141-2144-4216-A5D8-625EEC9D46A7}" type="datetime1">
              <a:rPr lang="en-GB" smtClean="0"/>
              <a:t>14/04/2026</a:t>
            </a:fld>
            <a:endParaRPr lang="en-GB"/>
          </a:p>
        </p:txBody>
      </p:sp>
      <p:sp>
        <p:nvSpPr>
          <p:cNvPr id="8" name="Footer Placeholder 7"/>
          <p:cNvSpPr>
            <a:spLocks noGrp="1"/>
          </p:cNvSpPr>
          <p:nvPr>
            <p:ph type="ftr" sz="quarter" idx="11"/>
          </p:nvPr>
        </p:nvSpPr>
        <p:spPr/>
        <p:txBody>
          <a:bodyPr/>
          <a:lstStyle/>
          <a:p>
            <a:r>
              <a:rPr lang="en-GB"/>
              <a:t>KIẾN THỨC - KỸ NĂNG - SÁNG TẠO - HỘI NHẬP</a:t>
            </a:r>
          </a:p>
        </p:txBody>
      </p:sp>
      <p:sp>
        <p:nvSpPr>
          <p:cNvPr id="9" name="Slide Number Placeholder 8"/>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9135797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Date Placeholder 2"/>
          <p:cNvSpPr>
            <a:spLocks noGrp="1"/>
          </p:cNvSpPr>
          <p:nvPr>
            <p:ph type="dt" sz="half" idx="10"/>
          </p:nvPr>
        </p:nvSpPr>
        <p:spPr/>
        <p:txBody>
          <a:bodyPr/>
          <a:lstStyle/>
          <a:p>
            <a:fld id="{D5231884-8841-474E-B980-3663B77BB24B}" type="datetime1">
              <a:rPr lang="en-GB" smtClean="0"/>
              <a:t>14/04/2026</a:t>
            </a:fld>
            <a:endParaRPr lang="en-GB"/>
          </a:p>
        </p:txBody>
      </p:sp>
      <p:sp>
        <p:nvSpPr>
          <p:cNvPr id="4" name="Footer Placeholder 3"/>
          <p:cNvSpPr>
            <a:spLocks noGrp="1"/>
          </p:cNvSpPr>
          <p:nvPr>
            <p:ph type="ftr" sz="quarter" idx="11"/>
          </p:nvPr>
        </p:nvSpPr>
        <p:spPr/>
        <p:txBody>
          <a:bodyPr/>
          <a:lstStyle/>
          <a:p>
            <a:r>
              <a:rPr lang="en-GB"/>
              <a:t>KIẾN THỨC - KỸ NĂNG - SÁNG TẠO - HỘI NHẬP</a:t>
            </a:r>
          </a:p>
        </p:txBody>
      </p:sp>
      <p:sp>
        <p:nvSpPr>
          <p:cNvPr id="5" name="Slide Number Placeholder 4"/>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25399015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81E740A-6F50-4770-9109-746EC93EBE8F}" type="datetime1">
              <a:rPr lang="en-GB" smtClean="0"/>
              <a:t>14/04/2026</a:t>
            </a:fld>
            <a:endParaRPr lang="en-GB"/>
          </a:p>
        </p:txBody>
      </p:sp>
      <p:sp>
        <p:nvSpPr>
          <p:cNvPr id="3" name="Footer Placeholder 2"/>
          <p:cNvSpPr>
            <a:spLocks noGrp="1"/>
          </p:cNvSpPr>
          <p:nvPr>
            <p:ph type="ftr" sz="quarter" idx="11"/>
          </p:nvPr>
        </p:nvSpPr>
        <p:spPr/>
        <p:txBody>
          <a:bodyPr/>
          <a:lstStyle/>
          <a:p>
            <a:r>
              <a:rPr lang="en-GB"/>
              <a:t>KIẾN THỨC - KỸ NĂNG - SÁNG TẠO - HỘI NHẬP</a:t>
            </a:r>
          </a:p>
        </p:txBody>
      </p:sp>
      <p:sp>
        <p:nvSpPr>
          <p:cNvPr id="4" name="Slide Number Placeholder 3"/>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40570160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91" y="987428"/>
            <a:ext cx="3932237" cy="1069975"/>
          </a:xfrm>
        </p:spPr>
        <p:txBody>
          <a:bodyPr anchor="b"/>
          <a:lstStyle>
            <a:lvl1pPr>
              <a:defRPr sz="3200"/>
            </a:lvl1pPr>
          </a:lstStyle>
          <a:p>
            <a:r>
              <a:rPr lang="en-US"/>
              <a:t>Click to edit Master title style</a:t>
            </a:r>
            <a:endParaRPr lang="en-GB"/>
          </a:p>
        </p:txBody>
      </p:sp>
      <p:sp>
        <p:nvSpPr>
          <p:cNvPr id="3" name="Content Placeholder 2"/>
          <p:cNvSpPr>
            <a:spLocks noGrp="1"/>
          </p:cNvSpPr>
          <p:nvPr>
            <p:ph idx="1"/>
          </p:nvPr>
        </p:nvSpPr>
        <p:spPr>
          <a:xfrm>
            <a:off x="5183188" y="987429"/>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839791" y="2057400"/>
            <a:ext cx="3932237" cy="3811588"/>
          </a:xfrm>
        </p:spPr>
        <p:txBody>
          <a:bodyPr/>
          <a:lstStyle>
            <a:lvl1pPr marL="0" indent="0">
              <a:buNone/>
              <a:defRPr sz="1600"/>
            </a:lvl1pPr>
            <a:lvl2pPr marL="457246" indent="0">
              <a:buNone/>
              <a:defRPr sz="1400"/>
            </a:lvl2pPr>
            <a:lvl3pPr marL="914492" indent="0">
              <a:buNone/>
              <a:defRPr sz="1200"/>
            </a:lvl3pPr>
            <a:lvl4pPr marL="1371738" indent="0">
              <a:buNone/>
              <a:defRPr sz="1000"/>
            </a:lvl4pPr>
            <a:lvl5pPr marL="1828983" indent="0">
              <a:buNone/>
              <a:defRPr sz="1000"/>
            </a:lvl5pPr>
            <a:lvl6pPr marL="2286228" indent="0">
              <a:buNone/>
              <a:defRPr sz="1000"/>
            </a:lvl6pPr>
            <a:lvl7pPr marL="2743475" indent="0">
              <a:buNone/>
              <a:defRPr sz="1000"/>
            </a:lvl7pPr>
            <a:lvl8pPr marL="3200720" indent="0">
              <a:buNone/>
              <a:defRPr sz="1000"/>
            </a:lvl8pPr>
            <a:lvl9pPr marL="3657966"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C933542-D7FF-4C5D-BCD1-FC068661ADB1}" type="datetime1">
              <a:rPr lang="en-GB" smtClean="0"/>
              <a:t>14/04/2026</a:t>
            </a:fld>
            <a:endParaRPr lang="en-GB"/>
          </a:p>
        </p:txBody>
      </p:sp>
      <p:sp>
        <p:nvSpPr>
          <p:cNvPr id="6" name="Footer Placeholder 5"/>
          <p:cNvSpPr>
            <a:spLocks noGrp="1"/>
          </p:cNvSpPr>
          <p:nvPr>
            <p:ph type="ftr" sz="quarter" idx="11"/>
          </p:nvPr>
        </p:nvSpPr>
        <p:spPr/>
        <p:txBody>
          <a:bodyPr/>
          <a:lstStyle/>
          <a:p>
            <a:r>
              <a:rPr lang="en-GB"/>
              <a:t>KIẾN THỨC - KỸ NĂNG - SÁNG TẠO - HỘI NHẬP</a:t>
            </a:r>
          </a:p>
        </p:txBody>
      </p:sp>
      <p:sp>
        <p:nvSpPr>
          <p:cNvPr id="7" name="Slide Number Placeholder 6"/>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25568211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91" y="457200"/>
            <a:ext cx="3932237" cy="1600200"/>
          </a:xfrm>
        </p:spPr>
        <p:txBody>
          <a:bodyPr anchor="b"/>
          <a:lstStyle>
            <a:lvl1pPr>
              <a:defRPr sz="3200"/>
            </a:lvl1pPr>
          </a:lstStyle>
          <a:p>
            <a:r>
              <a:rPr lang="en-US"/>
              <a:t>Click to edit Master title style</a:t>
            </a:r>
            <a:endParaRPr lang="en-GB"/>
          </a:p>
        </p:txBody>
      </p:sp>
      <p:sp>
        <p:nvSpPr>
          <p:cNvPr id="3" name="Picture Placeholder 2"/>
          <p:cNvSpPr>
            <a:spLocks noGrp="1"/>
          </p:cNvSpPr>
          <p:nvPr>
            <p:ph type="pic" idx="1"/>
          </p:nvPr>
        </p:nvSpPr>
        <p:spPr>
          <a:xfrm>
            <a:off x="5183188" y="987429"/>
            <a:ext cx="6172200" cy="4873625"/>
          </a:xfrm>
        </p:spPr>
        <p:txBody>
          <a:bodyPr/>
          <a:lstStyle>
            <a:lvl1pPr marL="0" indent="0">
              <a:buNone/>
              <a:defRPr sz="3200"/>
            </a:lvl1pPr>
            <a:lvl2pPr marL="457246" indent="0">
              <a:buNone/>
              <a:defRPr sz="2800"/>
            </a:lvl2pPr>
            <a:lvl3pPr marL="914492" indent="0">
              <a:buNone/>
              <a:defRPr sz="2400"/>
            </a:lvl3pPr>
            <a:lvl4pPr marL="1371738" indent="0">
              <a:buNone/>
              <a:defRPr sz="2000"/>
            </a:lvl4pPr>
            <a:lvl5pPr marL="1828983" indent="0">
              <a:buNone/>
              <a:defRPr sz="2000"/>
            </a:lvl5pPr>
            <a:lvl6pPr marL="2286228" indent="0">
              <a:buNone/>
              <a:defRPr sz="2000"/>
            </a:lvl6pPr>
            <a:lvl7pPr marL="2743475" indent="0">
              <a:buNone/>
              <a:defRPr sz="2000"/>
            </a:lvl7pPr>
            <a:lvl8pPr marL="3200720" indent="0">
              <a:buNone/>
              <a:defRPr sz="2000"/>
            </a:lvl8pPr>
            <a:lvl9pPr marL="3657966" indent="0">
              <a:buNone/>
              <a:defRPr sz="2000"/>
            </a:lvl9pPr>
          </a:lstStyle>
          <a:p>
            <a:r>
              <a:rPr lang="en-US"/>
              <a:t>Click icon to add picture</a:t>
            </a:r>
            <a:endParaRPr lang="en-GB"/>
          </a:p>
        </p:txBody>
      </p:sp>
      <p:sp>
        <p:nvSpPr>
          <p:cNvPr id="4" name="Text Placeholder 3"/>
          <p:cNvSpPr>
            <a:spLocks noGrp="1"/>
          </p:cNvSpPr>
          <p:nvPr>
            <p:ph type="body" sz="half" idx="2"/>
          </p:nvPr>
        </p:nvSpPr>
        <p:spPr>
          <a:xfrm>
            <a:off x="839791" y="2057400"/>
            <a:ext cx="3932237" cy="3811588"/>
          </a:xfrm>
        </p:spPr>
        <p:txBody>
          <a:bodyPr/>
          <a:lstStyle>
            <a:lvl1pPr marL="0" indent="0">
              <a:buNone/>
              <a:defRPr sz="1600"/>
            </a:lvl1pPr>
            <a:lvl2pPr marL="457246" indent="0">
              <a:buNone/>
              <a:defRPr sz="1400"/>
            </a:lvl2pPr>
            <a:lvl3pPr marL="914492" indent="0">
              <a:buNone/>
              <a:defRPr sz="1200"/>
            </a:lvl3pPr>
            <a:lvl4pPr marL="1371738" indent="0">
              <a:buNone/>
              <a:defRPr sz="1000"/>
            </a:lvl4pPr>
            <a:lvl5pPr marL="1828983" indent="0">
              <a:buNone/>
              <a:defRPr sz="1000"/>
            </a:lvl5pPr>
            <a:lvl6pPr marL="2286228" indent="0">
              <a:buNone/>
              <a:defRPr sz="1000"/>
            </a:lvl6pPr>
            <a:lvl7pPr marL="2743475" indent="0">
              <a:buNone/>
              <a:defRPr sz="1000"/>
            </a:lvl7pPr>
            <a:lvl8pPr marL="3200720" indent="0">
              <a:buNone/>
              <a:defRPr sz="1000"/>
            </a:lvl8pPr>
            <a:lvl9pPr marL="3657966"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4A70A37-54E1-46AB-854A-7F4CAEAC5932}" type="datetime1">
              <a:rPr lang="en-GB" smtClean="0"/>
              <a:t>14/04/2026</a:t>
            </a:fld>
            <a:endParaRPr lang="en-GB"/>
          </a:p>
        </p:txBody>
      </p:sp>
      <p:sp>
        <p:nvSpPr>
          <p:cNvPr id="6" name="Footer Placeholder 5"/>
          <p:cNvSpPr>
            <a:spLocks noGrp="1"/>
          </p:cNvSpPr>
          <p:nvPr>
            <p:ph type="ftr" sz="quarter" idx="11"/>
          </p:nvPr>
        </p:nvSpPr>
        <p:spPr/>
        <p:txBody>
          <a:bodyPr/>
          <a:lstStyle/>
          <a:p>
            <a:r>
              <a:rPr lang="en-GB"/>
              <a:t>KIẾN THỨC - KỸ NĂNG - SÁNG TẠO - HỘI NHẬP</a:t>
            </a:r>
          </a:p>
        </p:txBody>
      </p:sp>
      <p:sp>
        <p:nvSpPr>
          <p:cNvPr id="7" name="Slide Number Placeholder 6"/>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12899034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485F13F3-5CA4-464A-A58E-B619976AB19A}" type="datetime1">
              <a:rPr lang="en-GB" smtClean="0"/>
              <a:t>14/04/2026</a:t>
            </a:fld>
            <a:endParaRPr lang="en-GB"/>
          </a:p>
        </p:txBody>
      </p:sp>
      <p:sp>
        <p:nvSpPr>
          <p:cNvPr id="5" name="Footer Placeholder 4"/>
          <p:cNvSpPr>
            <a:spLocks noGrp="1"/>
          </p:cNvSpPr>
          <p:nvPr>
            <p:ph type="ftr" sz="quarter" idx="11"/>
          </p:nvPr>
        </p:nvSpPr>
        <p:spPr/>
        <p:txBody>
          <a:bodyPr/>
          <a:lstStyle/>
          <a:p>
            <a:r>
              <a:rPr lang="en-GB"/>
              <a:t>KIẾN THỨC - KỸ NĂNG - SÁNG TẠO - HỘI NHẬP</a:t>
            </a:r>
          </a:p>
        </p:txBody>
      </p:sp>
      <p:sp>
        <p:nvSpPr>
          <p:cNvPr id="6" name="Slide Number Placeholder 5"/>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27670268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6"/>
            <a:ext cx="2628900" cy="5811838"/>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838200" y="365126"/>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4580203B-5407-419A-8A7D-10870893C35F}" type="datetime1">
              <a:rPr lang="en-GB" smtClean="0"/>
              <a:t>14/04/2026</a:t>
            </a:fld>
            <a:endParaRPr lang="en-GB"/>
          </a:p>
        </p:txBody>
      </p:sp>
      <p:sp>
        <p:nvSpPr>
          <p:cNvPr id="5" name="Footer Placeholder 4"/>
          <p:cNvSpPr>
            <a:spLocks noGrp="1"/>
          </p:cNvSpPr>
          <p:nvPr>
            <p:ph type="ftr" sz="quarter" idx="11"/>
          </p:nvPr>
        </p:nvSpPr>
        <p:spPr/>
        <p:txBody>
          <a:bodyPr/>
          <a:lstStyle/>
          <a:p>
            <a:r>
              <a:rPr lang="en-GB"/>
              <a:t>KIẾN THỨC - KỸ NĂNG - SÁNG TẠO - HỘI NHẬP</a:t>
            </a:r>
          </a:p>
        </p:txBody>
      </p:sp>
      <p:sp>
        <p:nvSpPr>
          <p:cNvPr id="6" name="Slide Number Placeholder 5"/>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5871228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E417B-C7F0-2F47-3739-55BAF6A30492}"/>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FA3FD393-479F-6B95-E04D-5CBF571B112F}"/>
              </a:ext>
            </a:extLst>
          </p:cNvPr>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D744F3-E8B9-894F-F087-C08755B0D4FD}"/>
              </a:ext>
            </a:extLst>
          </p:cNvPr>
          <p:cNvSpPr>
            <a:spLocks noGrp="1"/>
          </p:cNvSpPr>
          <p:nvPr>
            <p:ph type="dt" sz="half" idx="10"/>
          </p:nvPr>
        </p:nvSpPr>
        <p:spPr/>
        <p:txBody>
          <a:bodyPr/>
          <a:lstStyle/>
          <a:p>
            <a:fld id="{B973FF66-1A70-4141-A9B3-B6752FF84A84}" type="datetimeFigureOut">
              <a:rPr lang="en-US" smtClean="0"/>
              <a:t>4/14/2026</a:t>
            </a:fld>
            <a:endParaRPr lang="en-US"/>
          </a:p>
        </p:txBody>
      </p:sp>
      <p:sp>
        <p:nvSpPr>
          <p:cNvPr id="5" name="Footer Placeholder 4">
            <a:extLst>
              <a:ext uri="{FF2B5EF4-FFF2-40B4-BE49-F238E27FC236}">
                <a16:creationId xmlns:a16="http://schemas.microsoft.com/office/drawing/2014/main" id="{B24698F1-6816-F208-84ED-228925D246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65FDB5-0B63-569A-3191-B50CC5CAC744}"/>
              </a:ext>
            </a:extLst>
          </p:cNvPr>
          <p:cNvSpPr>
            <a:spLocks noGrp="1"/>
          </p:cNvSpPr>
          <p:nvPr>
            <p:ph type="sldNum" sz="quarter" idx="12"/>
          </p:nvPr>
        </p:nvSpPr>
        <p:spPr/>
        <p:txBody>
          <a:bodyPr/>
          <a:lstStyle/>
          <a:p>
            <a:fld id="{6C56B8FA-5C00-4693-8C7F-3776FF570F07}" type="slidenum">
              <a:rPr lang="en-US" smtClean="0"/>
              <a:t>‹#›</a:t>
            </a:fld>
            <a:endParaRPr lang="en-US"/>
          </a:p>
        </p:txBody>
      </p:sp>
    </p:spTree>
    <p:extLst>
      <p:ext uri="{BB962C8B-B14F-4D97-AF65-F5344CB8AC3E}">
        <p14:creationId xmlns:p14="http://schemas.microsoft.com/office/powerpoint/2010/main" val="3079830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1228232"/>
            <a:ext cx="10515600" cy="767410"/>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p:cNvSpPr>
            <a:spLocks noGrp="1"/>
          </p:cNvSpPr>
          <p:nvPr>
            <p:ph type="body" idx="1"/>
          </p:nvPr>
        </p:nvSpPr>
        <p:spPr>
          <a:xfrm>
            <a:off x="838200" y="2175030"/>
            <a:ext cx="10515600" cy="400193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1200">
                <a:solidFill>
                  <a:schemeClr val="bg1"/>
                </a:solidFill>
              </a:defRPr>
            </a:lvl1pPr>
          </a:lstStyle>
          <a:p>
            <a:fld id="{4C18046E-BA9B-4548-A8AC-F9F2F702B23B}" type="datetime1">
              <a:rPr lang="en-GB" smtClean="0"/>
              <a:pPr/>
              <a:t>14/04/2026</a:t>
            </a:fld>
            <a:endParaRPr lang="en-GB"/>
          </a:p>
        </p:txBody>
      </p:sp>
      <p:sp>
        <p:nvSpPr>
          <p:cNvPr id="5" name="Footer Placeholder 4"/>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1200">
                <a:solidFill>
                  <a:srgbClr val="C00000"/>
                </a:solidFill>
              </a:defRPr>
            </a:lvl1pPr>
          </a:lstStyle>
          <a:p>
            <a:r>
              <a:rPr lang="en-GB"/>
              <a:t>KIẾN THỨC - KỸ NĂNG - SÁNG TẠO - HỘI NHẬP</a:t>
            </a:r>
          </a:p>
        </p:txBody>
      </p:sp>
      <p:sp>
        <p:nvSpPr>
          <p:cNvPr id="6" name="Slide Number Placeholder 5"/>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1200">
                <a:solidFill>
                  <a:schemeClr val="bg1"/>
                </a:solidFill>
              </a:defRPr>
            </a:lvl1pPr>
          </a:lstStyle>
          <a:p>
            <a:fld id="{AA3D6EC1-CEF0-44B9-AC69-1554EEB371D5}" type="slidenum">
              <a:rPr lang="en-GB" smtClean="0"/>
              <a:pPr/>
              <a:t>‹#›</a:t>
            </a:fld>
            <a:endParaRPr lang="en-GB"/>
          </a:p>
        </p:txBody>
      </p:sp>
      <p:sp>
        <p:nvSpPr>
          <p:cNvPr id="7" name="Title 1">
            <a:extLst>
              <a:ext uri="{FF2B5EF4-FFF2-40B4-BE49-F238E27FC236}">
                <a16:creationId xmlns:a16="http://schemas.microsoft.com/office/drawing/2014/main" id="{03F9058A-D643-E990-0257-69C3B7F9EF2C}"/>
              </a:ext>
            </a:extLst>
          </p:cNvPr>
          <p:cNvSpPr txBox="1">
            <a:spLocks/>
          </p:cNvSpPr>
          <p:nvPr/>
        </p:nvSpPr>
        <p:spPr>
          <a:xfrm>
            <a:off x="5344358" y="228539"/>
            <a:ext cx="6847642" cy="689098"/>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a:lstStyle>
          <a:p>
            <a:pPr algn="ctr"/>
            <a:r>
              <a:rPr lang="en-US" sz="2400" b="1">
                <a:solidFill>
                  <a:srgbClr val="008080"/>
                </a:solidFill>
              </a:rPr>
              <a:t>TRƯỜNG ĐẠI HỌC GIAO THÔNG VẬN TẢI </a:t>
            </a:r>
            <a:br>
              <a:rPr lang="en-US" sz="2400" b="1">
                <a:solidFill>
                  <a:srgbClr val="008080"/>
                </a:solidFill>
              </a:rPr>
            </a:br>
            <a:r>
              <a:rPr lang="en-US" sz="2400" b="1">
                <a:solidFill>
                  <a:srgbClr val="008080"/>
                </a:solidFill>
              </a:rPr>
              <a:t>THÀNH PHỐ HỒ CHÍ MINH</a:t>
            </a:r>
            <a:endParaRPr lang="en-GB" sz="2400" b="1" dirty="0"/>
          </a:p>
        </p:txBody>
      </p:sp>
    </p:spTree>
    <p:extLst>
      <p:ext uri="{BB962C8B-B14F-4D97-AF65-F5344CB8AC3E}">
        <p14:creationId xmlns:p14="http://schemas.microsoft.com/office/powerpoint/2010/main" val="3760992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p:txStyles>
    <p:titleStyle>
      <a:lvl1pPr algn="l" defTabSz="914492" rtl="0" eaLnBrk="1" latinLnBrk="0" hangingPunct="1">
        <a:lnSpc>
          <a:spcPct val="90000"/>
        </a:lnSpc>
        <a:spcBef>
          <a:spcPct val="0"/>
        </a:spcBef>
        <a:buNone/>
        <a:defRPr sz="4400" kern="1200">
          <a:solidFill>
            <a:srgbClr val="15848B"/>
          </a:solidFill>
          <a:latin typeface="Segoe UI Black" panose="020B0A02040204020203" pitchFamily="34" charset="0"/>
          <a:ea typeface="Segoe UI Black" panose="020B0A02040204020203" pitchFamily="34" charset="0"/>
          <a:cs typeface="Times New Roman" panose="02020603050405020304" pitchFamily="18" charset="0"/>
        </a:defRPr>
      </a:lvl1pPr>
    </p:titleStyle>
    <p:bodyStyle>
      <a:lvl1pPr marL="228623" indent="-228623" algn="l" defTabSz="914492" rtl="0" eaLnBrk="1" latinLnBrk="0" hangingPunct="1">
        <a:lnSpc>
          <a:spcPct val="90000"/>
        </a:lnSpc>
        <a:spcBef>
          <a:spcPts val="1000"/>
        </a:spcBef>
        <a:buFont typeface="Arial" panose="020B0604020202020204" pitchFamily="34" charset="0"/>
        <a:buChar char="•"/>
        <a:defRPr sz="3200" kern="1200">
          <a:solidFill>
            <a:schemeClr val="tx1"/>
          </a:solidFill>
          <a:latin typeface="Times New Roman" panose="02020603050405020304" pitchFamily="18" charset="0"/>
          <a:ea typeface="+mn-ea"/>
          <a:cs typeface="Times New Roman" panose="02020603050405020304" pitchFamily="18" charset="0"/>
        </a:defRPr>
      </a:lvl1pPr>
      <a:lvl2pPr marL="685868" indent="-228623" algn="l" defTabSz="914492" rtl="0" eaLnBrk="1" latinLnBrk="0" hangingPunct="1">
        <a:lnSpc>
          <a:spcPct val="90000"/>
        </a:lnSpc>
        <a:spcBef>
          <a:spcPts val="5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2pPr>
      <a:lvl3pPr marL="1143114" indent="-228623" algn="l" defTabSz="914492"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3pPr>
      <a:lvl4pPr marL="1600360" indent="-228623" algn="l" defTabSz="914492"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4pPr>
      <a:lvl5pPr marL="2057606" indent="-228623" algn="l" defTabSz="914492"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5pPr>
      <a:lvl6pPr marL="2514852" indent="-228623" algn="l" defTabSz="91449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2098" indent="-228623" algn="l" defTabSz="91449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343" indent="-228623" algn="l" defTabSz="91449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588" indent="-228623" algn="l" defTabSz="91449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92" rtl="0" eaLnBrk="1" latinLnBrk="0" hangingPunct="1">
        <a:defRPr sz="1800" kern="1200">
          <a:solidFill>
            <a:schemeClr val="tx1"/>
          </a:solidFill>
          <a:latin typeface="+mn-lt"/>
          <a:ea typeface="+mn-ea"/>
          <a:cs typeface="+mn-cs"/>
        </a:defRPr>
      </a:lvl1pPr>
      <a:lvl2pPr marL="457246" algn="l" defTabSz="914492" rtl="0" eaLnBrk="1" latinLnBrk="0" hangingPunct="1">
        <a:defRPr sz="1800" kern="1200">
          <a:solidFill>
            <a:schemeClr val="tx1"/>
          </a:solidFill>
          <a:latin typeface="+mn-lt"/>
          <a:ea typeface="+mn-ea"/>
          <a:cs typeface="+mn-cs"/>
        </a:defRPr>
      </a:lvl2pPr>
      <a:lvl3pPr marL="914492" algn="l" defTabSz="914492" rtl="0" eaLnBrk="1" latinLnBrk="0" hangingPunct="1">
        <a:defRPr sz="1800" kern="1200">
          <a:solidFill>
            <a:schemeClr val="tx1"/>
          </a:solidFill>
          <a:latin typeface="+mn-lt"/>
          <a:ea typeface="+mn-ea"/>
          <a:cs typeface="+mn-cs"/>
        </a:defRPr>
      </a:lvl3pPr>
      <a:lvl4pPr marL="1371738" algn="l" defTabSz="914492" rtl="0" eaLnBrk="1" latinLnBrk="0" hangingPunct="1">
        <a:defRPr sz="1800" kern="1200">
          <a:solidFill>
            <a:schemeClr val="tx1"/>
          </a:solidFill>
          <a:latin typeface="+mn-lt"/>
          <a:ea typeface="+mn-ea"/>
          <a:cs typeface="+mn-cs"/>
        </a:defRPr>
      </a:lvl4pPr>
      <a:lvl5pPr marL="1828983" algn="l" defTabSz="914492" rtl="0" eaLnBrk="1" latinLnBrk="0" hangingPunct="1">
        <a:defRPr sz="1800" kern="1200">
          <a:solidFill>
            <a:schemeClr val="tx1"/>
          </a:solidFill>
          <a:latin typeface="+mn-lt"/>
          <a:ea typeface="+mn-ea"/>
          <a:cs typeface="+mn-cs"/>
        </a:defRPr>
      </a:lvl5pPr>
      <a:lvl6pPr marL="2286228" algn="l" defTabSz="914492" rtl="0" eaLnBrk="1" latinLnBrk="0" hangingPunct="1">
        <a:defRPr sz="1800" kern="1200">
          <a:solidFill>
            <a:schemeClr val="tx1"/>
          </a:solidFill>
          <a:latin typeface="+mn-lt"/>
          <a:ea typeface="+mn-ea"/>
          <a:cs typeface="+mn-cs"/>
        </a:defRPr>
      </a:lvl6pPr>
      <a:lvl7pPr marL="2743475" algn="l" defTabSz="914492" rtl="0" eaLnBrk="1" latinLnBrk="0" hangingPunct="1">
        <a:defRPr sz="1800" kern="1200">
          <a:solidFill>
            <a:schemeClr val="tx1"/>
          </a:solidFill>
          <a:latin typeface="+mn-lt"/>
          <a:ea typeface="+mn-ea"/>
          <a:cs typeface="+mn-cs"/>
        </a:defRPr>
      </a:lvl7pPr>
      <a:lvl8pPr marL="3200720" algn="l" defTabSz="914492" rtl="0" eaLnBrk="1" latinLnBrk="0" hangingPunct="1">
        <a:defRPr sz="1800" kern="1200">
          <a:solidFill>
            <a:schemeClr val="tx1"/>
          </a:solidFill>
          <a:latin typeface="+mn-lt"/>
          <a:ea typeface="+mn-ea"/>
          <a:cs typeface="+mn-cs"/>
        </a:defRPr>
      </a:lvl8pPr>
      <a:lvl9pPr marL="3657966" algn="l" defTabSz="914492"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E95E5-5A7B-ECEB-1B77-A3A81C8C2F2B}"/>
              </a:ext>
            </a:extLst>
          </p:cNvPr>
          <p:cNvSpPr>
            <a:spLocks noGrp="1"/>
          </p:cNvSpPr>
          <p:nvPr>
            <p:ph type="ctrTitle"/>
          </p:nvPr>
        </p:nvSpPr>
        <p:spPr>
          <a:xfrm>
            <a:off x="0" y="853513"/>
            <a:ext cx="12192000" cy="2054054"/>
          </a:xfrm>
        </p:spPr>
        <p:txBody>
          <a:bodyPr>
            <a:normAutofit/>
          </a:bodyPr>
          <a:lstStyle/>
          <a:p>
            <a:pPr marL="291465" marR="629920">
              <a:lnSpc>
                <a:spcPct val="150000"/>
              </a:lnSpc>
              <a:spcAft>
                <a:spcPts val="0"/>
              </a:spcAft>
            </a:pP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OS_SCH_04:</a:t>
            </a:r>
            <a:br>
              <a:rPr lang="en-US" sz="2800" dirty="0">
                <a:effectLst/>
                <a:latin typeface="Calibri" panose="020F0502020204030204" pitchFamily="34" charset="0"/>
                <a:ea typeface="Calibri" panose="020F0502020204030204" pitchFamily="34" charset="0"/>
                <a:cs typeface="Times New Roman" panose="02020603050405020304" pitchFamily="18" charset="0"/>
              </a:rPr>
            </a:b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Build</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an APP </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for</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demonstration</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CPU </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Scheduling</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algorithm</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a:t>
            </a:r>
            <a:br>
              <a:rPr lang="vi-VN" sz="2800" b="1" dirty="0">
                <a:effectLst/>
                <a:latin typeface="Times New Roman" panose="02020603050405020304" pitchFamily="18" charset="0"/>
                <a:ea typeface="Calibri" panose="020F0502020204030204" pitchFamily="34" charset="0"/>
                <a:cs typeface="Times New Roman" panose="02020603050405020304" pitchFamily="18" charset="0"/>
              </a:rPr>
            </a:b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SJF (non-</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preemptive</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and</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Priority</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(non-</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preemptive</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a:t>
            </a:r>
            <a:endParaRPr lang="en-US" sz="6600" dirty="0"/>
          </a:p>
        </p:txBody>
      </p:sp>
      <p:sp>
        <p:nvSpPr>
          <p:cNvPr id="3" name="Subtitle 2">
            <a:extLst>
              <a:ext uri="{FF2B5EF4-FFF2-40B4-BE49-F238E27FC236}">
                <a16:creationId xmlns:a16="http://schemas.microsoft.com/office/drawing/2014/main" id="{B6ACDBE1-1D8E-1F40-4B9E-DB2B0C02B8B7}"/>
              </a:ext>
            </a:extLst>
          </p:cNvPr>
          <p:cNvSpPr>
            <a:spLocks noGrp="1"/>
          </p:cNvSpPr>
          <p:nvPr>
            <p:ph type="subTitle" idx="1"/>
          </p:nvPr>
        </p:nvSpPr>
        <p:spPr>
          <a:xfrm>
            <a:off x="597159" y="3359443"/>
            <a:ext cx="11184294" cy="1655762"/>
          </a:xfrm>
        </p:spPr>
        <p:txBody>
          <a:bodyPr/>
          <a:lstStyle/>
          <a:p>
            <a:pPr marL="292100" algn="l">
              <a:lnSpc>
                <a:spcPct val="100000"/>
              </a:lnSpc>
              <a:spcBef>
                <a:spcPts val="1640"/>
              </a:spcBef>
              <a:spcAft>
                <a:spcPts val="0"/>
              </a:spcAft>
            </a:pPr>
            <a:r>
              <a:rPr lang="vi-VN" sz="1800" b="1" dirty="0">
                <a:effectLst/>
                <a:latin typeface="Times New Roman" panose="02020603050405020304" pitchFamily="18" charset="0"/>
                <a:ea typeface="Calibri" panose="020F0502020204030204" pitchFamily="34" charset="0"/>
                <a:cs typeface="Times New Roman" panose="02020603050405020304" pitchFamily="18" charset="0"/>
              </a:rPr>
              <a:t>MÔN</a:t>
            </a:r>
            <a:r>
              <a:rPr lang="vi-VN" sz="1800" b="1" spc="-45"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1800" b="1" dirty="0">
                <a:effectLst/>
                <a:latin typeface="Times New Roman" panose="02020603050405020304" pitchFamily="18" charset="0"/>
                <a:ea typeface="Calibri" panose="020F0502020204030204" pitchFamily="34" charset="0"/>
                <a:cs typeface="Times New Roman" panose="02020603050405020304" pitchFamily="18" charset="0"/>
              </a:rPr>
              <a:t>HỌC:</a:t>
            </a:r>
            <a:r>
              <a:rPr lang="vi-VN" sz="1800" b="1" spc="-5"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1800" b="1" dirty="0">
                <a:effectLst/>
                <a:latin typeface="Times New Roman" panose="02020603050405020304" pitchFamily="18" charset="0"/>
                <a:ea typeface="Calibri" panose="020F0502020204030204" pitchFamily="34" charset="0"/>
                <a:cs typeface="Times New Roman" panose="02020603050405020304" pitchFamily="18" charset="0"/>
              </a:rPr>
              <a:t>HỆ ĐIỀU HÀNH</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292100" algn="l">
              <a:lnSpc>
                <a:spcPct val="100000"/>
              </a:lnSpc>
              <a:spcBef>
                <a:spcPts val="1640"/>
              </a:spcBef>
              <a:spcAft>
                <a:spcPts val="0"/>
              </a:spcAft>
            </a:pPr>
            <a:r>
              <a:rPr lang="vi-VN" sz="1800" b="1" dirty="0">
                <a:effectLst/>
                <a:latin typeface="Times New Roman" panose="02020603050405020304" pitchFamily="18" charset="0"/>
                <a:ea typeface="Calibri" panose="020F0502020204030204" pitchFamily="34" charset="0"/>
                <a:cs typeface="Times New Roman" panose="02020603050405020304" pitchFamily="18" charset="0"/>
              </a:rPr>
              <a:t>GIẢNG VIÊN: MAI NGỌC CHÂU</a:t>
            </a:r>
          </a:p>
          <a:p>
            <a:pPr marL="292100" algn="l">
              <a:lnSpc>
                <a:spcPct val="100000"/>
              </a:lnSpc>
              <a:spcBef>
                <a:spcPts val="1640"/>
              </a:spcBef>
            </a:pPr>
            <a:r>
              <a:rPr lang="vi-VN" sz="1800" b="1" dirty="0">
                <a:effectLst/>
                <a:latin typeface="Times New Roman" panose="02020603050405020304" pitchFamily="18" charset="0"/>
                <a:ea typeface="Calibri" panose="020F0502020204030204" pitchFamily="34" charset="0"/>
                <a:cs typeface="Times New Roman" panose="02020603050405020304" pitchFamily="18" charset="0"/>
              </a:rPr>
              <a:t>OS GROUP 08:</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292100" algn="l">
              <a:lnSpc>
                <a:spcPct val="100000"/>
              </a:lnSpc>
              <a:spcBef>
                <a:spcPts val="1640"/>
              </a:spcBef>
              <a:spcAft>
                <a:spcPts val="0"/>
              </a:spcAft>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graphicFrame>
        <p:nvGraphicFramePr>
          <p:cNvPr id="10" name="Table 9">
            <a:extLst>
              <a:ext uri="{FF2B5EF4-FFF2-40B4-BE49-F238E27FC236}">
                <a16:creationId xmlns:a16="http://schemas.microsoft.com/office/drawing/2014/main" id="{06047F89-3710-4653-90D3-BA50C3D02E39}"/>
              </a:ext>
            </a:extLst>
          </p:cNvPr>
          <p:cNvGraphicFramePr>
            <a:graphicFrameLocks noGrp="1"/>
          </p:cNvGraphicFramePr>
          <p:nvPr>
            <p:extLst>
              <p:ext uri="{D42A27DB-BD31-4B8C-83A1-F6EECF244321}">
                <p14:modId xmlns:p14="http://schemas.microsoft.com/office/powerpoint/2010/main" val="793494732"/>
              </p:ext>
            </p:extLst>
          </p:nvPr>
        </p:nvGraphicFramePr>
        <p:xfrm>
          <a:off x="2689289" y="4429920"/>
          <a:ext cx="6402874" cy="2064188"/>
        </p:xfrm>
        <a:graphic>
          <a:graphicData uri="http://schemas.openxmlformats.org/drawingml/2006/table">
            <a:tbl>
              <a:tblPr firstRow="1" bandRow="1">
                <a:tableStyleId>{69CF1AB2-1976-4502-BF36-3FF5EA218861}</a:tableStyleId>
              </a:tblPr>
              <a:tblGrid>
                <a:gridCol w="3201437">
                  <a:extLst>
                    <a:ext uri="{9D8B030D-6E8A-4147-A177-3AD203B41FA5}">
                      <a16:colId xmlns:a16="http://schemas.microsoft.com/office/drawing/2014/main" val="1930828786"/>
                    </a:ext>
                  </a:extLst>
                </a:gridCol>
                <a:gridCol w="3201437">
                  <a:extLst>
                    <a:ext uri="{9D8B030D-6E8A-4147-A177-3AD203B41FA5}">
                      <a16:colId xmlns:a16="http://schemas.microsoft.com/office/drawing/2014/main" val="1348496732"/>
                    </a:ext>
                  </a:extLst>
                </a:gridCol>
              </a:tblGrid>
              <a:tr h="294884">
                <a:tc>
                  <a:txBody>
                    <a:bodyPr/>
                    <a:lstStyle/>
                    <a:p>
                      <a:pPr algn="ctr">
                        <a:lnSpc>
                          <a:spcPct val="150000"/>
                        </a:lnSpc>
                      </a:pPr>
                      <a:r>
                        <a:rPr lang="vi-VN" sz="1400" b="1" dirty="0">
                          <a:solidFill>
                            <a:schemeClr val="accent1"/>
                          </a:solidFill>
                          <a:effectLst/>
                        </a:rPr>
                        <a:t>HỌ VÀ TÊN</a:t>
                      </a:r>
                      <a:endParaRPr lang="en-US" sz="1100" dirty="0">
                        <a:solidFill>
                          <a:schemeClr val="accent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dirty="0">
                          <a:solidFill>
                            <a:schemeClr val="accent1"/>
                          </a:solidFill>
                          <a:effectLst/>
                        </a:rPr>
                        <a:t>MSSV</a:t>
                      </a:r>
                      <a:endParaRPr lang="en-US" sz="1100" dirty="0">
                        <a:solidFill>
                          <a:schemeClr val="accent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61211771"/>
                  </a:ext>
                </a:extLst>
              </a:tr>
              <a:tr h="294884">
                <a:tc>
                  <a:txBody>
                    <a:bodyPr/>
                    <a:lstStyle/>
                    <a:p>
                      <a:pPr algn="ctr">
                        <a:lnSpc>
                          <a:spcPct val="150000"/>
                        </a:lnSpc>
                      </a:pPr>
                      <a:r>
                        <a:rPr lang="vi-VN" sz="1400" b="1" dirty="0">
                          <a:effectLst/>
                        </a:rPr>
                        <a:t>Nguyễn Ngọc Bảo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a:effectLst/>
                        </a:rPr>
                        <a:t>066206017701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986037"/>
                  </a:ext>
                </a:extLst>
              </a:tr>
              <a:tr h="294884">
                <a:tc>
                  <a:txBody>
                    <a:bodyPr/>
                    <a:lstStyle/>
                    <a:p>
                      <a:pPr marL="636905" indent="-229870" algn="ctr">
                        <a:lnSpc>
                          <a:spcPct val="150000"/>
                        </a:lnSpc>
                      </a:pPr>
                      <a:r>
                        <a:rPr lang="vi-VN" sz="1400" b="1" dirty="0">
                          <a:effectLst/>
                        </a:rPr>
                        <a:t>Nguyễn Huy Công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a:effectLst/>
                        </a:rPr>
                        <a:t>066206001968</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17037502"/>
                  </a:ext>
                </a:extLst>
              </a:tr>
              <a:tr h="294884">
                <a:tc>
                  <a:txBody>
                    <a:bodyPr/>
                    <a:lstStyle/>
                    <a:p>
                      <a:pPr algn="ctr">
                        <a:lnSpc>
                          <a:spcPct val="150000"/>
                        </a:lnSpc>
                      </a:pPr>
                      <a:r>
                        <a:rPr lang="vi-VN" sz="1400" b="1" dirty="0">
                          <a:effectLst/>
                        </a:rPr>
                        <a:t>Trần Xuân Huấn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a:effectLst/>
                        </a:rPr>
                        <a:t>001206002736</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06630729"/>
                  </a:ext>
                </a:extLst>
              </a:tr>
              <a:tr h="294884">
                <a:tc>
                  <a:txBody>
                    <a:bodyPr/>
                    <a:lstStyle/>
                    <a:p>
                      <a:pPr marL="636905" indent="-229870" algn="ctr">
                        <a:lnSpc>
                          <a:spcPct val="150000"/>
                        </a:lnSpc>
                      </a:pPr>
                      <a:r>
                        <a:rPr lang="vi-VN" sz="1400" b="1" dirty="0">
                          <a:effectLst/>
                        </a:rPr>
                        <a:t>Nguyễn Văn Tiến Minh</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a:effectLst/>
                        </a:rPr>
                        <a:t>070206010073</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6671564"/>
                  </a:ext>
                </a:extLst>
              </a:tr>
              <a:tr h="294884">
                <a:tc>
                  <a:txBody>
                    <a:bodyPr/>
                    <a:lstStyle/>
                    <a:p>
                      <a:pPr marL="636905" indent="-229870" algn="ctr">
                        <a:lnSpc>
                          <a:spcPct val="150000"/>
                        </a:lnSpc>
                      </a:pPr>
                      <a:r>
                        <a:rPr lang="vi-VN" sz="1400" b="1">
                          <a:effectLst/>
                        </a:rPr>
                        <a:t>Trần Thị Kim Ngân</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dirty="0">
                          <a:effectLst/>
                        </a:rPr>
                        <a:t>056306006618</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23122496"/>
                  </a:ext>
                </a:extLst>
              </a:tr>
              <a:tr h="294884">
                <a:tc>
                  <a:txBody>
                    <a:bodyPr/>
                    <a:lstStyle/>
                    <a:p>
                      <a:pPr algn="ctr">
                        <a:lnSpc>
                          <a:spcPct val="150000"/>
                        </a:lnSpc>
                      </a:pPr>
                      <a:r>
                        <a:rPr lang="vi-VN" sz="1400" b="1">
                          <a:effectLst/>
                        </a:rPr>
                        <a:t>Vũ Hồng Quân</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dirty="0">
                          <a:effectLst/>
                        </a:rPr>
                        <a:t>070206003068</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30525032"/>
                  </a:ext>
                </a:extLst>
              </a:tr>
            </a:tbl>
          </a:graphicData>
        </a:graphic>
      </p:graphicFrame>
    </p:spTree>
    <p:extLst>
      <p:ext uri="{BB962C8B-B14F-4D97-AF65-F5344CB8AC3E}">
        <p14:creationId xmlns:p14="http://schemas.microsoft.com/office/powerpoint/2010/main" val="39198419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ED220-4D37-2F54-7729-CD8F2CF3D496}"/>
              </a:ext>
            </a:extLst>
          </p:cNvPr>
          <p:cNvSpPr>
            <a:spLocks noGrp="1"/>
          </p:cNvSpPr>
          <p:nvPr>
            <p:ph type="title"/>
          </p:nvPr>
        </p:nvSpPr>
        <p:spPr>
          <a:xfrm>
            <a:off x="743339" y="436786"/>
            <a:ext cx="3463212" cy="3216696"/>
          </a:xfrm>
        </p:spPr>
        <p:txBody>
          <a:bodyPr>
            <a:normAutofit/>
          </a:bodyPr>
          <a:lstStyle/>
          <a:p>
            <a:pPr algn="ctr"/>
            <a:r>
              <a:rPr lang="vi-VN" b="1" dirty="0">
                <a:latin typeface="+mj-lt"/>
              </a:rPr>
              <a:t>MỤC LỤC</a:t>
            </a:r>
            <a:endParaRPr lang="en-US" dirty="0">
              <a:latin typeface="+mj-lt"/>
            </a:endParaRPr>
          </a:p>
        </p:txBody>
      </p:sp>
      <p:sp>
        <p:nvSpPr>
          <p:cNvPr id="3" name="Content Placeholder 2">
            <a:extLst>
              <a:ext uri="{FF2B5EF4-FFF2-40B4-BE49-F238E27FC236}">
                <a16:creationId xmlns:a16="http://schemas.microsoft.com/office/drawing/2014/main" id="{4E198F96-6D8C-8B29-79AF-127C0AC4E6FF}"/>
              </a:ext>
            </a:extLst>
          </p:cNvPr>
          <p:cNvSpPr>
            <a:spLocks noGrp="1"/>
          </p:cNvSpPr>
          <p:nvPr>
            <p:ph idx="1"/>
          </p:nvPr>
        </p:nvSpPr>
        <p:spPr>
          <a:xfrm>
            <a:off x="4706517" y="1652515"/>
            <a:ext cx="7485483" cy="4001934"/>
          </a:xfrm>
        </p:spPr>
        <p:txBody>
          <a:bodyPr/>
          <a:lstStyle/>
          <a:p>
            <a:pPr algn="l"/>
            <a:r>
              <a:rPr lang="vi-VN" dirty="0"/>
              <a:t>Giới thiệu</a:t>
            </a:r>
          </a:p>
          <a:p>
            <a:pPr algn="l"/>
            <a:r>
              <a:rPr lang="vi-VN" dirty="0"/>
              <a:t>Cấu trúc và triển khai chương trình</a:t>
            </a:r>
          </a:p>
          <a:p>
            <a:pPr algn="l"/>
            <a:r>
              <a:rPr lang="vi-VN" dirty="0"/>
              <a:t>Xử lý và trực quan hóa dữ liệu</a:t>
            </a:r>
          </a:p>
          <a:p>
            <a:pPr algn="l"/>
            <a:r>
              <a:rPr lang="vi-VN" dirty="0"/>
              <a:t>Thử nghiệm và Thách thức</a:t>
            </a:r>
          </a:p>
          <a:p>
            <a:pPr algn="l"/>
            <a:r>
              <a:rPr lang="vi-VN" dirty="0"/>
              <a:t>Những bài học kinh nghiệm và hạn chế</a:t>
            </a:r>
          </a:p>
          <a:p>
            <a:pPr algn="l"/>
            <a:r>
              <a:rPr lang="vi-VN" dirty="0"/>
              <a:t>Phần kết luận</a:t>
            </a:r>
          </a:p>
          <a:p>
            <a:pPr marL="0" indent="0">
              <a:buNone/>
            </a:pPr>
            <a:endParaRPr lang="en-US" dirty="0"/>
          </a:p>
        </p:txBody>
      </p:sp>
      <p:sp>
        <p:nvSpPr>
          <p:cNvPr id="4" name="Date Placeholder 3">
            <a:extLst>
              <a:ext uri="{FF2B5EF4-FFF2-40B4-BE49-F238E27FC236}">
                <a16:creationId xmlns:a16="http://schemas.microsoft.com/office/drawing/2014/main" id="{62375E6D-CD10-3195-798C-93531ECCA166}"/>
              </a:ext>
            </a:extLst>
          </p:cNvPr>
          <p:cNvSpPr>
            <a:spLocks noGrp="1"/>
          </p:cNvSpPr>
          <p:nvPr>
            <p:ph type="dt" sz="half" idx="10"/>
          </p:nvPr>
        </p:nvSpPr>
        <p:spPr/>
        <p:txBody>
          <a:bodyPr/>
          <a:lstStyle/>
          <a:p>
            <a:fld id="{19E0BBC2-331D-455A-8F34-6CACAAA7B272}" type="datetime1">
              <a:rPr lang="en-GB" smtClean="0"/>
              <a:pPr/>
              <a:t>14/04/2026</a:t>
            </a:fld>
            <a:endParaRPr lang="en-GB"/>
          </a:p>
        </p:txBody>
      </p:sp>
      <p:sp>
        <p:nvSpPr>
          <p:cNvPr id="5" name="Footer Placeholder 4">
            <a:extLst>
              <a:ext uri="{FF2B5EF4-FFF2-40B4-BE49-F238E27FC236}">
                <a16:creationId xmlns:a16="http://schemas.microsoft.com/office/drawing/2014/main" id="{F9336731-F793-6BE8-53D7-A655471A3D94}"/>
              </a:ext>
            </a:extLst>
          </p:cNvPr>
          <p:cNvSpPr>
            <a:spLocks noGrp="1"/>
          </p:cNvSpPr>
          <p:nvPr>
            <p:ph type="ftr" sz="quarter" idx="11"/>
          </p:nvPr>
        </p:nvSpPr>
        <p:spPr/>
        <p:txBody>
          <a:bodyPr/>
          <a:lstStyle/>
          <a:p>
            <a:r>
              <a:rPr lang="en-GB"/>
              <a:t>KIẾN THỨC - KỸ NĂNG - SÁNG TẠO - HỘI NHẬP</a:t>
            </a:r>
          </a:p>
        </p:txBody>
      </p:sp>
      <p:sp>
        <p:nvSpPr>
          <p:cNvPr id="6" name="Slide Number Placeholder 5">
            <a:extLst>
              <a:ext uri="{FF2B5EF4-FFF2-40B4-BE49-F238E27FC236}">
                <a16:creationId xmlns:a16="http://schemas.microsoft.com/office/drawing/2014/main" id="{45D0DC66-2968-09E9-4281-C446FB25E1A3}"/>
              </a:ext>
            </a:extLst>
          </p:cNvPr>
          <p:cNvSpPr>
            <a:spLocks noGrp="1"/>
          </p:cNvSpPr>
          <p:nvPr>
            <p:ph type="sldNum" sz="quarter" idx="12"/>
          </p:nvPr>
        </p:nvSpPr>
        <p:spPr/>
        <p:txBody>
          <a:bodyPr/>
          <a:lstStyle/>
          <a:p>
            <a:fld id="{AA3D6EC1-CEF0-44B9-AC69-1554EEB371D5}" type="slidenum">
              <a:rPr lang="en-GB" smtClean="0"/>
              <a:pPr/>
              <a:t>2</a:t>
            </a:fld>
            <a:endParaRPr lang="en-GB"/>
          </a:p>
        </p:txBody>
      </p:sp>
    </p:spTree>
    <p:extLst>
      <p:ext uri="{BB962C8B-B14F-4D97-AF65-F5344CB8AC3E}">
        <p14:creationId xmlns:p14="http://schemas.microsoft.com/office/powerpoint/2010/main" val="676484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39F20-131D-C72D-992E-777DBC6A680B}"/>
              </a:ext>
            </a:extLst>
          </p:cNvPr>
          <p:cNvSpPr>
            <a:spLocks noGrp="1"/>
          </p:cNvSpPr>
          <p:nvPr>
            <p:ph type="title"/>
          </p:nvPr>
        </p:nvSpPr>
        <p:spPr>
          <a:xfrm>
            <a:off x="0" y="1492898"/>
            <a:ext cx="12192000" cy="2500604"/>
          </a:xfrm>
        </p:spPr>
        <p:txBody>
          <a:bodyPr>
            <a:noAutofit/>
          </a:bodyPr>
          <a:lstStyle/>
          <a:p>
            <a:pPr algn="ctr"/>
            <a:r>
              <a:rPr lang="vi-VN" sz="6000" b="1" dirty="0">
                <a:latin typeface="Times New Roman" panose="02020603050405020304" pitchFamily="18" charset="0"/>
              </a:rPr>
              <a:t>01.</a:t>
            </a:r>
            <a:br>
              <a:rPr lang="vi-VN" sz="6000" b="1" dirty="0">
                <a:latin typeface="Times New Roman" panose="02020603050405020304" pitchFamily="18" charset="0"/>
              </a:rPr>
            </a:br>
            <a:r>
              <a:rPr lang="en-US" sz="6000" b="1" dirty="0" err="1">
                <a:latin typeface="Times New Roman" panose="02020603050405020304" pitchFamily="18" charset="0"/>
              </a:rPr>
              <a:t>Giới</a:t>
            </a:r>
            <a:r>
              <a:rPr lang="en-US" sz="6000" b="1" dirty="0">
                <a:latin typeface="Times New Roman" panose="02020603050405020304" pitchFamily="18" charset="0"/>
              </a:rPr>
              <a:t> </a:t>
            </a:r>
            <a:r>
              <a:rPr lang="en-US" sz="6000" b="1" dirty="0" err="1">
                <a:latin typeface="Times New Roman" panose="02020603050405020304" pitchFamily="18" charset="0"/>
              </a:rPr>
              <a:t>thiệu</a:t>
            </a:r>
            <a:endParaRPr lang="en-US" sz="6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D1CC1811-0F39-D0CE-1885-12EA8302820B}"/>
              </a:ext>
            </a:extLst>
          </p:cNvPr>
          <p:cNvSpPr>
            <a:spLocks noGrp="1"/>
          </p:cNvSpPr>
          <p:nvPr>
            <p:ph type="dt" sz="half" idx="10"/>
          </p:nvPr>
        </p:nvSpPr>
        <p:spPr/>
        <p:txBody>
          <a:bodyPr/>
          <a:lstStyle/>
          <a:p>
            <a:fld id="{F96A87E1-9421-4CB4-9C4B-92F8E5D00273}" type="datetime1">
              <a:rPr lang="en-US" smtClean="0"/>
              <a:t>4/14/2026</a:t>
            </a:fld>
            <a:endParaRPr lang="en-US"/>
          </a:p>
        </p:txBody>
      </p:sp>
      <p:sp>
        <p:nvSpPr>
          <p:cNvPr id="6" name="Slide Number Placeholder 5">
            <a:extLst>
              <a:ext uri="{FF2B5EF4-FFF2-40B4-BE49-F238E27FC236}">
                <a16:creationId xmlns:a16="http://schemas.microsoft.com/office/drawing/2014/main" id="{F468DF20-7200-DC62-0E48-5552E263A833}"/>
              </a:ext>
            </a:extLst>
          </p:cNvPr>
          <p:cNvSpPr>
            <a:spLocks noGrp="1"/>
          </p:cNvSpPr>
          <p:nvPr>
            <p:ph type="sldNum" sz="quarter" idx="12"/>
          </p:nvPr>
        </p:nvSpPr>
        <p:spPr/>
        <p:txBody>
          <a:bodyPr/>
          <a:lstStyle/>
          <a:p>
            <a:fld id="{6C56B8FA-5C00-4693-8C7F-3776FF570F07}" type="slidenum">
              <a:rPr lang="en-US" smtClean="0"/>
              <a:t>3</a:t>
            </a:fld>
            <a:endParaRPr lang="en-US"/>
          </a:p>
        </p:txBody>
      </p:sp>
    </p:spTree>
    <p:extLst>
      <p:ext uri="{BB962C8B-B14F-4D97-AF65-F5344CB8AC3E}">
        <p14:creationId xmlns:p14="http://schemas.microsoft.com/office/powerpoint/2010/main" val="33787480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78E8D-8FD2-0E7A-0817-6D30A29BFCB9}"/>
              </a:ext>
            </a:extLst>
          </p:cNvPr>
          <p:cNvSpPr>
            <a:spLocks noGrp="1"/>
          </p:cNvSpPr>
          <p:nvPr>
            <p:ph type="title"/>
          </p:nvPr>
        </p:nvSpPr>
        <p:spPr>
          <a:xfrm>
            <a:off x="457200" y="1106939"/>
            <a:ext cx="11734800" cy="767410"/>
          </a:xfrm>
        </p:spPr>
        <p:txBody>
          <a:bodyPr>
            <a:normAutofit/>
          </a:bodyPr>
          <a:lstStyle/>
          <a:p>
            <a:r>
              <a:rPr lang="vi-VN" b="1" noProof="1">
                <a:latin typeface="Times New Roman" panose="02020603050405020304" pitchFamily="18" charset="0"/>
              </a:rPr>
              <a:t>Mục</a:t>
            </a:r>
            <a:r>
              <a:rPr lang="en-US" b="1" dirty="0">
                <a:latin typeface="Times New Roman" panose="02020603050405020304" pitchFamily="18" charset="0"/>
              </a:rPr>
              <a:t> </a:t>
            </a:r>
            <a:r>
              <a:rPr lang="en-US" b="1" dirty="0" err="1">
                <a:latin typeface="Times New Roman" panose="02020603050405020304" pitchFamily="18" charset="0"/>
              </a:rPr>
              <a:t>tiêu</a:t>
            </a:r>
            <a:endParaRPr lang="en-US" dirty="0">
              <a:latin typeface="Times New Roman" panose="02020603050405020304" pitchFamily="18" charset="0"/>
            </a:endParaRPr>
          </a:p>
        </p:txBody>
      </p:sp>
      <p:sp>
        <p:nvSpPr>
          <p:cNvPr id="3" name="Text Placeholder 2">
            <a:extLst>
              <a:ext uri="{FF2B5EF4-FFF2-40B4-BE49-F238E27FC236}">
                <a16:creationId xmlns:a16="http://schemas.microsoft.com/office/drawing/2014/main" id="{CA44A0C7-07B2-CD50-9430-543FECAA25B2}"/>
              </a:ext>
            </a:extLst>
          </p:cNvPr>
          <p:cNvSpPr>
            <a:spLocks noGrp="1"/>
          </p:cNvSpPr>
          <p:nvPr>
            <p:ph type="body" idx="1"/>
          </p:nvPr>
        </p:nvSpPr>
        <p:spPr>
          <a:xfrm>
            <a:off x="2911151" y="1779661"/>
            <a:ext cx="8994709" cy="5380357"/>
          </a:xfrm>
        </p:spPr>
        <p:txBody>
          <a:bodyPr>
            <a:noAutofit/>
          </a:bodyPr>
          <a:lstStyle/>
          <a:p>
            <a:pPr>
              <a:lnSpc>
                <a:spcPct val="150000"/>
              </a:lnSpc>
            </a:pPr>
            <a:r>
              <a:rPr lang="en-US" sz="2400" b="1" dirty="0" err="1"/>
              <a:t>Mô</a:t>
            </a:r>
            <a:r>
              <a:rPr lang="en-US" sz="2400" b="1" dirty="0"/>
              <a:t> </a:t>
            </a:r>
            <a:r>
              <a:rPr lang="en-US" sz="2400" b="1" dirty="0" err="1"/>
              <a:t>phỏng</a:t>
            </a:r>
            <a:r>
              <a:rPr lang="en-US" sz="2400" b="1" dirty="0"/>
              <a:t> </a:t>
            </a:r>
            <a:r>
              <a:rPr lang="en-US" sz="2400" b="1" dirty="0" err="1"/>
              <a:t>thuật</a:t>
            </a:r>
            <a:r>
              <a:rPr lang="en-US" sz="2400" b="1" dirty="0"/>
              <a:t> </a:t>
            </a:r>
            <a:r>
              <a:rPr lang="en-US" sz="2400" b="1" dirty="0" err="1"/>
              <a:t>toán</a:t>
            </a:r>
            <a:r>
              <a:rPr lang="en-US" sz="2400" b="1" dirty="0"/>
              <a:t> SJF </a:t>
            </a:r>
            <a:r>
              <a:rPr lang="en-US" sz="2400" b="1" dirty="0" err="1"/>
              <a:t>và</a:t>
            </a:r>
            <a:r>
              <a:rPr lang="en-US" sz="2400" b="1" dirty="0"/>
              <a:t> </a:t>
            </a:r>
            <a:r>
              <a:rPr lang="vi-VN" sz="2400" b="1" dirty="0" err="1"/>
              <a:t>Priority</a:t>
            </a:r>
            <a:r>
              <a:rPr lang="vi-VN" sz="2400" b="1" dirty="0"/>
              <a:t>: </a:t>
            </a:r>
            <a:r>
              <a:rPr lang="en-US" sz="2400" dirty="0" err="1"/>
              <a:t>Tái</a:t>
            </a:r>
            <a:r>
              <a:rPr lang="en-US" sz="2400" dirty="0"/>
              <a:t> </a:t>
            </a:r>
            <a:r>
              <a:rPr lang="en-US" sz="2400" dirty="0" err="1"/>
              <a:t>hiện</a:t>
            </a:r>
            <a:r>
              <a:rPr lang="en-US" sz="2400" dirty="0"/>
              <a:t> </a:t>
            </a:r>
            <a:r>
              <a:rPr lang="en-US" sz="2400" dirty="0" err="1"/>
              <a:t>quá</a:t>
            </a:r>
            <a:r>
              <a:rPr lang="en-US" sz="2400" dirty="0"/>
              <a:t> </a:t>
            </a:r>
            <a:r>
              <a:rPr lang="en-US" sz="2400" dirty="0" err="1"/>
              <a:t>trình</a:t>
            </a:r>
            <a:r>
              <a:rPr lang="en-US" sz="2400" dirty="0"/>
              <a:t> </a:t>
            </a:r>
            <a:r>
              <a:rPr lang="en-US" sz="2400" dirty="0" err="1"/>
              <a:t>hoạt</a:t>
            </a:r>
            <a:r>
              <a:rPr lang="en-US" sz="2400" dirty="0"/>
              <a:t> </a:t>
            </a:r>
            <a:r>
              <a:rPr lang="en-US" sz="2400" dirty="0" err="1"/>
              <a:t>động</a:t>
            </a:r>
            <a:r>
              <a:rPr lang="en-US" sz="2400" dirty="0"/>
              <a:t> </a:t>
            </a:r>
            <a:r>
              <a:rPr lang="en-US" sz="2400" dirty="0" err="1"/>
              <a:t>của</a:t>
            </a:r>
            <a:r>
              <a:rPr lang="en-US" sz="2400" dirty="0"/>
              <a:t> </a:t>
            </a:r>
            <a:r>
              <a:rPr lang="en-US" sz="2400" dirty="0" err="1"/>
              <a:t>hai</a:t>
            </a:r>
            <a:r>
              <a:rPr lang="en-US" sz="2400" dirty="0"/>
              <a:t> </a:t>
            </a:r>
            <a:r>
              <a:rPr lang="en-US" sz="2400" dirty="0" err="1"/>
              <a:t>thuật</a:t>
            </a:r>
            <a:r>
              <a:rPr lang="en-US" sz="2400" dirty="0"/>
              <a:t> </a:t>
            </a:r>
            <a:r>
              <a:rPr lang="en-US" sz="2400" dirty="0" err="1"/>
              <a:t>toán</a:t>
            </a:r>
            <a:r>
              <a:rPr lang="en-US" sz="2400" dirty="0"/>
              <a:t> </a:t>
            </a:r>
            <a:r>
              <a:rPr lang="en-US" sz="2400" dirty="0" err="1"/>
              <a:t>lập</a:t>
            </a:r>
            <a:r>
              <a:rPr lang="en-US" sz="2400" dirty="0"/>
              <a:t> </a:t>
            </a:r>
            <a:r>
              <a:rPr lang="en-US" sz="2400" dirty="0" err="1"/>
              <a:t>lịch</a:t>
            </a:r>
            <a:r>
              <a:rPr lang="en-US" sz="2400" dirty="0"/>
              <a:t> CPU </a:t>
            </a:r>
            <a:r>
              <a:rPr lang="en-US" sz="2400" dirty="0" err="1"/>
              <a:t>này</a:t>
            </a:r>
            <a:r>
              <a:rPr lang="en-US" sz="2400" dirty="0"/>
              <a:t>, </a:t>
            </a:r>
            <a:r>
              <a:rPr lang="en-US" sz="2400" dirty="0" err="1"/>
              <a:t>giúp</a:t>
            </a:r>
            <a:r>
              <a:rPr lang="en-US" sz="2400" dirty="0"/>
              <a:t> </a:t>
            </a:r>
            <a:r>
              <a:rPr lang="en-US" sz="2400" dirty="0" err="1"/>
              <a:t>hiểu</a:t>
            </a:r>
            <a:r>
              <a:rPr lang="en-US" sz="2400" dirty="0"/>
              <a:t> </a:t>
            </a:r>
            <a:r>
              <a:rPr lang="en-US" sz="2400" dirty="0" err="1"/>
              <a:t>rõ</a:t>
            </a:r>
            <a:r>
              <a:rPr lang="en-US" sz="2400" dirty="0"/>
              <a:t> </a:t>
            </a:r>
            <a:r>
              <a:rPr lang="en-US" sz="2400" dirty="0" err="1"/>
              <a:t>cách</a:t>
            </a:r>
            <a:r>
              <a:rPr lang="en-US" sz="2400" dirty="0"/>
              <a:t> </a:t>
            </a:r>
            <a:r>
              <a:rPr lang="en-US" sz="2400" dirty="0" err="1"/>
              <a:t>hệ</a:t>
            </a:r>
            <a:r>
              <a:rPr lang="en-US" sz="2400" dirty="0"/>
              <a:t> </a:t>
            </a:r>
            <a:r>
              <a:rPr lang="en-US" sz="2400" dirty="0" err="1"/>
              <a:t>điều</a:t>
            </a:r>
            <a:r>
              <a:rPr lang="en-US" sz="2400" dirty="0"/>
              <a:t> </a:t>
            </a:r>
            <a:r>
              <a:rPr lang="en-US" sz="2400" dirty="0" err="1"/>
              <a:t>hành</a:t>
            </a:r>
            <a:r>
              <a:rPr lang="en-US" sz="2400" dirty="0"/>
              <a:t> </a:t>
            </a:r>
            <a:r>
              <a:rPr lang="en-US" sz="2400" dirty="0" err="1"/>
              <a:t>phân</a:t>
            </a:r>
            <a:r>
              <a:rPr lang="en-US" sz="2400" dirty="0"/>
              <a:t> </a:t>
            </a:r>
            <a:r>
              <a:rPr lang="en-US" sz="2400" dirty="0" err="1"/>
              <a:t>bổ</a:t>
            </a:r>
            <a:r>
              <a:rPr lang="en-US" sz="2400" dirty="0"/>
              <a:t> </a:t>
            </a:r>
            <a:r>
              <a:rPr lang="en-US" sz="2400" dirty="0" err="1"/>
              <a:t>tài</a:t>
            </a:r>
            <a:r>
              <a:rPr lang="en-US" sz="2400" dirty="0"/>
              <a:t> </a:t>
            </a:r>
            <a:r>
              <a:rPr lang="en-US" sz="2400" dirty="0" err="1"/>
              <a:t>nguyên</a:t>
            </a:r>
            <a:r>
              <a:rPr lang="en-US" sz="2400" dirty="0"/>
              <a:t> </a:t>
            </a:r>
            <a:r>
              <a:rPr lang="en-US" sz="2400" dirty="0" err="1"/>
              <a:t>và</a:t>
            </a:r>
            <a:r>
              <a:rPr lang="en-US" sz="2400" dirty="0"/>
              <a:t> </a:t>
            </a:r>
            <a:r>
              <a:rPr lang="en-US" sz="2400" dirty="0" err="1"/>
              <a:t>xử</a:t>
            </a:r>
            <a:r>
              <a:rPr lang="en-US" sz="2400" dirty="0"/>
              <a:t> </a:t>
            </a:r>
            <a:r>
              <a:rPr lang="en-US" sz="2400" dirty="0" err="1"/>
              <a:t>lý</a:t>
            </a:r>
            <a:r>
              <a:rPr lang="en-US" sz="2400" dirty="0"/>
              <a:t> </a:t>
            </a:r>
            <a:r>
              <a:rPr lang="en-US" sz="2400" dirty="0" err="1"/>
              <a:t>tiến</a:t>
            </a:r>
            <a:r>
              <a:rPr lang="en-US" sz="2400" dirty="0"/>
              <a:t> </a:t>
            </a:r>
            <a:r>
              <a:rPr lang="en-US" sz="2400" dirty="0" err="1"/>
              <a:t>trình</a:t>
            </a:r>
            <a:r>
              <a:rPr lang="en-US" sz="2400" dirty="0"/>
              <a:t>.</a:t>
            </a:r>
          </a:p>
          <a:p>
            <a:pPr>
              <a:lnSpc>
                <a:spcPct val="150000"/>
              </a:lnSpc>
            </a:pPr>
            <a:r>
              <a:rPr lang="en-US" sz="2400" b="1" dirty="0" err="1"/>
              <a:t>Nâng</a:t>
            </a:r>
            <a:r>
              <a:rPr lang="en-US" sz="2400" b="1" dirty="0"/>
              <a:t> </a:t>
            </a:r>
            <a:r>
              <a:rPr lang="en-US" sz="2400" b="1" dirty="0" err="1"/>
              <a:t>cao</a:t>
            </a:r>
            <a:r>
              <a:rPr lang="en-US" sz="2400" b="1" dirty="0"/>
              <a:t> </a:t>
            </a:r>
            <a:r>
              <a:rPr lang="en-US" sz="2400" b="1" dirty="0" err="1"/>
              <a:t>hiểu</a:t>
            </a:r>
            <a:r>
              <a:rPr lang="en-US" sz="2400" b="1" dirty="0"/>
              <a:t> </a:t>
            </a:r>
            <a:r>
              <a:rPr lang="en-US" sz="2400" b="1" dirty="0" err="1"/>
              <a:t>biết</a:t>
            </a:r>
            <a:r>
              <a:rPr lang="en-US" sz="2400" b="1" dirty="0"/>
              <a:t> </a:t>
            </a:r>
            <a:r>
              <a:rPr lang="en-US" sz="2400" b="1" dirty="0" err="1"/>
              <a:t>về</a:t>
            </a:r>
            <a:r>
              <a:rPr lang="en-US" sz="2400" b="1" dirty="0"/>
              <a:t> </a:t>
            </a:r>
            <a:r>
              <a:rPr lang="en-US" sz="2400" b="1" dirty="0" err="1"/>
              <a:t>hệ</a:t>
            </a:r>
            <a:r>
              <a:rPr lang="en-US" sz="2400" b="1" dirty="0"/>
              <a:t> </a:t>
            </a:r>
            <a:r>
              <a:rPr lang="en-US" sz="2400" b="1" dirty="0" err="1"/>
              <a:t>điều</a:t>
            </a:r>
            <a:r>
              <a:rPr lang="en-US" sz="2400" b="1" dirty="0"/>
              <a:t> </a:t>
            </a:r>
            <a:r>
              <a:rPr lang="vi-VN" sz="2400" b="1" dirty="0"/>
              <a:t>hành: </a:t>
            </a:r>
            <a:r>
              <a:rPr lang="en-US" sz="2400" dirty="0" err="1"/>
              <a:t>Đào</a:t>
            </a:r>
            <a:r>
              <a:rPr lang="en-US" sz="2400" dirty="0"/>
              <a:t> </a:t>
            </a:r>
            <a:r>
              <a:rPr lang="en-US" sz="2400" dirty="0" err="1"/>
              <a:t>sâu</a:t>
            </a:r>
            <a:r>
              <a:rPr lang="en-US" sz="2400" dirty="0"/>
              <a:t> </a:t>
            </a:r>
            <a:r>
              <a:rPr lang="en-US" sz="2400" dirty="0" err="1"/>
              <a:t>vào</a:t>
            </a:r>
            <a:r>
              <a:rPr lang="en-US" sz="2400" dirty="0"/>
              <a:t> </a:t>
            </a:r>
            <a:r>
              <a:rPr lang="en-US" sz="2400" dirty="0" err="1"/>
              <a:t>cách</a:t>
            </a:r>
            <a:r>
              <a:rPr lang="en-US" sz="2400" dirty="0"/>
              <a:t> </a:t>
            </a:r>
            <a:r>
              <a:rPr lang="en-US" sz="2400" dirty="0" err="1"/>
              <a:t>hệ</a:t>
            </a:r>
            <a:r>
              <a:rPr lang="en-US" sz="2400" dirty="0"/>
              <a:t> </a:t>
            </a:r>
            <a:r>
              <a:rPr lang="en-US" sz="2400" dirty="0" err="1"/>
              <a:t>điều</a:t>
            </a:r>
            <a:r>
              <a:rPr lang="en-US" sz="2400" dirty="0"/>
              <a:t> </a:t>
            </a:r>
            <a:r>
              <a:rPr lang="en-US" sz="2400" dirty="0" err="1"/>
              <a:t>hành</a:t>
            </a:r>
            <a:r>
              <a:rPr lang="en-US" sz="2400" dirty="0"/>
              <a:t> </a:t>
            </a:r>
            <a:r>
              <a:rPr lang="en-US" sz="2400" dirty="0" err="1"/>
              <a:t>quản</a:t>
            </a:r>
            <a:r>
              <a:rPr lang="en-US" sz="2400" dirty="0"/>
              <a:t> </a:t>
            </a:r>
            <a:r>
              <a:rPr lang="en-US" sz="2400" dirty="0" err="1"/>
              <a:t>lý</a:t>
            </a:r>
            <a:r>
              <a:rPr lang="en-US" sz="2400" dirty="0"/>
              <a:t> </a:t>
            </a:r>
            <a:r>
              <a:rPr lang="en-US" sz="2400" dirty="0" err="1"/>
              <a:t>tài</a:t>
            </a:r>
            <a:r>
              <a:rPr lang="en-US" sz="2400" dirty="0"/>
              <a:t> </a:t>
            </a:r>
            <a:r>
              <a:rPr lang="en-US" sz="2400" dirty="0" err="1"/>
              <a:t>nguyên</a:t>
            </a:r>
            <a:r>
              <a:rPr lang="en-US" sz="2400" dirty="0"/>
              <a:t>, </a:t>
            </a:r>
            <a:r>
              <a:rPr lang="en-US" sz="2400" dirty="0" err="1"/>
              <a:t>tập</a:t>
            </a:r>
            <a:r>
              <a:rPr lang="en-US" sz="2400" dirty="0"/>
              <a:t> </a:t>
            </a:r>
            <a:r>
              <a:rPr lang="en-US" sz="2400" dirty="0" err="1"/>
              <a:t>trung</a:t>
            </a:r>
            <a:r>
              <a:rPr lang="en-US" sz="2400" dirty="0"/>
              <a:t> </a:t>
            </a:r>
            <a:r>
              <a:rPr lang="en-US" sz="2400" dirty="0" err="1"/>
              <a:t>vào</a:t>
            </a:r>
            <a:r>
              <a:rPr lang="en-US" sz="2400" dirty="0"/>
              <a:t> </a:t>
            </a:r>
            <a:r>
              <a:rPr lang="en-US" sz="2400" dirty="0" err="1"/>
              <a:t>chức</a:t>
            </a:r>
            <a:r>
              <a:rPr lang="en-US" sz="2400" dirty="0"/>
              <a:t> </a:t>
            </a:r>
            <a:r>
              <a:rPr lang="en-US" sz="2400" dirty="0" err="1"/>
              <a:t>năng</a:t>
            </a:r>
            <a:r>
              <a:rPr lang="en-US" sz="2400" dirty="0"/>
              <a:t> </a:t>
            </a:r>
            <a:r>
              <a:rPr lang="en-US" sz="2400" dirty="0" err="1"/>
              <a:t>của</a:t>
            </a:r>
            <a:r>
              <a:rPr lang="en-US" sz="2400" dirty="0"/>
              <a:t> </a:t>
            </a:r>
            <a:r>
              <a:rPr lang="en-US" sz="2400" dirty="0" err="1"/>
              <a:t>bộ</a:t>
            </a:r>
            <a:r>
              <a:rPr lang="en-US" sz="2400" dirty="0"/>
              <a:t> </a:t>
            </a:r>
            <a:r>
              <a:rPr lang="en-US" sz="2400" dirty="0" err="1"/>
              <a:t>lập</a:t>
            </a:r>
            <a:r>
              <a:rPr lang="en-US" sz="2400" dirty="0"/>
              <a:t> </a:t>
            </a:r>
            <a:r>
              <a:rPr lang="en-US" sz="2400" dirty="0" err="1"/>
              <a:t>lịch</a:t>
            </a:r>
            <a:r>
              <a:rPr lang="en-US" sz="2400" dirty="0"/>
              <a:t> CPU.</a:t>
            </a:r>
          </a:p>
          <a:p>
            <a:pPr>
              <a:lnSpc>
                <a:spcPct val="150000"/>
              </a:lnSpc>
            </a:pPr>
            <a:r>
              <a:rPr lang="en-US" sz="2400" b="1" dirty="0"/>
              <a:t>Cung </a:t>
            </a:r>
            <a:r>
              <a:rPr lang="en-US" sz="2400" b="1" dirty="0" err="1"/>
              <a:t>cấp</a:t>
            </a:r>
            <a:r>
              <a:rPr lang="en-US" sz="2400" b="1" dirty="0"/>
              <a:t> </a:t>
            </a:r>
            <a:r>
              <a:rPr lang="en-US" sz="2400" b="1" dirty="0" err="1"/>
              <a:t>minh</a:t>
            </a:r>
            <a:r>
              <a:rPr lang="en-US" sz="2400" b="1" dirty="0"/>
              <a:t> </a:t>
            </a:r>
            <a:r>
              <a:rPr lang="en-US" sz="2400" b="1" dirty="0" err="1"/>
              <a:t>họa</a:t>
            </a:r>
            <a:r>
              <a:rPr lang="en-US" sz="2400" b="1" dirty="0"/>
              <a:t> </a:t>
            </a:r>
            <a:r>
              <a:rPr lang="en-US" sz="2400" b="1" dirty="0" err="1"/>
              <a:t>trực</a:t>
            </a:r>
            <a:r>
              <a:rPr lang="en-US" sz="2400" b="1" dirty="0"/>
              <a:t> </a:t>
            </a:r>
            <a:r>
              <a:rPr lang="vi-VN" sz="2400" b="1" dirty="0"/>
              <a:t>quan: </a:t>
            </a:r>
            <a:r>
              <a:rPr lang="vi-VN" sz="2400" dirty="0"/>
              <a:t>Sử dụng các công cụ lập biểu đồ như Gantt Chart để biểu đạt hoạt động của thuật toán, hỗ trợ trong việc nghiên cứu và giảng dạy.</a:t>
            </a:r>
          </a:p>
          <a:p>
            <a:pPr marL="0" indent="0">
              <a:lnSpc>
                <a:spcPct val="150000"/>
              </a:lnSpc>
              <a:buNone/>
            </a:pPr>
            <a:endParaRPr lang="en-US" sz="2400" dirty="0"/>
          </a:p>
          <a:p>
            <a:pPr>
              <a:lnSpc>
                <a:spcPct val="150000"/>
              </a:lnSpc>
            </a:pPr>
            <a:endParaRPr lang="en-US" sz="2400" dirty="0"/>
          </a:p>
        </p:txBody>
      </p:sp>
      <p:sp>
        <p:nvSpPr>
          <p:cNvPr id="4" name="Date Placeholder 3">
            <a:extLst>
              <a:ext uri="{FF2B5EF4-FFF2-40B4-BE49-F238E27FC236}">
                <a16:creationId xmlns:a16="http://schemas.microsoft.com/office/drawing/2014/main" id="{ECA23F3E-C83A-5611-3271-F4A1673B562E}"/>
              </a:ext>
            </a:extLst>
          </p:cNvPr>
          <p:cNvSpPr>
            <a:spLocks noGrp="1"/>
          </p:cNvSpPr>
          <p:nvPr>
            <p:ph type="dt" sz="half" idx="10"/>
          </p:nvPr>
        </p:nvSpPr>
        <p:spPr/>
        <p:txBody>
          <a:bodyPr/>
          <a:lstStyle/>
          <a:p>
            <a:fld id="{8120E8D4-A788-401D-B4EB-986FE0AC4358}" type="datetime1">
              <a:rPr lang="en-US" smtClean="0"/>
              <a:t>4/14/2026</a:t>
            </a:fld>
            <a:endParaRPr lang="en-US"/>
          </a:p>
        </p:txBody>
      </p:sp>
      <p:sp>
        <p:nvSpPr>
          <p:cNvPr id="6" name="Slide Number Placeholder 5">
            <a:extLst>
              <a:ext uri="{FF2B5EF4-FFF2-40B4-BE49-F238E27FC236}">
                <a16:creationId xmlns:a16="http://schemas.microsoft.com/office/drawing/2014/main" id="{C5B39CEF-CAB0-668F-887F-9DBE96CD6A87}"/>
              </a:ext>
            </a:extLst>
          </p:cNvPr>
          <p:cNvSpPr>
            <a:spLocks noGrp="1"/>
          </p:cNvSpPr>
          <p:nvPr>
            <p:ph type="sldNum" sz="quarter" idx="12"/>
          </p:nvPr>
        </p:nvSpPr>
        <p:spPr/>
        <p:txBody>
          <a:bodyPr/>
          <a:lstStyle/>
          <a:p>
            <a:fld id="{6C56B8FA-5C00-4693-8C7F-3776FF570F07}" type="slidenum">
              <a:rPr lang="en-US" smtClean="0"/>
              <a:t>4</a:t>
            </a:fld>
            <a:endParaRPr lang="en-US"/>
          </a:p>
        </p:txBody>
      </p:sp>
      <p:pic>
        <p:nvPicPr>
          <p:cNvPr id="8" name="Picture 7">
            <a:extLst>
              <a:ext uri="{FF2B5EF4-FFF2-40B4-BE49-F238E27FC236}">
                <a16:creationId xmlns:a16="http://schemas.microsoft.com/office/drawing/2014/main" id="{D570BE07-2E20-27A6-B083-205351CFC9A0}"/>
              </a:ext>
            </a:extLst>
          </p:cNvPr>
          <p:cNvPicPr>
            <a:picLocks noChangeAspect="1"/>
          </p:cNvPicPr>
          <p:nvPr/>
        </p:nvPicPr>
        <p:blipFill>
          <a:blip r:embed="rId2"/>
          <a:srcRect l="9917" t="1703" r="10431" b="3400"/>
          <a:stretch/>
        </p:blipFill>
        <p:spPr>
          <a:xfrm>
            <a:off x="642257" y="2174032"/>
            <a:ext cx="1567543" cy="3582956"/>
          </a:xfrm>
          <a:prstGeom prst="rect">
            <a:avLst/>
          </a:prstGeom>
        </p:spPr>
      </p:pic>
    </p:spTree>
    <p:extLst>
      <p:ext uri="{BB962C8B-B14F-4D97-AF65-F5344CB8AC3E}">
        <p14:creationId xmlns:p14="http://schemas.microsoft.com/office/powerpoint/2010/main" val="29847857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BA61F-3805-1C2E-02C0-C0F141C57C09}"/>
              </a:ext>
            </a:extLst>
          </p:cNvPr>
          <p:cNvSpPr>
            <a:spLocks noGrp="1"/>
          </p:cNvSpPr>
          <p:nvPr>
            <p:ph type="title"/>
          </p:nvPr>
        </p:nvSpPr>
        <p:spPr>
          <a:xfrm>
            <a:off x="0" y="1004297"/>
            <a:ext cx="12192000" cy="767410"/>
          </a:xfrm>
        </p:spPr>
        <p:txBody>
          <a:bodyPr>
            <a:normAutofit/>
          </a:bodyPr>
          <a:lstStyle/>
          <a:p>
            <a:pPr algn="ctr"/>
            <a:r>
              <a:rPr lang="en-US" b="1" dirty="0">
                <a:latin typeface="Times New Roman" panose="02020603050405020304" pitchFamily="18" charset="0"/>
              </a:rPr>
              <a:t>Phạm vi</a:t>
            </a:r>
            <a:endParaRPr lang="en-US" dirty="0">
              <a:latin typeface="Times New Roman" panose="02020603050405020304" pitchFamily="18" charset="0"/>
            </a:endParaRPr>
          </a:p>
        </p:txBody>
      </p:sp>
      <p:sp>
        <p:nvSpPr>
          <p:cNvPr id="3" name="Text Placeholder 2">
            <a:extLst>
              <a:ext uri="{FF2B5EF4-FFF2-40B4-BE49-F238E27FC236}">
                <a16:creationId xmlns:a16="http://schemas.microsoft.com/office/drawing/2014/main" id="{F12FCDD9-6DCA-CB6D-622B-FCDB52D19B03}"/>
              </a:ext>
            </a:extLst>
          </p:cNvPr>
          <p:cNvSpPr>
            <a:spLocks noGrp="1"/>
          </p:cNvSpPr>
          <p:nvPr>
            <p:ph type="body" idx="1"/>
          </p:nvPr>
        </p:nvSpPr>
        <p:spPr>
          <a:xfrm>
            <a:off x="838200" y="2099388"/>
            <a:ext cx="10515600" cy="3754315"/>
          </a:xfrm>
        </p:spPr>
        <p:txBody>
          <a:bodyPr>
            <a:noAutofit/>
          </a:bodyPr>
          <a:lstStyle/>
          <a:p>
            <a:pPr>
              <a:lnSpc>
                <a:spcPct val="150000"/>
              </a:lnSpc>
            </a:pPr>
            <a:r>
              <a:rPr lang="vi-VN" sz="2000" b="1" dirty="0"/>
              <a:t>Triển khai thuật toán SJF không ưu tiên: </a:t>
            </a:r>
            <a:r>
              <a:rPr lang="en-US" sz="2000" dirty="0" err="1"/>
              <a:t>Mô</a:t>
            </a:r>
            <a:r>
              <a:rPr lang="en-US" sz="2000" dirty="0"/>
              <a:t> </a:t>
            </a:r>
            <a:r>
              <a:rPr lang="en-US" sz="2000" dirty="0" err="1"/>
              <a:t>phỏng</a:t>
            </a:r>
            <a:r>
              <a:rPr lang="en-US" sz="2000" dirty="0"/>
              <a:t> </a:t>
            </a:r>
            <a:r>
              <a:rPr lang="en-US" sz="2000" dirty="0" err="1"/>
              <a:t>sự</a:t>
            </a:r>
            <a:r>
              <a:rPr lang="en-US" sz="2000" dirty="0"/>
              <a:t> </a:t>
            </a:r>
            <a:r>
              <a:rPr lang="en-US" sz="2000" dirty="0" err="1"/>
              <a:t>chọn</a:t>
            </a:r>
            <a:r>
              <a:rPr lang="en-US" sz="2000" dirty="0"/>
              <a:t> </a:t>
            </a:r>
            <a:r>
              <a:rPr lang="en-US" sz="2000" dirty="0" err="1"/>
              <a:t>lựa</a:t>
            </a:r>
            <a:r>
              <a:rPr lang="en-US" sz="2000" dirty="0"/>
              <a:t> </a:t>
            </a:r>
            <a:r>
              <a:rPr lang="en-US" sz="2000" dirty="0" err="1"/>
              <a:t>tiến</a:t>
            </a:r>
            <a:r>
              <a:rPr lang="en-US" sz="2000" dirty="0"/>
              <a:t> </a:t>
            </a:r>
            <a:r>
              <a:rPr lang="en-US" sz="2000" dirty="0" err="1"/>
              <a:t>trình</a:t>
            </a:r>
            <a:r>
              <a:rPr lang="en-US" sz="2000" dirty="0"/>
              <a:t> </a:t>
            </a:r>
            <a:r>
              <a:rPr lang="en-US" sz="2000" dirty="0" err="1"/>
              <a:t>dựa</a:t>
            </a:r>
            <a:r>
              <a:rPr lang="en-US" sz="2000" dirty="0"/>
              <a:t> </a:t>
            </a:r>
            <a:r>
              <a:rPr lang="en-US" sz="2000" dirty="0" err="1"/>
              <a:t>trên</a:t>
            </a:r>
            <a:r>
              <a:rPr lang="en-US" sz="2000" dirty="0"/>
              <a:t> </a:t>
            </a:r>
            <a:r>
              <a:rPr lang="en-US" sz="2000" dirty="0" err="1"/>
              <a:t>thời</a:t>
            </a:r>
            <a:r>
              <a:rPr lang="en-US" sz="2000" dirty="0"/>
              <a:t> </a:t>
            </a:r>
            <a:r>
              <a:rPr lang="en-US" sz="2000" dirty="0" err="1"/>
              <a:t>gian</a:t>
            </a:r>
            <a:r>
              <a:rPr lang="en-US" sz="2000" dirty="0"/>
              <a:t> burst time </a:t>
            </a:r>
            <a:r>
              <a:rPr lang="en-US" sz="2000" dirty="0" err="1"/>
              <a:t>thấp</a:t>
            </a:r>
            <a:r>
              <a:rPr lang="en-US" sz="2000" dirty="0"/>
              <a:t> </a:t>
            </a:r>
            <a:r>
              <a:rPr lang="en-US" sz="2000" dirty="0" err="1"/>
              <a:t>nhất</a:t>
            </a:r>
            <a:r>
              <a:rPr lang="en-US" sz="2000" dirty="0"/>
              <a:t>, </a:t>
            </a:r>
            <a:r>
              <a:rPr lang="en-US" sz="2000" dirty="0" err="1"/>
              <a:t>giúp</a:t>
            </a:r>
            <a:r>
              <a:rPr lang="en-US" sz="2000" dirty="0"/>
              <a:t> </a:t>
            </a:r>
            <a:r>
              <a:rPr lang="en-US" sz="2000" dirty="0" err="1"/>
              <a:t>tiết</a:t>
            </a:r>
            <a:r>
              <a:rPr lang="en-US" sz="2000" dirty="0"/>
              <a:t> </a:t>
            </a:r>
            <a:r>
              <a:rPr lang="en-US" sz="2000" dirty="0" err="1"/>
              <a:t>kiệm</a:t>
            </a:r>
            <a:r>
              <a:rPr lang="en-US" sz="2000" dirty="0"/>
              <a:t> </a:t>
            </a:r>
            <a:r>
              <a:rPr lang="en-US" sz="2000" dirty="0" err="1"/>
              <a:t>tài</a:t>
            </a:r>
            <a:r>
              <a:rPr lang="en-US" sz="2000" dirty="0"/>
              <a:t> </a:t>
            </a:r>
            <a:r>
              <a:rPr lang="en-US" sz="2000" dirty="0" err="1"/>
              <a:t>nguyên</a:t>
            </a:r>
            <a:r>
              <a:rPr lang="en-US" sz="2000" dirty="0"/>
              <a:t> </a:t>
            </a:r>
            <a:r>
              <a:rPr lang="en-US" sz="2000" dirty="0" err="1"/>
              <a:t>và</a:t>
            </a:r>
            <a:r>
              <a:rPr lang="en-US" sz="2000" dirty="0"/>
              <a:t> </a:t>
            </a:r>
            <a:r>
              <a:rPr lang="en-US" sz="2000" dirty="0" err="1"/>
              <a:t>cải</a:t>
            </a:r>
            <a:r>
              <a:rPr lang="en-US" sz="2000" dirty="0"/>
              <a:t> </a:t>
            </a:r>
            <a:r>
              <a:rPr lang="en-US" sz="2000" dirty="0" err="1"/>
              <a:t>thiện</a:t>
            </a:r>
            <a:r>
              <a:rPr lang="en-US" sz="2000" dirty="0"/>
              <a:t> </a:t>
            </a:r>
            <a:r>
              <a:rPr lang="en-US" sz="2000" dirty="0" err="1"/>
              <a:t>hiệu</a:t>
            </a:r>
            <a:r>
              <a:rPr lang="en-US" sz="2000" dirty="0"/>
              <a:t> </a:t>
            </a:r>
            <a:r>
              <a:rPr lang="en-US" sz="2000" dirty="0" err="1"/>
              <a:t>năng</a:t>
            </a:r>
            <a:r>
              <a:rPr lang="en-US" sz="2000" dirty="0"/>
              <a:t>.	</a:t>
            </a:r>
          </a:p>
          <a:p>
            <a:pPr>
              <a:lnSpc>
                <a:spcPct val="150000"/>
              </a:lnSpc>
            </a:pPr>
            <a:r>
              <a:rPr lang="vi-VN" sz="2000" b="1" dirty="0"/>
              <a:t>Triển khai thuật toán Priority không ưu tiên: </a:t>
            </a:r>
            <a:r>
              <a:rPr lang="vi-VN" sz="2000" dirty="0"/>
              <a:t>Áp dụng các nguyên tắc ưu tiên tiến trình dựa trên độ ưu tiên được chỉ định, đảm bảo các tiến trình quan trọng nhận được xử lý trước.</a:t>
            </a:r>
          </a:p>
          <a:p>
            <a:pPr>
              <a:lnSpc>
                <a:spcPct val="150000"/>
              </a:lnSpc>
            </a:pPr>
            <a:r>
              <a:rPr lang="en-US" sz="2000" b="1" dirty="0" err="1"/>
              <a:t>Công</a:t>
            </a:r>
            <a:r>
              <a:rPr lang="en-US" sz="2000" b="1" dirty="0"/>
              <a:t> </a:t>
            </a:r>
            <a:r>
              <a:rPr lang="en-US" sz="2000" b="1" dirty="0" err="1"/>
              <a:t>nghệ</a:t>
            </a:r>
            <a:r>
              <a:rPr lang="en-US" sz="2000" b="1" dirty="0"/>
              <a:t> </a:t>
            </a:r>
            <a:r>
              <a:rPr lang="en-US" sz="2000" b="1" dirty="0" err="1"/>
              <a:t>sử</a:t>
            </a:r>
            <a:r>
              <a:rPr lang="en-US" sz="2000" b="1" dirty="0"/>
              <a:t> </a:t>
            </a:r>
            <a:r>
              <a:rPr lang="vi-VN" sz="2000" b="1" dirty="0"/>
              <a:t>dụng: </a:t>
            </a:r>
            <a:r>
              <a:rPr lang="vi-VN" sz="2000" dirty="0"/>
              <a:t>Sử dụng ngôn ngữ lập trình Python và thư viện pandas để xử lý dữ liệu, cung cấp một cách tiếp cận hiện đại và dễ sử dụng trong việc hiển thị và phân tích dữ liệu.</a:t>
            </a:r>
          </a:p>
          <a:p>
            <a:pPr marL="0" indent="0">
              <a:buNone/>
            </a:pPr>
            <a:endParaRPr lang="en-US" sz="2000" dirty="0"/>
          </a:p>
          <a:p>
            <a:pPr marL="0" indent="0">
              <a:buNone/>
            </a:pPr>
            <a:endParaRPr lang="en-US" sz="2000" dirty="0"/>
          </a:p>
        </p:txBody>
      </p:sp>
      <p:sp>
        <p:nvSpPr>
          <p:cNvPr id="6" name="Slide Number Placeholder 5">
            <a:extLst>
              <a:ext uri="{FF2B5EF4-FFF2-40B4-BE49-F238E27FC236}">
                <a16:creationId xmlns:a16="http://schemas.microsoft.com/office/drawing/2014/main" id="{8AC5A06C-6112-0537-65E6-E5CE299E11D9}"/>
              </a:ext>
            </a:extLst>
          </p:cNvPr>
          <p:cNvSpPr>
            <a:spLocks noGrp="1"/>
          </p:cNvSpPr>
          <p:nvPr>
            <p:ph type="sldNum" sz="quarter" idx="12"/>
          </p:nvPr>
        </p:nvSpPr>
        <p:spPr/>
        <p:txBody>
          <a:bodyPr/>
          <a:lstStyle/>
          <a:p>
            <a:fld id="{6C56B8FA-5C00-4693-8C7F-3776FF570F07}" type="slidenum">
              <a:rPr lang="en-US" smtClean="0"/>
              <a:t>5</a:t>
            </a:fld>
            <a:endParaRPr lang="en-US"/>
          </a:p>
        </p:txBody>
      </p:sp>
    </p:spTree>
    <p:extLst>
      <p:ext uri="{BB962C8B-B14F-4D97-AF65-F5344CB8AC3E}">
        <p14:creationId xmlns:p14="http://schemas.microsoft.com/office/powerpoint/2010/main" val="18059482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39F20-131D-C72D-992E-777DBC6A680B}"/>
              </a:ext>
            </a:extLst>
          </p:cNvPr>
          <p:cNvSpPr>
            <a:spLocks noGrp="1"/>
          </p:cNvSpPr>
          <p:nvPr>
            <p:ph type="title"/>
          </p:nvPr>
        </p:nvSpPr>
        <p:spPr>
          <a:xfrm>
            <a:off x="1" y="1866122"/>
            <a:ext cx="12192000" cy="2500604"/>
          </a:xfrm>
        </p:spPr>
        <p:txBody>
          <a:bodyPr>
            <a:noAutofit/>
          </a:bodyPr>
          <a:lstStyle/>
          <a:p>
            <a:pPr algn="ctr"/>
            <a:r>
              <a:rPr lang="vi-VN" sz="6000" b="1" dirty="0">
                <a:latin typeface="Times New Roman" panose="02020603050405020304" pitchFamily="18" charset="0"/>
              </a:rPr>
              <a:t>02.</a:t>
            </a:r>
            <a:br>
              <a:rPr lang="vi-VN" sz="6000" b="1" dirty="0">
                <a:latin typeface="Times New Roman" panose="02020603050405020304" pitchFamily="18" charset="0"/>
              </a:rPr>
            </a:br>
            <a:r>
              <a:rPr lang="vi-VN" sz="6000" b="1" dirty="0">
                <a:latin typeface="Times New Roman" panose="02020603050405020304" pitchFamily="18" charset="0"/>
              </a:rPr>
              <a:t>Cấu trúc và triển khai chương trình</a:t>
            </a:r>
            <a:endParaRPr lang="en-US" sz="6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D1CC1811-0F39-D0CE-1885-12EA8302820B}"/>
              </a:ext>
            </a:extLst>
          </p:cNvPr>
          <p:cNvSpPr>
            <a:spLocks noGrp="1"/>
          </p:cNvSpPr>
          <p:nvPr>
            <p:ph type="dt" sz="half" idx="10"/>
          </p:nvPr>
        </p:nvSpPr>
        <p:spPr/>
        <p:txBody>
          <a:bodyPr/>
          <a:lstStyle/>
          <a:p>
            <a:fld id="{F96A87E1-9421-4CB4-9C4B-92F8E5D00273}" type="datetime1">
              <a:rPr lang="en-US" smtClean="0"/>
              <a:t>4/14/2026</a:t>
            </a:fld>
            <a:endParaRPr lang="en-US"/>
          </a:p>
        </p:txBody>
      </p:sp>
      <p:sp>
        <p:nvSpPr>
          <p:cNvPr id="6" name="Slide Number Placeholder 5">
            <a:extLst>
              <a:ext uri="{FF2B5EF4-FFF2-40B4-BE49-F238E27FC236}">
                <a16:creationId xmlns:a16="http://schemas.microsoft.com/office/drawing/2014/main" id="{F468DF20-7200-DC62-0E48-5552E263A833}"/>
              </a:ext>
            </a:extLst>
          </p:cNvPr>
          <p:cNvSpPr>
            <a:spLocks noGrp="1"/>
          </p:cNvSpPr>
          <p:nvPr>
            <p:ph type="sldNum" sz="quarter" idx="12"/>
          </p:nvPr>
        </p:nvSpPr>
        <p:spPr/>
        <p:txBody>
          <a:bodyPr/>
          <a:lstStyle/>
          <a:p>
            <a:fld id="{6C56B8FA-5C00-4693-8C7F-3776FF570F07}" type="slidenum">
              <a:rPr lang="en-US" smtClean="0"/>
              <a:t>6</a:t>
            </a:fld>
            <a:endParaRPr lang="en-US"/>
          </a:p>
        </p:txBody>
      </p:sp>
    </p:spTree>
    <p:extLst>
      <p:ext uri="{BB962C8B-B14F-4D97-AF65-F5344CB8AC3E}">
        <p14:creationId xmlns:p14="http://schemas.microsoft.com/office/powerpoint/2010/main" val="23175222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800DF-F654-664E-DB40-87B36C9CCE6D}"/>
              </a:ext>
            </a:extLst>
          </p:cNvPr>
          <p:cNvSpPr>
            <a:spLocks noGrp="1"/>
          </p:cNvSpPr>
          <p:nvPr>
            <p:ph type="title"/>
          </p:nvPr>
        </p:nvSpPr>
        <p:spPr/>
        <p:txBody>
          <a:bodyPr>
            <a:normAutofit/>
          </a:bodyPr>
          <a:lstStyle/>
          <a:p>
            <a:r>
              <a:rPr lang="vi-VN" b="1" dirty="0">
                <a:latin typeface="Times New Roman" panose="02020603050405020304" pitchFamily="18" charset="0"/>
              </a:rPr>
              <a:t>Các mô-đun chương trình</a:t>
            </a:r>
            <a:endParaRPr lang="en-US" dirty="0">
              <a:latin typeface="Times New Roman" panose="02020603050405020304" pitchFamily="18" charset="0"/>
            </a:endParaRPr>
          </a:p>
        </p:txBody>
      </p:sp>
      <p:sp>
        <p:nvSpPr>
          <p:cNvPr id="3" name="Text Placeholder 2">
            <a:extLst>
              <a:ext uri="{FF2B5EF4-FFF2-40B4-BE49-F238E27FC236}">
                <a16:creationId xmlns:a16="http://schemas.microsoft.com/office/drawing/2014/main" id="{60B18C0D-A1A7-777C-CE82-D1537F189888}"/>
              </a:ext>
            </a:extLst>
          </p:cNvPr>
          <p:cNvSpPr>
            <a:spLocks noGrp="1"/>
          </p:cNvSpPr>
          <p:nvPr>
            <p:ph type="body" idx="1"/>
          </p:nvPr>
        </p:nvSpPr>
        <p:spPr>
          <a:xfrm>
            <a:off x="3581400" y="2175030"/>
            <a:ext cx="7772399" cy="4001934"/>
          </a:xfrm>
        </p:spPr>
        <p:txBody>
          <a:bodyPr>
            <a:normAutofit/>
          </a:bodyPr>
          <a:lstStyle/>
          <a:p>
            <a:pPr>
              <a:lnSpc>
                <a:spcPct val="150000"/>
              </a:lnSpc>
            </a:pPr>
            <a:r>
              <a:rPr lang="en-US" sz="2000" b="1" dirty="0" err="1"/>
              <a:t>Mô-đun</a:t>
            </a:r>
            <a:r>
              <a:rPr lang="en-US" sz="2000" b="1" dirty="0"/>
              <a:t> </a:t>
            </a:r>
            <a:r>
              <a:rPr lang="en-US" sz="2000" b="1" dirty="0" err="1"/>
              <a:t>thực</a:t>
            </a:r>
            <a:r>
              <a:rPr lang="en-US" sz="2000" b="1" dirty="0"/>
              <a:t> </a:t>
            </a:r>
            <a:r>
              <a:rPr lang="en-US" sz="2000" b="1" dirty="0" err="1"/>
              <a:t>thi</a:t>
            </a:r>
            <a:r>
              <a:rPr lang="en-US" sz="2000" b="1" dirty="0"/>
              <a:t> </a:t>
            </a:r>
            <a:r>
              <a:rPr lang="en-US" sz="2000" b="1" dirty="0" err="1"/>
              <a:t>thuật</a:t>
            </a:r>
            <a:r>
              <a:rPr lang="en-US" sz="2000" b="1" dirty="0"/>
              <a:t> </a:t>
            </a:r>
            <a:r>
              <a:rPr lang="vi-VN" sz="2000" b="1" dirty="0"/>
              <a:t>toán: </a:t>
            </a:r>
            <a:r>
              <a:rPr lang="en-US" sz="2000" dirty="0" err="1"/>
              <a:t>Xử</a:t>
            </a:r>
            <a:r>
              <a:rPr lang="en-US" sz="2000" dirty="0"/>
              <a:t> </a:t>
            </a:r>
            <a:r>
              <a:rPr lang="en-US" sz="2000" dirty="0" err="1"/>
              <a:t>lý</a:t>
            </a:r>
            <a:r>
              <a:rPr lang="en-US" sz="2000" dirty="0"/>
              <a:t> </a:t>
            </a:r>
            <a:r>
              <a:rPr lang="en-US" sz="2000" dirty="0" err="1"/>
              <a:t>và</a:t>
            </a:r>
            <a:r>
              <a:rPr lang="en-US" sz="2000" dirty="0"/>
              <a:t> </a:t>
            </a:r>
            <a:r>
              <a:rPr lang="en-US" sz="2000" dirty="0" err="1"/>
              <a:t>triển</a:t>
            </a:r>
            <a:r>
              <a:rPr lang="en-US" sz="2000" dirty="0"/>
              <a:t> </a:t>
            </a:r>
            <a:r>
              <a:rPr lang="en-US" sz="2000" dirty="0" err="1"/>
              <a:t>khai</a:t>
            </a:r>
            <a:r>
              <a:rPr lang="en-US" sz="2000" dirty="0"/>
              <a:t> </a:t>
            </a:r>
            <a:r>
              <a:rPr lang="en-US" sz="2000" dirty="0" err="1"/>
              <a:t>thuật</a:t>
            </a:r>
            <a:r>
              <a:rPr lang="en-US" sz="2000" dirty="0"/>
              <a:t> </a:t>
            </a:r>
            <a:r>
              <a:rPr lang="en-US" sz="2000" dirty="0" err="1"/>
              <a:t>toán</a:t>
            </a:r>
            <a:r>
              <a:rPr lang="en-US" sz="2000" dirty="0"/>
              <a:t> SJF </a:t>
            </a:r>
            <a:r>
              <a:rPr lang="en-US" sz="2000" dirty="0" err="1"/>
              <a:t>và</a:t>
            </a:r>
            <a:r>
              <a:rPr lang="en-US" sz="2000" dirty="0"/>
              <a:t> Priority, </a:t>
            </a:r>
            <a:r>
              <a:rPr lang="en-US" sz="2000" dirty="0" err="1"/>
              <a:t>đảm</a:t>
            </a:r>
            <a:r>
              <a:rPr lang="en-US" sz="2000" dirty="0"/>
              <a:t> </a:t>
            </a:r>
            <a:r>
              <a:rPr lang="en-US" sz="2000" dirty="0" err="1"/>
              <a:t>bảo</a:t>
            </a:r>
            <a:r>
              <a:rPr lang="en-US" sz="2000" dirty="0"/>
              <a:t> </a:t>
            </a:r>
            <a:r>
              <a:rPr lang="en-US" sz="2000" dirty="0" err="1"/>
              <a:t>tính</a:t>
            </a:r>
            <a:r>
              <a:rPr lang="en-US" sz="2000" dirty="0"/>
              <a:t> </a:t>
            </a:r>
            <a:r>
              <a:rPr lang="en-US" sz="2000" dirty="0" err="1"/>
              <a:t>chính</a:t>
            </a:r>
            <a:r>
              <a:rPr lang="en-US" sz="2000" dirty="0"/>
              <a:t> </a:t>
            </a:r>
            <a:r>
              <a:rPr lang="en-US" sz="2000" dirty="0" err="1"/>
              <a:t>xác</a:t>
            </a:r>
            <a:r>
              <a:rPr lang="en-US" sz="2000" dirty="0"/>
              <a:t> </a:t>
            </a:r>
            <a:r>
              <a:rPr lang="en-US" sz="2000" dirty="0" err="1"/>
              <a:t>trong</a:t>
            </a:r>
            <a:r>
              <a:rPr lang="en-US" sz="2000" dirty="0"/>
              <a:t> </a:t>
            </a:r>
            <a:r>
              <a:rPr lang="en-US" sz="2000" dirty="0" err="1"/>
              <a:t>việc</a:t>
            </a:r>
            <a:r>
              <a:rPr lang="en-US" sz="2000" dirty="0"/>
              <a:t> </a:t>
            </a:r>
            <a:r>
              <a:rPr lang="en-US" sz="2000" dirty="0" err="1"/>
              <a:t>chọn</a:t>
            </a:r>
            <a:r>
              <a:rPr lang="en-US" sz="2000" dirty="0"/>
              <a:t> </a:t>
            </a:r>
            <a:r>
              <a:rPr lang="en-US" sz="2000" dirty="0" err="1"/>
              <a:t>tiến</a:t>
            </a:r>
            <a:r>
              <a:rPr lang="en-US" sz="2000" dirty="0"/>
              <a:t> </a:t>
            </a:r>
            <a:r>
              <a:rPr lang="en-US" sz="2000" dirty="0" err="1"/>
              <a:t>trình</a:t>
            </a:r>
            <a:r>
              <a:rPr lang="en-US" sz="2000" dirty="0"/>
              <a:t>.</a:t>
            </a:r>
          </a:p>
          <a:p>
            <a:pPr>
              <a:lnSpc>
                <a:spcPct val="150000"/>
              </a:lnSpc>
            </a:pPr>
            <a:r>
              <a:rPr lang="en-US" sz="2000" b="1" dirty="0" err="1"/>
              <a:t>Mô-đun</a:t>
            </a:r>
            <a:r>
              <a:rPr lang="en-US" sz="2000" b="1" dirty="0"/>
              <a:t> </a:t>
            </a:r>
            <a:r>
              <a:rPr lang="en-US" sz="2000" b="1" dirty="0" err="1"/>
              <a:t>đọc</a:t>
            </a:r>
            <a:r>
              <a:rPr lang="en-US" sz="2000" b="1" dirty="0"/>
              <a:t> </a:t>
            </a:r>
            <a:r>
              <a:rPr lang="en-US" sz="2000" b="1" dirty="0" err="1"/>
              <a:t>dữ</a:t>
            </a:r>
            <a:r>
              <a:rPr lang="en-US" sz="2000" b="1" dirty="0"/>
              <a:t> </a:t>
            </a:r>
            <a:r>
              <a:rPr lang="vi-VN" sz="2000" b="1" dirty="0"/>
              <a:t>liệu: </a:t>
            </a:r>
            <a:r>
              <a:rPr lang="vi-VN" sz="2000" dirty="0"/>
              <a:t>Chức năng đọc thông tin từ file CSV, kiểm tra tính hợp lệ của dữ liệu đầu vào như burst time và priority.</a:t>
            </a:r>
            <a:endParaRPr lang="en-US" sz="2000" dirty="0"/>
          </a:p>
          <a:p>
            <a:pPr>
              <a:lnSpc>
                <a:spcPct val="150000"/>
              </a:lnSpc>
            </a:pPr>
            <a:r>
              <a:rPr lang="en-US" sz="2000" b="1" dirty="0" err="1"/>
              <a:t>Mô-đun</a:t>
            </a:r>
            <a:r>
              <a:rPr lang="en-US" sz="2000" b="1" dirty="0"/>
              <a:t> </a:t>
            </a:r>
            <a:r>
              <a:rPr lang="en-US" sz="2000" b="1" dirty="0" err="1"/>
              <a:t>ghi</a:t>
            </a:r>
            <a:r>
              <a:rPr lang="en-US" sz="2000" b="1" dirty="0"/>
              <a:t> </a:t>
            </a:r>
            <a:r>
              <a:rPr lang="en-US" sz="2000" b="1" dirty="0" err="1"/>
              <a:t>kết</a:t>
            </a:r>
            <a:r>
              <a:rPr lang="en-US" sz="2000" b="1" dirty="0"/>
              <a:t> </a:t>
            </a:r>
            <a:r>
              <a:rPr lang="vi-VN" sz="2000" b="1" dirty="0"/>
              <a:t>quả: </a:t>
            </a:r>
            <a:r>
              <a:rPr lang="en-US" sz="2000" dirty="0" err="1"/>
              <a:t>Xuất</a:t>
            </a:r>
            <a:r>
              <a:rPr lang="en-US" sz="2000" dirty="0"/>
              <a:t> </a:t>
            </a:r>
            <a:r>
              <a:rPr lang="en-US" sz="2000" dirty="0" err="1"/>
              <a:t>kết</a:t>
            </a:r>
            <a:r>
              <a:rPr lang="en-US" sz="2000" dirty="0"/>
              <a:t> </a:t>
            </a:r>
            <a:r>
              <a:rPr lang="en-US" sz="2000" dirty="0" err="1"/>
              <a:t>quả</a:t>
            </a:r>
            <a:r>
              <a:rPr lang="en-US" sz="2000" dirty="0"/>
              <a:t> </a:t>
            </a:r>
            <a:r>
              <a:rPr lang="en-US" sz="2000" dirty="0" err="1"/>
              <a:t>sau</a:t>
            </a:r>
            <a:r>
              <a:rPr lang="en-US" sz="2000" dirty="0"/>
              <a:t> </a:t>
            </a:r>
            <a:r>
              <a:rPr lang="en-US" sz="2000" dirty="0" err="1"/>
              <a:t>khi</a:t>
            </a:r>
            <a:r>
              <a:rPr lang="en-US" sz="2000" dirty="0"/>
              <a:t> </a:t>
            </a:r>
            <a:r>
              <a:rPr lang="en-US" sz="2000" dirty="0" err="1"/>
              <a:t>lập</a:t>
            </a:r>
            <a:r>
              <a:rPr lang="en-US" sz="2000" dirty="0"/>
              <a:t> </a:t>
            </a:r>
            <a:r>
              <a:rPr lang="en-US" sz="2000" dirty="0" err="1"/>
              <a:t>lịch</a:t>
            </a:r>
            <a:r>
              <a:rPr lang="en-US" sz="2000" dirty="0"/>
              <a:t>, bao </a:t>
            </a:r>
            <a:r>
              <a:rPr lang="en-US" sz="2000" dirty="0" err="1"/>
              <a:t>gồm</a:t>
            </a:r>
            <a:r>
              <a:rPr lang="en-US" sz="2000" dirty="0"/>
              <a:t> </a:t>
            </a:r>
            <a:r>
              <a:rPr lang="en-US" sz="2000" dirty="0" err="1"/>
              <a:t>thứ</a:t>
            </a:r>
            <a:r>
              <a:rPr lang="en-US" sz="2000" dirty="0"/>
              <a:t> </a:t>
            </a:r>
            <a:r>
              <a:rPr lang="en-US" sz="2000" dirty="0" err="1"/>
              <a:t>tự</a:t>
            </a:r>
            <a:r>
              <a:rPr lang="en-US" sz="2000" dirty="0"/>
              <a:t> </a:t>
            </a:r>
            <a:r>
              <a:rPr lang="en-US" sz="2000" dirty="0" err="1"/>
              <a:t>thực</a:t>
            </a:r>
            <a:r>
              <a:rPr lang="en-US" sz="2000" dirty="0"/>
              <a:t> </a:t>
            </a:r>
            <a:r>
              <a:rPr lang="en-US" sz="2000" dirty="0" err="1"/>
              <a:t>hiện</a:t>
            </a:r>
            <a:r>
              <a:rPr lang="en-US" sz="2000" dirty="0"/>
              <a:t> </a:t>
            </a:r>
            <a:r>
              <a:rPr lang="en-US" sz="2000" dirty="0" err="1"/>
              <a:t>tiến</a:t>
            </a:r>
            <a:r>
              <a:rPr lang="en-US" sz="2000" dirty="0"/>
              <a:t> </a:t>
            </a:r>
            <a:r>
              <a:rPr lang="en-US" sz="2000" dirty="0" err="1"/>
              <a:t>trình</a:t>
            </a:r>
            <a:r>
              <a:rPr lang="en-US" sz="2000" dirty="0"/>
              <a:t> </a:t>
            </a:r>
            <a:r>
              <a:rPr lang="en-US" sz="2000" dirty="0" err="1"/>
              <a:t>và</a:t>
            </a:r>
            <a:r>
              <a:rPr lang="en-US" sz="2000" dirty="0"/>
              <a:t> </a:t>
            </a:r>
            <a:r>
              <a:rPr lang="en-US" sz="2000" dirty="0" err="1"/>
              <a:t>thời</a:t>
            </a:r>
            <a:r>
              <a:rPr lang="en-US" sz="2000" dirty="0"/>
              <a:t> </a:t>
            </a:r>
            <a:r>
              <a:rPr lang="en-US" sz="2000" dirty="0" err="1"/>
              <a:t>gian</a:t>
            </a:r>
            <a:r>
              <a:rPr lang="en-US" sz="2000" dirty="0"/>
              <a:t> </a:t>
            </a:r>
            <a:r>
              <a:rPr lang="en-US" sz="2000" dirty="0" err="1"/>
              <a:t>hoàn</a:t>
            </a:r>
            <a:r>
              <a:rPr lang="en-US" sz="2000" dirty="0"/>
              <a:t> </a:t>
            </a:r>
            <a:r>
              <a:rPr lang="en-US" sz="2000" dirty="0" err="1"/>
              <a:t>thành</a:t>
            </a:r>
            <a:r>
              <a:rPr lang="en-US" sz="2000" dirty="0"/>
              <a:t>.</a:t>
            </a:r>
          </a:p>
          <a:p>
            <a:pPr marL="0" indent="0">
              <a:buNone/>
            </a:pPr>
            <a:endParaRPr lang="en-US" sz="1800" dirty="0"/>
          </a:p>
          <a:p>
            <a:pPr marL="0" indent="0">
              <a:buNone/>
            </a:pPr>
            <a:endParaRPr lang="en-US" sz="2000" dirty="0"/>
          </a:p>
        </p:txBody>
      </p:sp>
      <p:sp>
        <p:nvSpPr>
          <p:cNvPr id="6" name="Slide Number Placeholder 5">
            <a:extLst>
              <a:ext uri="{FF2B5EF4-FFF2-40B4-BE49-F238E27FC236}">
                <a16:creationId xmlns:a16="http://schemas.microsoft.com/office/drawing/2014/main" id="{FFEFB2AC-4507-E62A-B3AB-D596E4C7F570}"/>
              </a:ext>
            </a:extLst>
          </p:cNvPr>
          <p:cNvSpPr>
            <a:spLocks noGrp="1"/>
          </p:cNvSpPr>
          <p:nvPr>
            <p:ph type="sldNum" sz="quarter" idx="12"/>
          </p:nvPr>
        </p:nvSpPr>
        <p:spPr/>
        <p:txBody>
          <a:bodyPr/>
          <a:lstStyle/>
          <a:p>
            <a:fld id="{6C56B8FA-5C00-4693-8C7F-3776FF570F07}" type="slidenum">
              <a:rPr lang="en-US" smtClean="0"/>
              <a:t>7</a:t>
            </a:fld>
            <a:endParaRPr lang="en-US"/>
          </a:p>
        </p:txBody>
      </p:sp>
      <p:pic>
        <p:nvPicPr>
          <p:cNvPr id="9" name="Picture 8">
            <a:extLst>
              <a:ext uri="{FF2B5EF4-FFF2-40B4-BE49-F238E27FC236}">
                <a16:creationId xmlns:a16="http://schemas.microsoft.com/office/drawing/2014/main" id="{69200050-91EC-B48A-1ACC-BA4E869B62BA}"/>
              </a:ext>
            </a:extLst>
          </p:cNvPr>
          <p:cNvPicPr>
            <a:picLocks noChangeAspect="1"/>
          </p:cNvPicPr>
          <p:nvPr/>
        </p:nvPicPr>
        <p:blipFill>
          <a:blip r:embed="rId2"/>
          <a:stretch>
            <a:fillRect/>
          </a:stretch>
        </p:blipFill>
        <p:spPr>
          <a:xfrm>
            <a:off x="838200" y="3537734"/>
            <a:ext cx="2391109" cy="1276528"/>
          </a:xfrm>
          <a:prstGeom prst="rect">
            <a:avLst/>
          </a:prstGeom>
        </p:spPr>
      </p:pic>
      <p:pic>
        <p:nvPicPr>
          <p:cNvPr id="11" name="Picture 10">
            <a:extLst>
              <a:ext uri="{FF2B5EF4-FFF2-40B4-BE49-F238E27FC236}">
                <a16:creationId xmlns:a16="http://schemas.microsoft.com/office/drawing/2014/main" id="{97B185FD-6376-AD08-B6FF-6F0EBC7E78D5}"/>
              </a:ext>
            </a:extLst>
          </p:cNvPr>
          <p:cNvPicPr>
            <a:picLocks noChangeAspect="1"/>
          </p:cNvPicPr>
          <p:nvPr/>
        </p:nvPicPr>
        <p:blipFill>
          <a:blip r:embed="rId3"/>
          <a:srcRect r="9386"/>
          <a:stretch/>
        </p:blipFill>
        <p:spPr>
          <a:xfrm>
            <a:off x="838200" y="2261206"/>
            <a:ext cx="2391109" cy="1276528"/>
          </a:xfrm>
          <a:prstGeom prst="rect">
            <a:avLst/>
          </a:prstGeom>
        </p:spPr>
      </p:pic>
    </p:spTree>
    <p:extLst>
      <p:ext uri="{BB962C8B-B14F-4D97-AF65-F5344CB8AC3E}">
        <p14:creationId xmlns:p14="http://schemas.microsoft.com/office/powerpoint/2010/main" val="24109848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323D6-B6D0-346F-D648-973B1D485B6E}"/>
              </a:ext>
            </a:extLst>
          </p:cNvPr>
          <p:cNvSpPr>
            <a:spLocks noGrp="1"/>
          </p:cNvSpPr>
          <p:nvPr>
            <p:ph type="title"/>
          </p:nvPr>
        </p:nvSpPr>
        <p:spPr>
          <a:xfrm>
            <a:off x="685800" y="1110228"/>
            <a:ext cx="10668000" cy="767410"/>
          </a:xfrm>
        </p:spPr>
        <p:txBody>
          <a:bodyPr>
            <a:normAutofit/>
          </a:bodyPr>
          <a:lstStyle/>
          <a:p>
            <a:r>
              <a:rPr lang="en-US" sz="4000" b="1" dirty="0" err="1">
                <a:latin typeface="Times New Roman" panose="02020603050405020304" pitchFamily="18" charset="0"/>
              </a:rPr>
              <a:t>Sử</a:t>
            </a:r>
            <a:r>
              <a:rPr lang="en-US" sz="4000" b="1" dirty="0">
                <a:latin typeface="Times New Roman" panose="02020603050405020304" pitchFamily="18" charset="0"/>
              </a:rPr>
              <a:t> </a:t>
            </a:r>
            <a:r>
              <a:rPr lang="en-US" sz="4000" b="1" dirty="0" err="1">
                <a:latin typeface="Times New Roman" panose="02020603050405020304" pitchFamily="18" charset="0"/>
              </a:rPr>
              <a:t>dụng</a:t>
            </a:r>
            <a:r>
              <a:rPr lang="en-US" sz="4000" b="1" dirty="0">
                <a:latin typeface="Times New Roman" panose="02020603050405020304" pitchFamily="18" charset="0"/>
              </a:rPr>
              <a:t> </a:t>
            </a:r>
            <a:r>
              <a:rPr lang="en-US" sz="4000" b="1" dirty="0" err="1">
                <a:latin typeface="Times New Roman" panose="02020603050405020304" pitchFamily="18" charset="0"/>
              </a:rPr>
              <a:t>lớp</a:t>
            </a:r>
            <a:r>
              <a:rPr lang="en-US" sz="4000" b="1" dirty="0">
                <a:latin typeface="Times New Roman" panose="02020603050405020304" pitchFamily="18" charset="0"/>
              </a:rPr>
              <a:t> </a:t>
            </a:r>
            <a:r>
              <a:rPr lang="en-US" sz="4000" b="1" dirty="0" err="1">
                <a:latin typeface="Times New Roman" panose="02020603050405020304" pitchFamily="18" charset="0"/>
              </a:rPr>
              <a:t>quy</a:t>
            </a:r>
            <a:r>
              <a:rPr lang="en-US" sz="4000" b="1" dirty="0">
                <a:latin typeface="Times New Roman" panose="02020603050405020304" pitchFamily="18" charset="0"/>
              </a:rPr>
              <a:t> </a:t>
            </a:r>
            <a:r>
              <a:rPr lang="en-US" sz="4000" b="1" dirty="0" err="1">
                <a:latin typeface="Times New Roman" panose="02020603050405020304" pitchFamily="18" charset="0"/>
              </a:rPr>
              <a:t>trình</a:t>
            </a:r>
            <a:endParaRPr lang="en-US" sz="4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FD3173FE-3FF3-7DD3-46A4-1A94819E245E}"/>
              </a:ext>
            </a:extLst>
          </p:cNvPr>
          <p:cNvSpPr>
            <a:spLocks noGrp="1"/>
          </p:cNvSpPr>
          <p:nvPr>
            <p:ph type="dt" sz="half" idx="10"/>
          </p:nvPr>
        </p:nvSpPr>
        <p:spPr/>
        <p:txBody>
          <a:bodyPr/>
          <a:lstStyle/>
          <a:p>
            <a:fld id="{ED6C2AA7-1A45-4A15-9F85-8A9E4B4B35EA}" type="datetime1">
              <a:rPr lang="en-US" smtClean="0"/>
              <a:t>4/14/2026</a:t>
            </a:fld>
            <a:endParaRPr lang="en-US"/>
          </a:p>
        </p:txBody>
      </p:sp>
      <p:sp>
        <p:nvSpPr>
          <p:cNvPr id="6" name="Slide Number Placeholder 5">
            <a:extLst>
              <a:ext uri="{FF2B5EF4-FFF2-40B4-BE49-F238E27FC236}">
                <a16:creationId xmlns:a16="http://schemas.microsoft.com/office/drawing/2014/main" id="{BFBC14A7-A7FC-D9D0-4EC5-FB5A90D508ED}"/>
              </a:ext>
            </a:extLst>
          </p:cNvPr>
          <p:cNvSpPr>
            <a:spLocks noGrp="1"/>
          </p:cNvSpPr>
          <p:nvPr>
            <p:ph type="sldNum" sz="quarter" idx="12"/>
          </p:nvPr>
        </p:nvSpPr>
        <p:spPr/>
        <p:txBody>
          <a:bodyPr/>
          <a:lstStyle/>
          <a:p>
            <a:fld id="{6C56B8FA-5C00-4693-8C7F-3776FF570F07}" type="slidenum">
              <a:rPr lang="en-US" smtClean="0"/>
              <a:t>8</a:t>
            </a:fld>
            <a:endParaRPr lang="en-US"/>
          </a:p>
        </p:txBody>
      </p:sp>
      <p:sp>
        <p:nvSpPr>
          <p:cNvPr id="7" name="TextBox 6">
            <a:extLst>
              <a:ext uri="{FF2B5EF4-FFF2-40B4-BE49-F238E27FC236}">
                <a16:creationId xmlns:a16="http://schemas.microsoft.com/office/drawing/2014/main" id="{CBCAE675-A5DA-7AA9-9A24-999F773E9F5D}"/>
              </a:ext>
            </a:extLst>
          </p:cNvPr>
          <p:cNvSpPr txBox="1"/>
          <p:nvPr/>
        </p:nvSpPr>
        <p:spPr>
          <a:xfrm>
            <a:off x="3556473" y="1877638"/>
            <a:ext cx="6592121" cy="1938992"/>
          </a:xfrm>
          <a:prstGeom prst="rect">
            <a:avLst/>
          </a:prstGeom>
          <a:noFill/>
        </p:spPr>
        <p:txBody>
          <a:bodyPr wrap="square" rtlCol="0">
            <a:spAutoFit/>
          </a:bodyPr>
          <a:lstStyle/>
          <a:p>
            <a:r>
              <a:rPr lang="vi-VN" sz="2400" b="1" dirty="0">
                <a:latin typeface="+mj-lt"/>
              </a:rPr>
              <a:t>Lớp Process lưu trữ thông tin tiến trình: </a:t>
            </a:r>
          </a:p>
          <a:p>
            <a:r>
              <a:rPr lang="vi-VN" sz="2400" dirty="0">
                <a:latin typeface="+mj-lt"/>
              </a:rPr>
              <a:t>Bao gồm tên tiến trình, </a:t>
            </a:r>
            <a:r>
              <a:rPr lang="vi-VN" sz="2400" dirty="0" err="1">
                <a:latin typeface="+mj-lt"/>
              </a:rPr>
              <a:t>burst</a:t>
            </a:r>
            <a:r>
              <a:rPr lang="vi-VN" sz="2400" dirty="0">
                <a:latin typeface="+mj-lt"/>
              </a:rPr>
              <a:t> </a:t>
            </a:r>
            <a:r>
              <a:rPr lang="vi-VN" sz="2400" dirty="0" err="1">
                <a:latin typeface="+mj-lt"/>
              </a:rPr>
              <a:t>time</a:t>
            </a:r>
            <a:r>
              <a:rPr lang="vi-VN" sz="2400" dirty="0">
                <a:latin typeface="+mj-lt"/>
              </a:rPr>
              <a:t>, </a:t>
            </a:r>
            <a:r>
              <a:rPr lang="vi-VN" sz="2400" dirty="0" err="1">
                <a:latin typeface="+mj-lt"/>
              </a:rPr>
              <a:t>priority</a:t>
            </a:r>
            <a:r>
              <a:rPr lang="vi-VN" sz="2400" dirty="0">
                <a:latin typeface="+mj-lt"/>
              </a:rPr>
              <a:t> và trạng thái hiện tại (đã hoàn thành hoặc chưa).</a:t>
            </a:r>
          </a:p>
          <a:p>
            <a:endParaRPr lang="vi-VN" sz="2400" dirty="0">
              <a:latin typeface="+mj-lt"/>
            </a:endParaRPr>
          </a:p>
          <a:p>
            <a:endParaRPr lang="en-US" sz="2400" dirty="0">
              <a:latin typeface="+mj-lt"/>
            </a:endParaRPr>
          </a:p>
        </p:txBody>
      </p:sp>
      <p:sp>
        <p:nvSpPr>
          <p:cNvPr id="10" name="TextBox 9">
            <a:extLst>
              <a:ext uri="{FF2B5EF4-FFF2-40B4-BE49-F238E27FC236}">
                <a16:creationId xmlns:a16="http://schemas.microsoft.com/office/drawing/2014/main" id="{70E3A7C7-9CBA-1368-81BE-508EF49CF059}"/>
              </a:ext>
            </a:extLst>
          </p:cNvPr>
          <p:cNvSpPr txBox="1"/>
          <p:nvPr/>
        </p:nvSpPr>
        <p:spPr>
          <a:xfrm>
            <a:off x="3581400" y="3418240"/>
            <a:ext cx="8283102" cy="1846659"/>
          </a:xfrm>
          <a:prstGeom prst="rect">
            <a:avLst/>
          </a:prstGeom>
          <a:noFill/>
        </p:spPr>
        <p:txBody>
          <a:bodyPr wrap="square" rtlCol="0">
            <a:spAutoFit/>
          </a:bodyPr>
          <a:lstStyle/>
          <a:p>
            <a:r>
              <a:rPr lang="en-US" sz="2400" b="1" dirty="0">
                <a:latin typeface="Times New Roman" panose="02020603050405020304" pitchFamily="18" charset="0"/>
                <a:cs typeface="Times New Roman" panose="02020603050405020304" pitchFamily="18" charset="0"/>
              </a:rPr>
              <a:t>Duy </a:t>
            </a:r>
            <a:r>
              <a:rPr lang="en-US" sz="2400" b="1" dirty="0" err="1">
                <a:latin typeface="Times New Roman" panose="02020603050405020304" pitchFamily="18" charset="0"/>
                <a:cs typeface="Times New Roman" panose="02020603050405020304" pitchFamily="18" charset="0"/>
              </a:rPr>
              <a:t>trì</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tính</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nhất</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quán</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dữ</a:t>
            </a:r>
            <a:r>
              <a:rPr lang="en-US" sz="2400" b="1" dirty="0">
                <a:latin typeface="Times New Roman" panose="02020603050405020304" pitchFamily="18" charset="0"/>
                <a:cs typeface="Times New Roman" panose="02020603050405020304" pitchFamily="18" charset="0"/>
              </a:rPr>
              <a:t> </a:t>
            </a:r>
            <a:r>
              <a:rPr lang="vi-VN" sz="2400" b="1" dirty="0">
                <a:latin typeface="Times New Roman" panose="02020603050405020304" pitchFamily="18" charset="0"/>
                <a:cs typeface="Times New Roman" panose="02020603050405020304" pitchFamily="18" charset="0"/>
              </a:rPr>
              <a:t>liệu:</a:t>
            </a:r>
          </a:p>
          <a:p>
            <a:r>
              <a:rPr lang="vi-VN" sz="2400" dirty="0">
                <a:latin typeface="Times New Roman" panose="02020603050405020304" pitchFamily="18" charset="0"/>
                <a:cs typeface="Times New Roman" panose="02020603050405020304" pitchFamily="18" charset="0"/>
              </a:rPr>
              <a:t>Lớp đảm bảo tất cả tiến trình được xử lý và gán giá trị mặc định nếu thiếu thông tin.</a:t>
            </a:r>
          </a:p>
          <a:p>
            <a:endParaRPr lang="en-US" sz="2400"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916047C-AC54-27A8-3AFD-5478BA47EB8D}"/>
              </a:ext>
            </a:extLst>
          </p:cNvPr>
          <p:cNvSpPr txBox="1"/>
          <p:nvPr/>
        </p:nvSpPr>
        <p:spPr>
          <a:xfrm>
            <a:off x="3606327" y="4866508"/>
            <a:ext cx="8415332" cy="1569660"/>
          </a:xfrm>
          <a:prstGeom prst="rect">
            <a:avLst/>
          </a:prstGeom>
          <a:noFill/>
        </p:spPr>
        <p:txBody>
          <a:bodyPr wrap="square" rtlCol="0">
            <a:spAutoFit/>
          </a:bodyPr>
          <a:lstStyle/>
          <a:p>
            <a:r>
              <a:rPr lang="en-US" sz="2400" b="1" dirty="0" err="1">
                <a:latin typeface="Times New Roman" panose="02020603050405020304" pitchFamily="18" charset="0"/>
                <a:cs typeface="Times New Roman" panose="02020603050405020304" pitchFamily="18" charset="0"/>
              </a:rPr>
              <a:t>Khả</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năng</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tái</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sử</a:t>
            </a:r>
            <a:r>
              <a:rPr lang="en-US" sz="2400" b="1" dirty="0">
                <a:latin typeface="Times New Roman" panose="02020603050405020304" pitchFamily="18" charset="0"/>
                <a:cs typeface="Times New Roman" panose="02020603050405020304" pitchFamily="18" charset="0"/>
              </a:rPr>
              <a:t> </a:t>
            </a:r>
            <a:r>
              <a:rPr lang="vi-VN" sz="2400" b="1" dirty="0">
                <a:latin typeface="Times New Roman" panose="02020603050405020304" pitchFamily="18" charset="0"/>
                <a:cs typeface="Times New Roman" panose="02020603050405020304" pitchFamily="18" charset="0"/>
              </a:rPr>
              <a:t>dụng: </a:t>
            </a:r>
          </a:p>
          <a:p>
            <a:r>
              <a:rPr lang="en-US" sz="2400" dirty="0" err="1">
                <a:latin typeface="Times New Roman" panose="02020603050405020304" pitchFamily="18" charset="0"/>
                <a:cs typeface="Times New Roman" panose="02020603050405020304" pitchFamily="18" charset="0"/>
              </a:rPr>
              <a:t>Lớp</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này</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hỗ</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trợ</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việc</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tái</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sử</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dụng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trong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các</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mô-đun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khác</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mà</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không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cần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viết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lại</a:t>
            </a:r>
            <a:r>
              <a:rPr lang="en-US" sz="2400" dirty="0">
                <a:latin typeface="Times New Roman" panose="02020603050405020304" pitchFamily="18" charset="0"/>
                <a:cs typeface="Times New Roman" panose="02020603050405020304" pitchFamily="18" charset="0"/>
              </a:rPr>
              <a:t> logic </a:t>
            </a:r>
            <a:r>
              <a:rPr lang="en-US" sz="2400" dirty="0" err="1">
                <a:latin typeface="Times New Roman" panose="02020603050405020304" pitchFamily="18" charset="0"/>
                <a:cs typeface="Times New Roman" panose="02020603050405020304" pitchFamily="18" charset="0"/>
              </a:rPr>
              <a:t>quản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lý</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quy</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trình</a:t>
            </a:r>
            <a:r>
              <a:rPr lang="en-US" sz="2400" dirty="0">
                <a:latin typeface="Times New Roman" panose="02020603050405020304" pitchFamily="18" charset="0"/>
                <a:cs typeface="Times New Roman" panose="02020603050405020304" pitchFamily="18" charset="0"/>
              </a:rPr>
              <a:t>.</a:t>
            </a:r>
          </a:p>
          <a:p>
            <a:endParaRPr lang="en-US" sz="2400" dirty="0">
              <a:latin typeface="Times New Roman" panose="02020603050405020304" pitchFamily="18" charset="0"/>
              <a:cs typeface="Times New Roman" panose="02020603050405020304" pitchFamily="18" charset="0"/>
            </a:endParaRPr>
          </a:p>
        </p:txBody>
      </p:sp>
      <p:sp>
        <p:nvSpPr>
          <p:cNvPr id="14" name="Arrow: Down 13">
            <a:extLst>
              <a:ext uri="{FF2B5EF4-FFF2-40B4-BE49-F238E27FC236}">
                <a16:creationId xmlns:a16="http://schemas.microsoft.com/office/drawing/2014/main" id="{C09EDFFF-A765-8BAA-16CB-B8FF5368D1C8}"/>
              </a:ext>
            </a:extLst>
          </p:cNvPr>
          <p:cNvSpPr/>
          <p:nvPr/>
        </p:nvSpPr>
        <p:spPr>
          <a:xfrm>
            <a:off x="2209800" y="2047783"/>
            <a:ext cx="849085" cy="83099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01</a:t>
            </a:r>
          </a:p>
        </p:txBody>
      </p:sp>
      <p:sp>
        <p:nvSpPr>
          <p:cNvPr id="15" name="Arrow: Down 14">
            <a:extLst>
              <a:ext uri="{FF2B5EF4-FFF2-40B4-BE49-F238E27FC236}">
                <a16:creationId xmlns:a16="http://schemas.microsoft.com/office/drawing/2014/main" id="{52A06B98-984B-C2AB-04DE-03B23FF67B8D}"/>
              </a:ext>
            </a:extLst>
          </p:cNvPr>
          <p:cNvSpPr/>
          <p:nvPr/>
        </p:nvSpPr>
        <p:spPr>
          <a:xfrm>
            <a:off x="2209798" y="3543477"/>
            <a:ext cx="849085" cy="83099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02</a:t>
            </a:r>
          </a:p>
        </p:txBody>
      </p:sp>
      <p:sp>
        <p:nvSpPr>
          <p:cNvPr id="16" name="Arrow: Down 15">
            <a:extLst>
              <a:ext uri="{FF2B5EF4-FFF2-40B4-BE49-F238E27FC236}">
                <a16:creationId xmlns:a16="http://schemas.microsoft.com/office/drawing/2014/main" id="{5A9BD4D3-ACA4-12E5-C621-811B375A54DE}"/>
              </a:ext>
            </a:extLst>
          </p:cNvPr>
          <p:cNvSpPr/>
          <p:nvPr/>
        </p:nvSpPr>
        <p:spPr>
          <a:xfrm>
            <a:off x="2209798" y="5039172"/>
            <a:ext cx="849085" cy="83099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03</a:t>
            </a:r>
          </a:p>
        </p:txBody>
      </p:sp>
    </p:spTree>
    <p:extLst>
      <p:ext uri="{BB962C8B-B14F-4D97-AF65-F5344CB8AC3E}">
        <p14:creationId xmlns:p14="http://schemas.microsoft.com/office/powerpoint/2010/main" val="12428181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lowchart: Alternate Process 18">
            <a:extLst>
              <a:ext uri="{FF2B5EF4-FFF2-40B4-BE49-F238E27FC236}">
                <a16:creationId xmlns:a16="http://schemas.microsoft.com/office/drawing/2014/main" id="{F81DAED0-56B4-9239-29FC-38C31AE49FBD}"/>
              </a:ext>
            </a:extLst>
          </p:cNvPr>
          <p:cNvSpPr/>
          <p:nvPr/>
        </p:nvSpPr>
        <p:spPr>
          <a:xfrm>
            <a:off x="964990" y="4837448"/>
            <a:ext cx="9609073" cy="1218119"/>
          </a:xfrm>
          <a:prstGeom prst="flowChartAlternateProcess">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4" name="Flowchart: Alternate Process 13">
            <a:extLst>
              <a:ext uri="{FF2B5EF4-FFF2-40B4-BE49-F238E27FC236}">
                <a16:creationId xmlns:a16="http://schemas.microsoft.com/office/drawing/2014/main" id="{1BDE4807-6115-80E5-B98A-13C891BCEE9F}"/>
              </a:ext>
            </a:extLst>
          </p:cNvPr>
          <p:cNvSpPr/>
          <p:nvPr/>
        </p:nvSpPr>
        <p:spPr>
          <a:xfrm>
            <a:off x="1917178" y="3290581"/>
            <a:ext cx="9948716" cy="1306285"/>
          </a:xfrm>
          <a:prstGeom prst="flowChartAlternateProcess">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9" name="Flowchart: Alternate Process 8">
            <a:extLst>
              <a:ext uri="{FF2B5EF4-FFF2-40B4-BE49-F238E27FC236}">
                <a16:creationId xmlns:a16="http://schemas.microsoft.com/office/drawing/2014/main" id="{8F6AC08E-2A38-4781-3747-AD7F01B45F6C}"/>
              </a:ext>
            </a:extLst>
          </p:cNvPr>
          <p:cNvSpPr/>
          <p:nvPr/>
        </p:nvSpPr>
        <p:spPr>
          <a:xfrm>
            <a:off x="284682" y="1880760"/>
            <a:ext cx="9609073" cy="1129005"/>
          </a:xfrm>
          <a:prstGeom prst="flowChartAlternateProcess">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2" name="Title 1">
            <a:extLst>
              <a:ext uri="{FF2B5EF4-FFF2-40B4-BE49-F238E27FC236}">
                <a16:creationId xmlns:a16="http://schemas.microsoft.com/office/drawing/2014/main" id="{2B6A1224-CFF0-9293-DE5D-10E3B6AC4452}"/>
              </a:ext>
            </a:extLst>
          </p:cNvPr>
          <p:cNvSpPr>
            <a:spLocks noGrp="1"/>
          </p:cNvSpPr>
          <p:nvPr>
            <p:ph type="title"/>
          </p:nvPr>
        </p:nvSpPr>
        <p:spPr>
          <a:xfrm>
            <a:off x="-38100" y="1100727"/>
            <a:ext cx="12268200" cy="767410"/>
          </a:xfrm>
        </p:spPr>
        <p:txBody>
          <a:bodyPr>
            <a:noAutofit/>
          </a:bodyPr>
          <a:lstStyle/>
          <a:p>
            <a:pPr algn="ctr"/>
            <a:r>
              <a:rPr lang="vi-VN" sz="3200" b="1" dirty="0">
                <a:latin typeface="Times New Roman" panose="02020603050405020304" pitchFamily="18" charset="0"/>
              </a:rPr>
              <a:t>Triển khai thuật toán SJF và thuật toán ưu tiên</a:t>
            </a:r>
            <a:endParaRPr lang="en-US" sz="3200"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2410B6A0-AD3C-E111-5F69-284D9C6E0FAD}"/>
              </a:ext>
            </a:extLst>
          </p:cNvPr>
          <p:cNvSpPr>
            <a:spLocks noGrp="1"/>
          </p:cNvSpPr>
          <p:nvPr>
            <p:ph type="sldNum" sz="quarter" idx="12"/>
          </p:nvPr>
        </p:nvSpPr>
        <p:spPr/>
        <p:txBody>
          <a:bodyPr/>
          <a:lstStyle/>
          <a:p>
            <a:fld id="{6C56B8FA-5C00-4693-8C7F-3776FF570F07}" type="slidenum">
              <a:rPr lang="en-US" smtClean="0"/>
              <a:t>9</a:t>
            </a:fld>
            <a:endParaRPr lang="en-US"/>
          </a:p>
        </p:txBody>
      </p:sp>
      <p:sp>
        <p:nvSpPr>
          <p:cNvPr id="7" name="TextBox 6">
            <a:extLst>
              <a:ext uri="{FF2B5EF4-FFF2-40B4-BE49-F238E27FC236}">
                <a16:creationId xmlns:a16="http://schemas.microsoft.com/office/drawing/2014/main" id="{41BAEE00-A45F-0F4C-D1E9-53BED9BCFEF9}"/>
              </a:ext>
            </a:extLst>
          </p:cNvPr>
          <p:cNvSpPr txBox="1"/>
          <p:nvPr/>
        </p:nvSpPr>
        <p:spPr>
          <a:xfrm>
            <a:off x="426099" y="1956513"/>
            <a:ext cx="9467656" cy="830997"/>
          </a:xfrm>
          <a:prstGeom prst="rect">
            <a:avLst/>
          </a:prstGeom>
          <a:noFill/>
        </p:spPr>
        <p:txBody>
          <a:bodyPr wrap="square" rtlCol="0">
            <a:spAutoFit/>
          </a:bodyPr>
          <a:lstStyle/>
          <a:p>
            <a:r>
              <a:rPr lang="en-US" sz="2400" b="1" dirty="0" err="1">
                <a:latin typeface="Times New Roman" panose="02020603050405020304" pitchFamily="18" charset="0"/>
                <a:cs typeface="Times New Roman" panose="02020603050405020304" pitchFamily="18" charset="0"/>
              </a:rPr>
              <a:t>Thuật</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toán</a:t>
            </a:r>
            <a:r>
              <a:rPr lang="en-US" sz="2400" b="1" dirty="0">
                <a:latin typeface="Times New Roman" panose="02020603050405020304" pitchFamily="18" charset="0"/>
                <a:cs typeface="Times New Roman" panose="02020603050405020304" pitchFamily="18" charset="0"/>
              </a:rPr>
              <a:t> </a:t>
            </a:r>
            <a:r>
              <a:rPr lang="vi-VN" sz="2400" b="1" dirty="0">
                <a:latin typeface="Times New Roman" panose="02020603050405020304" pitchFamily="18" charset="0"/>
                <a:cs typeface="Times New Roman" panose="02020603050405020304" pitchFamily="18" charset="0"/>
              </a:rPr>
              <a:t>SJF: </a:t>
            </a:r>
            <a:r>
              <a:rPr lang="vi-VN" sz="2400" dirty="0">
                <a:latin typeface="Times New Roman" panose="02020603050405020304" pitchFamily="18" charset="0"/>
                <a:cs typeface="Times New Roman" panose="02020603050405020304" pitchFamily="18" charset="0"/>
              </a:rPr>
              <a:t>Lựa chọn tiến trình có </a:t>
            </a:r>
            <a:r>
              <a:rPr lang="vi-VN" sz="2400" dirty="0" err="1">
                <a:latin typeface="Times New Roman" panose="02020603050405020304" pitchFamily="18" charset="0"/>
                <a:cs typeface="Times New Roman" panose="02020603050405020304" pitchFamily="18" charset="0"/>
              </a:rPr>
              <a:t>burst</a:t>
            </a:r>
            <a:r>
              <a:rPr lang="vi-VN" sz="2400" dirty="0">
                <a:latin typeface="Times New Roman" panose="02020603050405020304" pitchFamily="18" charset="0"/>
                <a:cs typeface="Times New Roman" panose="02020603050405020304" pitchFamily="18" charset="0"/>
              </a:rPr>
              <a:t> </a:t>
            </a:r>
            <a:r>
              <a:rPr lang="vi-VN" sz="2400" dirty="0" err="1">
                <a:latin typeface="Times New Roman" panose="02020603050405020304" pitchFamily="18" charset="0"/>
                <a:cs typeface="Times New Roman" panose="02020603050405020304" pitchFamily="18" charset="0"/>
              </a:rPr>
              <a:t>time</a:t>
            </a:r>
            <a:r>
              <a:rPr lang="vi-VN" sz="2400" dirty="0">
                <a:latin typeface="Times New Roman" panose="02020603050405020304" pitchFamily="18" charset="0"/>
                <a:cs typeface="Times New Roman" panose="02020603050405020304" pitchFamily="18" charset="0"/>
              </a:rPr>
              <a:t> nhỏ nhất để thực thi, ưu tiên các tác vụ ngắn để tối ưu thời gian chờ.</a:t>
            </a:r>
          </a:p>
        </p:txBody>
      </p:sp>
      <p:sp>
        <p:nvSpPr>
          <p:cNvPr id="11" name="TextBox 10">
            <a:extLst>
              <a:ext uri="{FF2B5EF4-FFF2-40B4-BE49-F238E27FC236}">
                <a16:creationId xmlns:a16="http://schemas.microsoft.com/office/drawing/2014/main" id="{A78D394B-6D19-751C-69E8-A822C10591F4}"/>
              </a:ext>
            </a:extLst>
          </p:cNvPr>
          <p:cNvSpPr txBox="1"/>
          <p:nvPr/>
        </p:nvSpPr>
        <p:spPr>
          <a:xfrm>
            <a:off x="1917178" y="3500764"/>
            <a:ext cx="9876716" cy="830997"/>
          </a:xfrm>
          <a:prstGeom prst="rect">
            <a:avLst/>
          </a:prstGeom>
          <a:noFill/>
        </p:spPr>
        <p:txBody>
          <a:bodyPr wrap="square">
            <a:spAutoFit/>
          </a:bodyPr>
          <a:lstStyle/>
          <a:p>
            <a:r>
              <a:rPr lang="vi-VN" sz="2400" b="1" dirty="0">
                <a:effectLst/>
                <a:latin typeface="+mj-lt"/>
                <a:ea typeface="Calibri" panose="020F0502020204030204" pitchFamily="34" charset="0"/>
                <a:cs typeface="Calibri" panose="020F0502020204030204" pitchFamily="34" charset="0"/>
              </a:rPr>
              <a:t>Thuật toán </a:t>
            </a:r>
            <a:r>
              <a:rPr lang="vi-VN" sz="2400" b="1" dirty="0" err="1">
                <a:effectLst/>
                <a:latin typeface="+mj-lt"/>
                <a:ea typeface="Calibri" panose="020F0502020204030204" pitchFamily="34" charset="0"/>
                <a:cs typeface="Calibri" panose="020F0502020204030204" pitchFamily="34" charset="0"/>
              </a:rPr>
              <a:t>Priority</a:t>
            </a:r>
            <a:r>
              <a:rPr lang="vi-VN" sz="2400" b="1" dirty="0">
                <a:effectLst/>
                <a:latin typeface="+mj-lt"/>
                <a:ea typeface="Calibri" panose="020F0502020204030204" pitchFamily="34" charset="0"/>
                <a:cs typeface="Calibri" panose="020F0502020204030204" pitchFamily="34" charset="0"/>
              </a:rPr>
              <a:t>: </a:t>
            </a:r>
            <a:r>
              <a:rPr lang="vi-VN" sz="2400" dirty="0">
                <a:solidFill>
                  <a:srgbClr val="000000"/>
                </a:solidFill>
                <a:effectLst/>
                <a:latin typeface="+mj-lt"/>
              </a:rPr>
              <a:t>Thực thi tiến trình có độ ưu tiên lớn nhất trước. Độ ưu tiên được kiểm tra và xử lý, tự động gán giá trị mặc định khi thiếu.</a:t>
            </a:r>
            <a:endParaRPr lang="vi-VN" sz="2400" dirty="0">
              <a:effectLst/>
              <a:latin typeface="+mj-lt"/>
            </a:endParaRPr>
          </a:p>
        </p:txBody>
      </p:sp>
      <p:sp>
        <p:nvSpPr>
          <p:cNvPr id="16" name="TextBox 15">
            <a:extLst>
              <a:ext uri="{FF2B5EF4-FFF2-40B4-BE49-F238E27FC236}">
                <a16:creationId xmlns:a16="http://schemas.microsoft.com/office/drawing/2014/main" id="{979A80B6-9299-4774-98F7-A37CFFCB871F}"/>
              </a:ext>
            </a:extLst>
          </p:cNvPr>
          <p:cNvSpPr txBox="1"/>
          <p:nvPr/>
        </p:nvSpPr>
        <p:spPr>
          <a:xfrm>
            <a:off x="1035698" y="5031008"/>
            <a:ext cx="9467656" cy="830997"/>
          </a:xfrm>
          <a:prstGeom prst="rect">
            <a:avLst/>
          </a:prstGeom>
          <a:noFill/>
        </p:spPr>
        <p:txBody>
          <a:bodyPr wrap="square">
            <a:spAutoFit/>
          </a:bodyPr>
          <a:lstStyle/>
          <a:p>
            <a:r>
              <a:rPr lang="vi-VN" sz="2400" b="1" dirty="0">
                <a:effectLst/>
                <a:latin typeface="Times New Roman" panose="02020603050405020304" pitchFamily="18" charset="0"/>
                <a:cs typeface="Times New Roman" panose="02020603050405020304" pitchFamily="18" charset="0"/>
              </a:rPr>
              <a:t>Tối ưu hóa hiệu năng: </a:t>
            </a:r>
            <a:r>
              <a:rPr lang="en-US" sz="2400" dirty="0" err="1">
                <a:solidFill>
                  <a:srgbClr val="000000"/>
                </a:solidFill>
                <a:effectLst/>
                <a:latin typeface="Times New Roman" panose="02020603050405020304" pitchFamily="18" charset="0"/>
                <a:cs typeface="Times New Roman" panose="02020603050405020304" pitchFamily="18" charset="0"/>
              </a:rPr>
              <a:t>Cả</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hai</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thuật</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toán</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đều</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sử</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dụng</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biểu</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diễn</a:t>
            </a:r>
            <a:r>
              <a:rPr lang="en-US" sz="2400" dirty="0">
                <a:solidFill>
                  <a:srgbClr val="000000"/>
                </a:solidFill>
                <a:effectLst/>
                <a:latin typeface="Times New Roman" panose="02020603050405020304" pitchFamily="18" charset="0"/>
                <a:cs typeface="Times New Roman" panose="02020603050405020304" pitchFamily="18" charset="0"/>
              </a:rPr>
              <a:t> qua Gantt Chart </a:t>
            </a:r>
            <a:r>
              <a:rPr lang="en-US" sz="2400" dirty="0" err="1">
                <a:solidFill>
                  <a:srgbClr val="000000"/>
                </a:solidFill>
                <a:effectLst/>
                <a:latin typeface="Times New Roman" panose="02020603050405020304" pitchFamily="18" charset="0"/>
                <a:cs typeface="Times New Roman" panose="02020603050405020304" pitchFamily="18" charset="0"/>
              </a:rPr>
              <a:t>trên</a:t>
            </a:r>
            <a:r>
              <a:rPr lang="en-US" sz="2400" dirty="0">
                <a:solidFill>
                  <a:srgbClr val="000000"/>
                </a:solidFill>
                <a:effectLst/>
                <a:latin typeface="Times New Roman" panose="02020603050405020304" pitchFamily="18" charset="0"/>
                <a:cs typeface="Times New Roman" panose="02020603050405020304" pitchFamily="18" charset="0"/>
              </a:rPr>
              <a:t> canvas </a:t>
            </a:r>
            <a:r>
              <a:rPr lang="en-US" sz="2400" dirty="0" err="1">
                <a:solidFill>
                  <a:srgbClr val="000000"/>
                </a:solidFill>
                <a:effectLst/>
                <a:latin typeface="Times New Roman" panose="02020603050405020304" pitchFamily="18" charset="0"/>
                <a:cs typeface="Times New Roman" panose="02020603050405020304" pitchFamily="18" charset="0"/>
              </a:rPr>
              <a:t>để</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dễ</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dàng</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kiểm</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tra</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và</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trực</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quan</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hóa</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kết</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quả</a:t>
            </a:r>
            <a:r>
              <a:rPr lang="en-US" sz="2400" dirty="0">
                <a:solidFill>
                  <a:srgbClr val="000000"/>
                </a:solidFill>
                <a:effectLst/>
                <a:latin typeface="Times New Roman" panose="02020603050405020304" pitchFamily="18" charset="0"/>
                <a:cs typeface="Times New Roman" panose="02020603050405020304" pitchFamily="18" charset="0"/>
              </a:rPr>
              <a:t>.</a:t>
            </a:r>
            <a:endParaRPr lang="en-US" sz="240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943234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39F20-131D-C72D-992E-777DBC6A680B}"/>
              </a:ext>
            </a:extLst>
          </p:cNvPr>
          <p:cNvSpPr>
            <a:spLocks noGrp="1"/>
          </p:cNvSpPr>
          <p:nvPr>
            <p:ph type="title"/>
          </p:nvPr>
        </p:nvSpPr>
        <p:spPr>
          <a:xfrm>
            <a:off x="0" y="1866122"/>
            <a:ext cx="12192000" cy="2500604"/>
          </a:xfrm>
        </p:spPr>
        <p:txBody>
          <a:bodyPr>
            <a:noAutofit/>
          </a:bodyPr>
          <a:lstStyle/>
          <a:p>
            <a:pPr algn="ctr"/>
            <a:r>
              <a:rPr lang="vi-VN" sz="6000" b="1" dirty="0">
                <a:latin typeface="Times New Roman" panose="02020603050405020304" pitchFamily="18" charset="0"/>
              </a:rPr>
              <a:t>03.</a:t>
            </a:r>
            <a:br>
              <a:rPr lang="vi-VN" sz="6000" b="1" dirty="0">
                <a:latin typeface="Times New Roman" panose="02020603050405020304" pitchFamily="18" charset="0"/>
              </a:rPr>
            </a:br>
            <a:r>
              <a:rPr lang="vi-VN" sz="6000" b="1" dirty="0">
                <a:latin typeface="Times New Roman" panose="02020603050405020304" pitchFamily="18" charset="0"/>
              </a:rPr>
              <a:t>Xử lý và trực quan hóa dữ liệu</a:t>
            </a:r>
            <a:endParaRPr lang="en-US" sz="6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D1CC1811-0F39-D0CE-1885-12EA8302820B}"/>
              </a:ext>
            </a:extLst>
          </p:cNvPr>
          <p:cNvSpPr>
            <a:spLocks noGrp="1"/>
          </p:cNvSpPr>
          <p:nvPr>
            <p:ph type="dt" sz="half" idx="10"/>
          </p:nvPr>
        </p:nvSpPr>
        <p:spPr/>
        <p:txBody>
          <a:bodyPr/>
          <a:lstStyle/>
          <a:p>
            <a:fld id="{F96A87E1-9421-4CB4-9C4B-92F8E5D00273}" type="datetime1">
              <a:rPr lang="en-US" smtClean="0"/>
              <a:t>4/14/2026</a:t>
            </a:fld>
            <a:endParaRPr lang="en-US"/>
          </a:p>
        </p:txBody>
      </p:sp>
      <p:sp>
        <p:nvSpPr>
          <p:cNvPr id="6" name="Slide Number Placeholder 5">
            <a:extLst>
              <a:ext uri="{FF2B5EF4-FFF2-40B4-BE49-F238E27FC236}">
                <a16:creationId xmlns:a16="http://schemas.microsoft.com/office/drawing/2014/main" id="{F468DF20-7200-DC62-0E48-5552E263A833}"/>
              </a:ext>
            </a:extLst>
          </p:cNvPr>
          <p:cNvSpPr>
            <a:spLocks noGrp="1"/>
          </p:cNvSpPr>
          <p:nvPr>
            <p:ph type="sldNum" sz="quarter" idx="12"/>
          </p:nvPr>
        </p:nvSpPr>
        <p:spPr/>
        <p:txBody>
          <a:bodyPr/>
          <a:lstStyle/>
          <a:p>
            <a:fld id="{6C56B8FA-5C00-4693-8C7F-3776FF570F07}" type="slidenum">
              <a:rPr lang="en-US" smtClean="0"/>
              <a:t>10</a:t>
            </a:fld>
            <a:endParaRPr lang="en-US"/>
          </a:p>
        </p:txBody>
      </p:sp>
    </p:spTree>
    <p:extLst>
      <p:ext uri="{BB962C8B-B14F-4D97-AF65-F5344CB8AC3E}">
        <p14:creationId xmlns:p14="http://schemas.microsoft.com/office/powerpoint/2010/main" val="20056220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E239F-55D9-A0D5-CD13-79DC3225A6FE}"/>
              </a:ext>
            </a:extLst>
          </p:cNvPr>
          <p:cNvSpPr>
            <a:spLocks noGrp="1"/>
          </p:cNvSpPr>
          <p:nvPr>
            <p:ph type="title"/>
          </p:nvPr>
        </p:nvSpPr>
        <p:spPr/>
        <p:txBody>
          <a:bodyPr>
            <a:normAutofit/>
          </a:bodyPr>
          <a:lstStyle/>
          <a:p>
            <a:r>
              <a:rPr lang="en-US" b="1" dirty="0" err="1">
                <a:latin typeface="Times New Roman" panose="02020603050405020304" pitchFamily="18" charset="0"/>
              </a:rPr>
              <a:t>Xử</a:t>
            </a:r>
            <a:r>
              <a:rPr lang="en-US" b="1" dirty="0">
                <a:latin typeface="Times New Roman" panose="02020603050405020304" pitchFamily="18" charset="0"/>
              </a:rPr>
              <a:t> </a:t>
            </a:r>
            <a:r>
              <a:rPr lang="en-US" b="1" dirty="0" err="1">
                <a:latin typeface="Times New Roman" panose="02020603050405020304" pitchFamily="18" charset="0"/>
              </a:rPr>
              <a:t>lý</a:t>
            </a:r>
            <a:r>
              <a:rPr lang="en-US" b="1" dirty="0">
                <a:latin typeface="Times New Roman" panose="02020603050405020304" pitchFamily="18" charset="0"/>
              </a:rPr>
              <a:t> </a:t>
            </a:r>
            <a:r>
              <a:rPr lang="en-US" b="1" dirty="0" err="1">
                <a:latin typeface="Times New Roman" panose="02020603050405020304" pitchFamily="18" charset="0"/>
              </a:rPr>
              <a:t>dữ</a:t>
            </a:r>
            <a:r>
              <a:rPr lang="en-US" b="1" dirty="0">
                <a:latin typeface="Times New Roman" panose="02020603050405020304" pitchFamily="18" charset="0"/>
              </a:rPr>
              <a:t> </a:t>
            </a:r>
            <a:r>
              <a:rPr lang="en-US" b="1" dirty="0" err="1">
                <a:latin typeface="Times New Roman" panose="02020603050405020304" pitchFamily="18" charset="0"/>
              </a:rPr>
              <a:t>liệu</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22B611F0-4796-67BD-4AF6-BDD618B42FEE}"/>
              </a:ext>
            </a:extLst>
          </p:cNvPr>
          <p:cNvSpPr>
            <a:spLocks noGrp="1"/>
          </p:cNvSpPr>
          <p:nvPr>
            <p:ph type="sldNum" sz="quarter" idx="12"/>
          </p:nvPr>
        </p:nvSpPr>
        <p:spPr/>
        <p:txBody>
          <a:bodyPr/>
          <a:lstStyle/>
          <a:p>
            <a:fld id="{6C56B8FA-5C00-4693-8C7F-3776FF570F07}" type="slidenum">
              <a:rPr lang="en-US" smtClean="0"/>
              <a:t>11</a:t>
            </a:fld>
            <a:endParaRPr lang="en-US"/>
          </a:p>
        </p:txBody>
      </p:sp>
      <p:sp>
        <p:nvSpPr>
          <p:cNvPr id="7" name="Flowchart: Alternate Process 6">
            <a:extLst>
              <a:ext uri="{FF2B5EF4-FFF2-40B4-BE49-F238E27FC236}">
                <a16:creationId xmlns:a16="http://schemas.microsoft.com/office/drawing/2014/main" id="{49613851-133E-A831-285D-13F054CAE93A}"/>
              </a:ext>
            </a:extLst>
          </p:cNvPr>
          <p:cNvSpPr/>
          <p:nvPr/>
        </p:nvSpPr>
        <p:spPr>
          <a:xfrm>
            <a:off x="754225" y="2388637"/>
            <a:ext cx="3307702" cy="2976465"/>
          </a:xfrm>
          <a:prstGeom prst="flowChartAlternateProcess">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vi-VN"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endParaRPr>
          </a:p>
          <a:p>
            <a:pPr algn="just"/>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Công</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cụ</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kiểm</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tra</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tính</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hợp</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lệ</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của</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tệp</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CSV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đầu</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vào</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đảm</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bảo</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dữ</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liệu</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không</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bị</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lỗi</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hoặc</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không</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đầy</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đủ</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giúp</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duy</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trì</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tính</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chính</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xác</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của</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thuật</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toán</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lập</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lịch</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a:t>
            </a:r>
            <a:endParaRPr lang="en-US" sz="20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8" name="Flowchart: Alternate Process 7">
            <a:extLst>
              <a:ext uri="{FF2B5EF4-FFF2-40B4-BE49-F238E27FC236}">
                <a16:creationId xmlns:a16="http://schemas.microsoft.com/office/drawing/2014/main" id="{E7DB3BFD-3E9B-CEE9-53E4-D6548FA94B30}"/>
              </a:ext>
            </a:extLst>
          </p:cNvPr>
          <p:cNvSpPr/>
          <p:nvPr/>
        </p:nvSpPr>
        <p:spPr>
          <a:xfrm>
            <a:off x="4531568" y="2392046"/>
            <a:ext cx="3307702" cy="2976465"/>
          </a:xfrm>
          <a:prstGeom prst="flowChartAlternateProcess">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vi-VN"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endParaRPr>
          </a:p>
          <a:p>
            <a:pPr algn="just"/>
            <a:r>
              <a:rPr lang="vi-VN"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Khi thiếu dữ liệu về độ ưu tiên (priority), hệ thống tự động thiết lập giá trị mặc định để tránh gián đoạn quá trình tính toán.</a:t>
            </a:r>
            <a:endParaRPr lang="vi-VN" sz="20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9" name="Flowchart: Alternate Process 8">
            <a:extLst>
              <a:ext uri="{FF2B5EF4-FFF2-40B4-BE49-F238E27FC236}">
                <a16:creationId xmlns:a16="http://schemas.microsoft.com/office/drawing/2014/main" id="{52C3E773-2C86-7CF3-751C-86461683BB23}"/>
              </a:ext>
            </a:extLst>
          </p:cNvPr>
          <p:cNvSpPr/>
          <p:nvPr/>
        </p:nvSpPr>
        <p:spPr>
          <a:xfrm>
            <a:off x="8308911" y="2388637"/>
            <a:ext cx="3307702" cy="2976465"/>
          </a:xfrm>
          <a:prstGeom prst="flowChartAlternateProcess">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vi-VN"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endParaRPr>
          </a:p>
          <a:p>
            <a:pPr algn="just"/>
            <a:r>
              <a:rPr lang="vi-VN"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Sử dụng lớp Process để chuẩn hóa việc lưu trữ và xử lý dữ liệu, từ đó cải thiện hiệu quả xử lý và đảm bảo độ linh hoạt của chương trình.</a:t>
            </a:r>
            <a:endParaRPr lang="vi-VN" sz="20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6" name="TextBox 15">
            <a:extLst>
              <a:ext uri="{FF2B5EF4-FFF2-40B4-BE49-F238E27FC236}">
                <a16:creationId xmlns:a16="http://schemas.microsoft.com/office/drawing/2014/main" id="{83945D02-3561-A440-BBB3-4E6DB0E6A86F}"/>
              </a:ext>
            </a:extLst>
          </p:cNvPr>
          <p:cNvSpPr txBox="1"/>
          <p:nvPr/>
        </p:nvSpPr>
        <p:spPr>
          <a:xfrm>
            <a:off x="914400" y="2535207"/>
            <a:ext cx="2962080" cy="461665"/>
          </a:xfrm>
          <a:prstGeom prst="rect">
            <a:avLst/>
          </a:prstGeom>
          <a:noFill/>
        </p:spPr>
        <p:txBody>
          <a:bodyPr wrap="square">
            <a:spAutoFit/>
          </a:bodyPr>
          <a:lstStyle/>
          <a:p>
            <a:pPr algn="ctr">
              <a:buNone/>
            </a:pPr>
            <a:r>
              <a:rPr lang="en-US" sz="2400" b="1" dirty="0" err="1">
                <a:solidFill>
                  <a:srgbClr val="0070C0"/>
                </a:solidFill>
                <a:effectLst/>
                <a:latin typeface="Times New Roman" panose="02020603050405020304" pitchFamily="18" charset="0"/>
                <a:cs typeface="Times New Roman" panose="02020603050405020304" pitchFamily="18" charset="0"/>
              </a:rPr>
              <a:t>Xác</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thực</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tệp</a:t>
            </a:r>
            <a:r>
              <a:rPr lang="en-US" sz="2400" b="1" dirty="0">
                <a:solidFill>
                  <a:srgbClr val="0070C0"/>
                </a:solidFill>
                <a:effectLst/>
                <a:latin typeface="Times New Roman" panose="02020603050405020304" pitchFamily="18" charset="0"/>
                <a:cs typeface="Times New Roman" panose="02020603050405020304" pitchFamily="18" charset="0"/>
              </a:rPr>
              <a:t> CSV</a:t>
            </a:r>
            <a:endParaRPr lang="en-US" sz="2400" dirty="0">
              <a:solidFill>
                <a:srgbClr val="0070C0"/>
              </a:solidFill>
              <a:effectLst/>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59A8DA64-19F7-FD45-9DD1-622CA4198696}"/>
              </a:ext>
            </a:extLst>
          </p:cNvPr>
          <p:cNvSpPr txBox="1"/>
          <p:nvPr/>
        </p:nvSpPr>
        <p:spPr>
          <a:xfrm>
            <a:off x="4625652" y="2535207"/>
            <a:ext cx="3119533" cy="461665"/>
          </a:xfrm>
          <a:prstGeom prst="rect">
            <a:avLst/>
          </a:prstGeom>
          <a:noFill/>
        </p:spPr>
        <p:txBody>
          <a:bodyPr wrap="square">
            <a:spAutoFit/>
          </a:bodyPr>
          <a:lstStyle/>
          <a:p>
            <a:pPr algn="ctr">
              <a:buNone/>
            </a:pPr>
            <a:r>
              <a:rPr lang="en-US" sz="2400" b="1" dirty="0" err="1">
                <a:solidFill>
                  <a:srgbClr val="0070C0"/>
                </a:solidFill>
                <a:effectLst/>
                <a:latin typeface="Times New Roman" panose="02020603050405020304" pitchFamily="18" charset="0"/>
                <a:cs typeface="Times New Roman" panose="02020603050405020304" pitchFamily="18" charset="0"/>
              </a:rPr>
              <a:t>Gán</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giá</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trị</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mặc</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định</a:t>
            </a:r>
            <a:endParaRPr lang="en-US" sz="2400" dirty="0">
              <a:solidFill>
                <a:srgbClr val="0070C0"/>
              </a:solidFill>
              <a:effectLst/>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C4DF41AD-B5DE-A359-CBD2-A614A3E47E0C}"/>
              </a:ext>
            </a:extLst>
          </p:cNvPr>
          <p:cNvSpPr txBox="1"/>
          <p:nvPr/>
        </p:nvSpPr>
        <p:spPr>
          <a:xfrm>
            <a:off x="8425543" y="2535207"/>
            <a:ext cx="2928257" cy="461665"/>
          </a:xfrm>
          <a:prstGeom prst="rect">
            <a:avLst/>
          </a:prstGeom>
          <a:noFill/>
        </p:spPr>
        <p:txBody>
          <a:bodyPr wrap="square">
            <a:spAutoFit/>
          </a:bodyPr>
          <a:lstStyle/>
          <a:p>
            <a:pPr algn="ctr">
              <a:buNone/>
            </a:pPr>
            <a:r>
              <a:rPr lang="en-US" sz="2400" b="1" dirty="0" err="1">
                <a:solidFill>
                  <a:srgbClr val="0070C0"/>
                </a:solidFill>
                <a:effectLst/>
                <a:latin typeface="Times New Roman" panose="02020603050405020304" pitchFamily="18" charset="0"/>
                <a:cs typeface="Times New Roman" panose="02020603050405020304" pitchFamily="18" charset="0"/>
              </a:rPr>
              <a:t>Tích</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hợp</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lớp</a:t>
            </a:r>
            <a:r>
              <a:rPr lang="en-US" sz="2400" b="1" dirty="0">
                <a:solidFill>
                  <a:srgbClr val="0070C0"/>
                </a:solidFill>
                <a:effectLst/>
                <a:latin typeface="Times New Roman" panose="02020603050405020304" pitchFamily="18" charset="0"/>
                <a:cs typeface="Times New Roman" panose="02020603050405020304" pitchFamily="18" charset="0"/>
              </a:rPr>
              <a:t> Process</a:t>
            </a:r>
            <a:endParaRPr lang="en-US" sz="2400" dirty="0">
              <a:solidFill>
                <a:srgbClr val="0070C0"/>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62447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39F20-131D-C72D-992E-777DBC6A680B}"/>
              </a:ext>
            </a:extLst>
          </p:cNvPr>
          <p:cNvSpPr>
            <a:spLocks noGrp="1"/>
          </p:cNvSpPr>
          <p:nvPr>
            <p:ph type="title"/>
          </p:nvPr>
        </p:nvSpPr>
        <p:spPr>
          <a:xfrm>
            <a:off x="0" y="1866122"/>
            <a:ext cx="12192000" cy="2500604"/>
          </a:xfrm>
        </p:spPr>
        <p:txBody>
          <a:bodyPr>
            <a:noAutofit/>
          </a:bodyPr>
          <a:lstStyle/>
          <a:p>
            <a:pPr algn="ctr"/>
            <a:r>
              <a:rPr lang="vi-VN" sz="6000" b="1" dirty="0">
                <a:latin typeface="Times New Roman" panose="02020603050405020304" pitchFamily="18" charset="0"/>
              </a:rPr>
              <a:t>04.</a:t>
            </a:r>
            <a:br>
              <a:rPr lang="vi-VN" sz="6000" b="1" dirty="0">
                <a:latin typeface="Times New Roman" panose="02020603050405020304" pitchFamily="18" charset="0"/>
              </a:rPr>
            </a:br>
            <a:r>
              <a:rPr lang="en-US" sz="6000" b="1" dirty="0" err="1">
                <a:latin typeface="Times New Roman" panose="02020603050405020304" pitchFamily="18" charset="0"/>
              </a:rPr>
              <a:t>Thử</a:t>
            </a:r>
            <a:r>
              <a:rPr lang="en-US" sz="6000" b="1" dirty="0">
                <a:latin typeface="Times New Roman" panose="02020603050405020304" pitchFamily="18" charset="0"/>
              </a:rPr>
              <a:t> </a:t>
            </a:r>
            <a:r>
              <a:rPr lang="en-US" sz="6000" b="1" dirty="0" err="1">
                <a:latin typeface="Times New Roman" panose="02020603050405020304" pitchFamily="18" charset="0"/>
              </a:rPr>
              <a:t>nghiệm</a:t>
            </a:r>
            <a:r>
              <a:rPr lang="en-US" sz="6000" b="1" dirty="0">
                <a:latin typeface="Times New Roman" panose="02020603050405020304" pitchFamily="18" charset="0"/>
              </a:rPr>
              <a:t> </a:t>
            </a:r>
            <a:r>
              <a:rPr lang="en-US" sz="6000" b="1" dirty="0" err="1">
                <a:latin typeface="Times New Roman" panose="02020603050405020304" pitchFamily="18" charset="0"/>
              </a:rPr>
              <a:t>và</a:t>
            </a:r>
            <a:r>
              <a:rPr lang="en-US" sz="6000" b="1" dirty="0">
                <a:latin typeface="Times New Roman" panose="02020603050405020304" pitchFamily="18" charset="0"/>
              </a:rPr>
              <a:t> </a:t>
            </a:r>
            <a:r>
              <a:rPr lang="en-US" sz="6000" b="1" dirty="0" err="1">
                <a:latin typeface="Times New Roman" panose="02020603050405020304" pitchFamily="18" charset="0"/>
              </a:rPr>
              <a:t>Thách</a:t>
            </a:r>
            <a:r>
              <a:rPr lang="en-US" sz="6000" b="1" dirty="0">
                <a:latin typeface="Times New Roman" panose="02020603050405020304" pitchFamily="18" charset="0"/>
              </a:rPr>
              <a:t> </a:t>
            </a:r>
            <a:r>
              <a:rPr lang="en-US" sz="6000" b="1" dirty="0" err="1">
                <a:latin typeface="Times New Roman" panose="02020603050405020304" pitchFamily="18" charset="0"/>
              </a:rPr>
              <a:t>thức</a:t>
            </a:r>
            <a:endParaRPr lang="en-US" sz="6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D1CC1811-0F39-D0CE-1885-12EA8302820B}"/>
              </a:ext>
            </a:extLst>
          </p:cNvPr>
          <p:cNvSpPr>
            <a:spLocks noGrp="1"/>
          </p:cNvSpPr>
          <p:nvPr>
            <p:ph type="dt" sz="half" idx="10"/>
          </p:nvPr>
        </p:nvSpPr>
        <p:spPr/>
        <p:txBody>
          <a:bodyPr/>
          <a:lstStyle/>
          <a:p>
            <a:fld id="{F96A87E1-9421-4CB4-9C4B-92F8E5D00273}" type="datetime1">
              <a:rPr lang="en-US" smtClean="0"/>
              <a:t>4/14/2026</a:t>
            </a:fld>
            <a:endParaRPr lang="en-US"/>
          </a:p>
        </p:txBody>
      </p:sp>
      <p:sp>
        <p:nvSpPr>
          <p:cNvPr id="6" name="Slide Number Placeholder 5">
            <a:extLst>
              <a:ext uri="{FF2B5EF4-FFF2-40B4-BE49-F238E27FC236}">
                <a16:creationId xmlns:a16="http://schemas.microsoft.com/office/drawing/2014/main" id="{F468DF20-7200-DC62-0E48-5552E263A833}"/>
              </a:ext>
            </a:extLst>
          </p:cNvPr>
          <p:cNvSpPr>
            <a:spLocks noGrp="1"/>
          </p:cNvSpPr>
          <p:nvPr>
            <p:ph type="sldNum" sz="quarter" idx="12"/>
          </p:nvPr>
        </p:nvSpPr>
        <p:spPr/>
        <p:txBody>
          <a:bodyPr/>
          <a:lstStyle/>
          <a:p>
            <a:fld id="{6C56B8FA-5C00-4693-8C7F-3776FF570F07}" type="slidenum">
              <a:rPr lang="en-US" smtClean="0"/>
              <a:t>12</a:t>
            </a:fld>
            <a:endParaRPr lang="en-US"/>
          </a:p>
        </p:txBody>
      </p:sp>
    </p:spTree>
    <p:extLst>
      <p:ext uri="{BB962C8B-B14F-4D97-AF65-F5344CB8AC3E}">
        <p14:creationId xmlns:p14="http://schemas.microsoft.com/office/powerpoint/2010/main" val="18025861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5E4B1-0388-E838-CE32-C2B6DF1FF9B2}"/>
              </a:ext>
            </a:extLst>
          </p:cNvPr>
          <p:cNvSpPr>
            <a:spLocks noGrp="1"/>
          </p:cNvSpPr>
          <p:nvPr>
            <p:ph type="title"/>
          </p:nvPr>
        </p:nvSpPr>
        <p:spPr>
          <a:xfrm>
            <a:off x="0" y="1228232"/>
            <a:ext cx="12192000" cy="767410"/>
          </a:xfrm>
        </p:spPr>
        <p:txBody>
          <a:bodyPr>
            <a:normAutofit/>
          </a:bodyPr>
          <a:lstStyle/>
          <a:p>
            <a:pPr algn="ctr"/>
            <a:r>
              <a:rPr lang="vi-VN" b="1" dirty="0">
                <a:latin typeface="Times New Roman" panose="02020603050405020304" pitchFamily="18" charset="0"/>
              </a:rPr>
              <a:t>Các trường hợp thử nghiệm</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E5B0B7AA-089D-5489-94F4-36B2D57DF159}"/>
              </a:ext>
            </a:extLst>
          </p:cNvPr>
          <p:cNvSpPr>
            <a:spLocks noGrp="1"/>
          </p:cNvSpPr>
          <p:nvPr>
            <p:ph type="sldNum" sz="quarter" idx="12"/>
          </p:nvPr>
        </p:nvSpPr>
        <p:spPr/>
        <p:txBody>
          <a:bodyPr/>
          <a:lstStyle/>
          <a:p>
            <a:fld id="{6C56B8FA-5C00-4693-8C7F-3776FF570F07}" type="slidenum">
              <a:rPr lang="en-US" smtClean="0"/>
              <a:t>13</a:t>
            </a:fld>
            <a:endParaRPr lang="en-US"/>
          </a:p>
        </p:txBody>
      </p:sp>
      <p:sp>
        <p:nvSpPr>
          <p:cNvPr id="8" name="TextBox 7">
            <a:extLst>
              <a:ext uri="{FF2B5EF4-FFF2-40B4-BE49-F238E27FC236}">
                <a16:creationId xmlns:a16="http://schemas.microsoft.com/office/drawing/2014/main" id="{BA96584E-4D82-D1B7-BB77-DC498F07B029}"/>
              </a:ext>
            </a:extLst>
          </p:cNvPr>
          <p:cNvSpPr txBox="1"/>
          <p:nvPr/>
        </p:nvSpPr>
        <p:spPr>
          <a:xfrm>
            <a:off x="1163993" y="2250828"/>
            <a:ext cx="10657891" cy="1200329"/>
          </a:xfrm>
          <a:prstGeom prst="rect">
            <a:avLst/>
          </a:prstGeom>
          <a:noFill/>
        </p:spPr>
        <p:txBody>
          <a:bodyPr wrap="square">
            <a:spAutoFit/>
          </a:bodyPr>
          <a:lstStyle/>
          <a:p>
            <a:r>
              <a:rPr lang="en-US" sz="2400" b="1" dirty="0" err="1">
                <a:effectLst/>
                <a:latin typeface="Times New Roman" panose="02020603050405020304" pitchFamily="18" charset="0"/>
                <a:cs typeface="Times New Roman" panose="02020603050405020304" pitchFamily="18" charset="0"/>
              </a:rPr>
              <a:t>Tạo</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dữ</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liệu</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cho</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tiến</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trình</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đến</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đồng</a:t>
            </a:r>
            <a:r>
              <a:rPr lang="en-US" sz="2400" b="1" dirty="0">
                <a:effectLst/>
                <a:latin typeface="Times New Roman" panose="02020603050405020304" pitchFamily="18" charset="0"/>
                <a:cs typeface="Times New Roman" panose="02020603050405020304" pitchFamily="18" charset="0"/>
              </a:rPr>
              <a:t> </a:t>
            </a:r>
            <a:r>
              <a:rPr lang="vi-VN" sz="2400" b="1" dirty="0">
                <a:effectLst/>
                <a:latin typeface="Times New Roman" panose="02020603050405020304" pitchFamily="18" charset="0"/>
                <a:cs typeface="Times New Roman" panose="02020603050405020304" pitchFamily="18" charset="0"/>
              </a:rPr>
              <a:t>thời: </a:t>
            </a:r>
            <a:r>
              <a:rPr lang="vi-VN" sz="2400" dirty="0">
                <a:solidFill>
                  <a:srgbClr val="000000"/>
                </a:solidFill>
                <a:effectLst/>
                <a:latin typeface="Noto Sans SC"/>
              </a:rPr>
              <a:t>Mô phỏng các kịch bản mà nhiều tiến trình đến cùng một thời điểm để kiểm tra cách thuật toán xử lý ưu tiên.</a:t>
            </a:r>
            <a:endParaRPr lang="vi-VN" sz="2400" dirty="0">
              <a:effectLst/>
            </a:endParaRPr>
          </a:p>
          <a:p>
            <a:pPr algn="l">
              <a:buNone/>
            </a:pPr>
            <a:endParaRPr lang="en-US" sz="2400" dirty="0">
              <a:effectLst/>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4774E43-F096-5576-5980-13B684FE1E84}"/>
              </a:ext>
            </a:extLst>
          </p:cNvPr>
          <p:cNvSpPr txBox="1"/>
          <p:nvPr/>
        </p:nvSpPr>
        <p:spPr>
          <a:xfrm>
            <a:off x="1163993" y="3410805"/>
            <a:ext cx="10180473" cy="1200329"/>
          </a:xfrm>
          <a:prstGeom prst="rect">
            <a:avLst/>
          </a:prstGeom>
          <a:noFill/>
        </p:spPr>
        <p:txBody>
          <a:bodyPr wrap="square">
            <a:spAutoFit/>
          </a:bodyPr>
          <a:lstStyle/>
          <a:p>
            <a:r>
              <a:rPr lang="en-US" sz="2400" b="1" dirty="0" err="1">
                <a:effectLst/>
                <a:latin typeface="Times New Roman" panose="02020603050405020304" pitchFamily="18" charset="0"/>
                <a:cs typeface="Times New Roman" panose="02020603050405020304" pitchFamily="18" charset="0"/>
              </a:rPr>
              <a:t>Thời</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gian</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nhàn</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rỗi</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của</a:t>
            </a:r>
            <a:r>
              <a:rPr lang="en-US" sz="2400" b="1" dirty="0">
                <a:effectLst/>
                <a:latin typeface="Times New Roman" panose="02020603050405020304" pitchFamily="18" charset="0"/>
                <a:cs typeface="Times New Roman" panose="02020603050405020304" pitchFamily="18" charset="0"/>
              </a:rPr>
              <a:t> </a:t>
            </a:r>
            <a:r>
              <a:rPr lang="vi-VN" sz="2400" b="1" dirty="0">
                <a:effectLst/>
                <a:latin typeface="Times New Roman" panose="02020603050405020304" pitchFamily="18" charset="0"/>
                <a:cs typeface="Times New Roman" panose="02020603050405020304" pitchFamily="18" charset="0"/>
              </a:rPr>
              <a:t>CPU: </a:t>
            </a:r>
            <a:r>
              <a:rPr lang="vi-VN" sz="2400" dirty="0">
                <a:solidFill>
                  <a:srgbClr val="000000"/>
                </a:solidFill>
                <a:effectLst/>
                <a:latin typeface="Noto Sans SC"/>
              </a:rPr>
              <a:t>Dựng các trường hợp khi CPU không có tiến trình nào được xử lý để kiểm tra khả năng khởi tạo và xử lý thời gian chết.</a:t>
            </a:r>
            <a:endParaRPr lang="vi-VN" sz="2400" dirty="0">
              <a:effectLst/>
            </a:endParaRPr>
          </a:p>
          <a:p>
            <a:pPr algn="l">
              <a:buNone/>
            </a:pPr>
            <a:endParaRPr lang="en-US" sz="2400" dirty="0">
              <a:effectLst/>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FE58FABD-8F49-7139-0CDA-954589BA94EF}"/>
              </a:ext>
            </a:extLst>
          </p:cNvPr>
          <p:cNvSpPr txBox="1"/>
          <p:nvPr/>
        </p:nvSpPr>
        <p:spPr>
          <a:xfrm>
            <a:off x="1163993" y="4767680"/>
            <a:ext cx="10741868" cy="1200329"/>
          </a:xfrm>
          <a:prstGeom prst="rect">
            <a:avLst/>
          </a:prstGeom>
          <a:noFill/>
        </p:spPr>
        <p:txBody>
          <a:bodyPr wrap="square">
            <a:spAutoFit/>
          </a:bodyPr>
          <a:lstStyle/>
          <a:p>
            <a:r>
              <a:rPr lang="en-US" sz="2400" b="1" dirty="0" err="1">
                <a:effectLst/>
                <a:latin typeface="Times New Roman" panose="02020603050405020304" pitchFamily="18" charset="0"/>
                <a:cs typeface="Times New Roman" panose="02020603050405020304" pitchFamily="18" charset="0"/>
              </a:rPr>
              <a:t>Kiểm</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tra</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tải</a:t>
            </a:r>
            <a:r>
              <a:rPr lang="en-US" sz="2400" b="1" dirty="0">
                <a:effectLst/>
                <a:latin typeface="Times New Roman" panose="02020603050405020304" pitchFamily="18" charset="0"/>
                <a:cs typeface="Times New Roman" panose="02020603050405020304" pitchFamily="18" charset="0"/>
              </a:rPr>
              <a:t> </a:t>
            </a:r>
            <a:r>
              <a:rPr lang="vi-VN" sz="2400" b="1" dirty="0">
                <a:effectLst/>
                <a:latin typeface="Times New Roman" panose="02020603050405020304" pitchFamily="18" charset="0"/>
                <a:cs typeface="Times New Roman" panose="02020603050405020304" pitchFamily="18" charset="0"/>
              </a:rPr>
              <a:t>cao: </a:t>
            </a:r>
            <a:r>
              <a:rPr lang="en-US" sz="2400" dirty="0" err="1">
                <a:solidFill>
                  <a:srgbClr val="000000"/>
                </a:solidFill>
                <a:effectLst/>
                <a:latin typeface="Noto Sans SC"/>
              </a:rPr>
              <a:t>Thiết</a:t>
            </a:r>
            <a:r>
              <a:rPr lang="en-US" sz="2400" dirty="0">
                <a:solidFill>
                  <a:srgbClr val="000000"/>
                </a:solidFill>
                <a:effectLst/>
                <a:latin typeface="Noto Sans SC"/>
              </a:rPr>
              <a:t> </a:t>
            </a:r>
            <a:r>
              <a:rPr lang="en-US" sz="2400" dirty="0" err="1">
                <a:solidFill>
                  <a:srgbClr val="000000"/>
                </a:solidFill>
                <a:effectLst/>
                <a:latin typeface="Noto Sans SC"/>
              </a:rPr>
              <a:t>kế</a:t>
            </a:r>
            <a:r>
              <a:rPr lang="en-US" sz="2400" dirty="0">
                <a:solidFill>
                  <a:srgbClr val="000000"/>
                </a:solidFill>
                <a:effectLst/>
                <a:latin typeface="Noto Sans SC"/>
              </a:rPr>
              <a:t> </a:t>
            </a:r>
            <a:r>
              <a:rPr lang="en-US" sz="2400" dirty="0" err="1">
                <a:solidFill>
                  <a:srgbClr val="000000"/>
                </a:solidFill>
                <a:effectLst/>
                <a:latin typeface="Noto Sans SC"/>
              </a:rPr>
              <a:t>các</a:t>
            </a:r>
            <a:r>
              <a:rPr lang="en-US" sz="2400" dirty="0">
                <a:solidFill>
                  <a:srgbClr val="000000"/>
                </a:solidFill>
                <a:effectLst/>
                <a:latin typeface="Noto Sans SC"/>
              </a:rPr>
              <a:t> </a:t>
            </a:r>
            <a:r>
              <a:rPr lang="en-US" sz="2400" dirty="0" err="1">
                <a:solidFill>
                  <a:srgbClr val="000000"/>
                </a:solidFill>
                <a:effectLst/>
                <a:latin typeface="Noto Sans SC"/>
              </a:rPr>
              <a:t>bộ</a:t>
            </a:r>
            <a:r>
              <a:rPr lang="en-US" sz="2400" dirty="0">
                <a:solidFill>
                  <a:srgbClr val="000000"/>
                </a:solidFill>
                <a:effectLst/>
                <a:latin typeface="Noto Sans SC"/>
              </a:rPr>
              <a:t> </a:t>
            </a:r>
            <a:r>
              <a:rPr lang="en-US" sz="2400" dirty="0" err="1">
                <a:solidFill>
                  <a:srgbClr val="000000"/>
                </a:solidFill>
                <a:effectLst/>
                <a:latin typeface="Noto Sans SC"/>
              </a:rPr>
              <a:t>dữ</a:t>
            </a:r>
            <a:r>
              <a:rPr lang="en-US" sz="2400" dirty="0">
                <a:solidFill>
                  <a:srgbClr val="000000"/>
                </a:solidFill>
                <a:effectLst/>
                <a:latin typeface="Noto Sans SC"/>
              </a:rPr>
              <a:t> </a:t>
            </a:r>
            <a:r>
              <a:rPr lang="en-US" sz="2400" dirty="0" err="1">
                <a:solidFill>
                  <a:srgbClr val="000000"/>
                </a:solidFill>
                <a:effectLst/>
                <a:latin typeface="Noto Sans SC"/>
              </a:rPr>
              <a:t>liệu</a:t>
            </a:r>
            <a:r>
              <a:rPr lang="en-US" sz="2400" dirty="0">
                <a:solidFill>
                  <a:srgbClr val="000000"/>
                </a:solidFill>
                <a:effectLst/>
                <a:latin typeface="Noto Sans SC"/>
              </a:rPr>
              <a:t> </a:t>
            </a:r>
            <a:r>
              <a:rPr lang="en-US" sz="2400" dirty="0" err="1">
                <a:solidFill>
                  <a:srgbClr val="000000"/>
                </a:solidFill>
                <a:effectLst/>
                <a:latin typeface="Noto Sans SC"/>
              </a:rPr>
              <a:t>lớn</a:t>
            </a:r>
            <a:r>
              <a:rPr lang="en-US" sz="2400" dirty="0">
                <a:solidFill>
                  <a:srgbClr val="000000"/>
                </a:solidFill>
                <a:effectLst/>
                <a:latin typeface="Noto Sans SC"/>
              </a:rPr>
              <a:t> </a:t>
            </a:r>
            <a:r>
              <a:rPr lang="en-US" sz="2400" dirty="0" err="1">
                <a:solidFill>
                  <a:srgbClr val="000000"/>
                </a:solidFill>
                <a:effectLst/>
                <a:latin typeface="Noto Sans SC"/>
              </a:rPr>
              <a:t>với</a:t>
            </a:r>
            <a:r>
              <a:rPr lang="en-US" sz="2400" dirty="0">
                <a:solidFill>
                  <a:srgbClr val="000000"/>
                </a:solidFill>
                <a:effectLst/>
                <a:latin typeface="Noto Sans SC"/>
              </a:rPr>
              <a:t> </a:t>
            </a:r>
            <a:r>
              <a:rPr lang="en-US" sz="2400" dirty="0" err="1">
                <a:solidFill>
                  <a:srgbClr val="000000"/>
                </a:solidFill>
                <a:effectLst/>
                <a:latin typeface="Noto Sans SC"/>
              </a:rPr>
              <a:t>nhiều</a:t>
            </a:r>
            <a:r>
              <a:rPr lang="en-US" sz="2400" dirty="0">
                <a:solidFill>
                  <a:srgbClr val="000000"/>
                </a:solidFill>
                <a:effectLst/>
                <a:latin typeface="Noto Sans SC"/>
              </a:rPr>
              <a:t> </a:t>
            </a:r>
            <a:r>
              <a:rPr lang="en-US" sz="2400" dirty="0" err="1">
                <a:solidFill>
                  <a:srgbClr val="000000"/>
                </a:solidFill>
                <a:effectLst/>
                <a:latin typeface="Noto Sans SC"/>
              </a:rPr>
              <a:t>tiến</a:t>
            </a:r>
            <a:r>
              <a:rPr lang="en-US" sz="2400" dirty="0">
                <a:solidFill>
                  <a:srgbClr val="000000"/>
                </a:solidFill>
                <a:effectLst/>
                <a:latin typeface="Noto Sans SC"/>
              </a:rPr>
              <a:t> </a:t>
            </a:r>
            <a:r>
              <a:rPr lang="en-US" sz="2400" dirty="0" err="1">
                <a:solidFill>
                  <a:srgbClr val="000000"/>
                </a:solidFill>
                <a:effectLst/>
                <a:latin typeface="Noto Sans SC"/>
              </a:rPr>
              <a:t>trình</a:t>
            </a:r>
            <a:r>
              <a:rPr lang="en-US" sz="2400" dirty="0">
                <a:solidFill>
                  <a:srgbClr val="000000"/>
                </a:solidFill>
                <a:effectLst/>
                <a:latin typeface="Noto Sans SC"/>
              </a:rPr>
              <a:t> </a:t>
            </a:r>
            <a:r>
              <a:rPr lang="en-US" sz="2400" dirty="0" err="1">
                <a:solidFill>
                  <a:srgbClr val="000000"/>
                </a:solidFill>
                <a:effectLst/>
                <a:latin typeface="Noto Sans SC"/>
              </a:rPr>
              <a:t>để</a:t>
            </a:r>
            <a:r>
              <a:rPr lang="en-US" sz="2400" dirty="0">
                <a:solidFill>
                  <a:srgbClr val="000000"/>
                </a:solidFill>
                <a:effectLst/>
                <a:latin typeface="Noto Sans SC"/>
              </a:rPr>
              <a:t> </a:t>
            </a:r>
            <a:r>
              <a:rPr lang="en-US" sz="2400" dirty="0" err="1">
                <a:solidFill>
                  <a:srgbClr val="000000"/>
                </a:solidFill>
                <a:effectLst/>
                <a:latin typeface="Noto Sans SC"/>
              </a:rPr>
              <a:t>đánh</a:t>
            </a:r>
            <a:r>
              <a:rPr lang="en-US" sz="2400" dirty="0">
                <a:solidFill>
                  <a:srgbClr val="000000"/>
                </a:solidFill>
                <a:effectLst/>
                <a:latin typeface="Noto Sans SC"/>
              </a:rPr>
              <a:t> </a:t>
            </a:r>
            <a:r>
              <a:rPr lang="en-US" sz="2400" dirty="0" err="1">
                <a:solidFill>
                  <a:srgbClr val="000000"/>
                </a:solidFill>
                <a:effectLst/>
                <a:latin typeface="Noto Sans SC"/>
              </a:rPr>
              <a:t>giá</a:t>
            </a:r>
            <a:r>
              <a:rPr lang="en-US" sz="2400" dirty="0">
                <a:solidFill>
                  <a:srgbClr val="000000"/>
                </a:solidFill>
                <a:effectLst/>
                <a:latin typeface="Noto Sans SC"/>
              </a:rPr>
              <a:t> </a:t>
            </a:r>
            <a:r>
              <a:rPr lang="en-US" sz="2400" dirty="0" err="1">
                <a:solidFill>
                  <a:srgbClr val="000000"/>
                </a:solidFill>
                <a:effectLst/>
                <a:latin typeface="Noto Sans SC"/>
              </a:rPr>
              <a:t>hiệu</a:t>
            </a:r>
            <a:r>
              <a:rPr lang="en-US" sz="2400" dirty="0">
                <a:solidFill>
                  <a:srgbClr val="000000"/>
                </a:solidFill>
                <a:effectLst/>
                <a:latin typeface="Noto Sans SC"/>
              </a:rPr>
              <a:t> </a:t>
            </a:r>
            <a:r>
              <a:rPr lang="en-US" sz="2400" dirty="0" err="1">
                <a:solidFill>
                  <a:srgbClr val="000000"/>
                </a:solidFill>
                <a:effectLst/>
                <a:latin typeface="Noto Sans SC"/>
              </a:rPr>
              <a:t>năng</a:t>
            </a:r>
            <a:r>
              <a:rPr lang="en-US" sz="2400" dirty="0">
                <a:solidFill>
                  <a:srgbClr val="000000"/>
                </a:solidFill>
                <a:effectLst/>
                <a:latin typeface="Noto Sans SC"/>
              </a:rPr>
              <a:t> </a:t>
            </a:r>
            <a:r>
              <a:rPr lang="en-US" sz="2400" dirty="0" err="1">
                <a:solidFill>
                  <a:srgbClr val="000000"/>
                </a:solidFill>
                <a:effectLst/>
                <a:latin typeface="Noto Sans SC"/>
              </a:rPr>
              <a:t>thuật</a:t>
            </a:r>
            <a:r>
              <a:rPr lang="en-US" sz="2400" dirty="0">
                <a:solidFill>
                  <a:srgbClr val="000000"/>
                </a:solidFill>
                <a:effectLst/>
                <a:latin typeface="Noto Sans SC"/>
              </a:rPr>
              <a:t> </a:t>
            </a:r>
            <a:r>
              <a:rPr lang="en-US" sz="2400" dirty="0" err="1">
                <a:solidFill>
                  <a:srgbClr val="000000"/>
                </a:solidFill>
                <a:effectLst/>
                <a:latin typeface="Noto Sans SC"/>
              </a:rPr>
              <a:t>toán</a:t>
            </a:r>
            <a:r>
              <a:rPr lang="en-US" sz="2400" dirty="0">
                <a:solidFill>
                  <a:srgbClr val="000000"/>
                </a:solidFill>
                <a:effectLst/>
                <a:latin typeface="Noto Sans SC"/>
              </a:rPr>
              <a:t> </a:t>
            </a:r>
            <a:r>
              <a:rPr lang="en-US" sz="2400" dirty="0" err="1">
                <a:solidFill>
                  <a:srgbClr val="000000"/>
                </a:solidFill>
                <a:effectLst/>
                <a:latin typeface="Noto Sans SC"/>
              </a:rPr>
              <a:t>khi</a:t>
            </a:r>
            <a:r>
              <a:rPr lang="en-US" sz="2400" dirty="0">
                <a:solidFill>
                  <a:srgbClr val="000000"/>
                </a:solidFill>
                <a:effectLst/>
                <a:latin typeface="Noto Sans SC"/>
              </a:rPr>
              <a:t> </a:t>
            </a:r>
            <a:r>
              <a:rPr lang="en-US" sz="2400" dirty="0" err="1">
                <a:solidFill>
                  <a:srgbClr val="000000"/>
                </a:solidFill>
                <a:effectLst/>
                <a:latin typeface="Noto Sans SC"/>
              </a:rPr>
              <a:t>phải</a:t>
            </a:r>
            <a:r>
              <a:rPr lang="en-US" sz="2400" dirty="0">
                <a:solidFill>
                  <a:srgbClr val="000000"/>
                </a:solidFill>
                <a:effectLst/>
                <a:latin typeface="Noto Sans SC"/>
              </a:rPr>
              <a:t> </a:t>
            </a:r>
            <a:r>
              <a:rPr lang="en-US" sz="2400" dirty="0" err="1">
                <a:solidFill>
                  <a:srgbClr val="000000"/>
                </a:solidFill>
                <a:effectLst/>
                <a:latin typeface="Noto Sans SC"/>
              </a:rPr>
              <a:t>xử</a:t>
            </a:r>
            <a:r>
              <a:rPr lang="en-US" sz="2400" dirty="0">
                <a:solidFill>
                  <a:srgbClr val="000000"/>
                </a:solidFill>
                <a:effectLst/>
                <a:latin typeface="Noto Sans SC"/>
              </a:rPr>
              <a:t> </a:t>
            </a:r>
            <a:r>
              <a:rPr lang="en-US" sz="2400" dirty="0" err="1">
                <a:solidFill>
                  <a:srgbClr val="000000"/>
                </a:solidFill>
                <a:effectLst/>
                <a:latin typeface="Noto Sans SC"/>
              </a:rPr>
              <a:t>lý</a:t>
            </a:r>
            <a:r>
              <a:rPr lang="en-US" sz="2400" dirty="0">
                <a:solidFill>
                  <a:srgbClr val="000000"/>
                </a:solidFill>
                <a:effectLst/>
                <a:latin typeface="Noto Sans SC"/>
              </a:rPr>
              <a:t> </a:t>
            </a:r>
            <a:r>
              <a:rPr lang="en-US" sz="2400" dirty="0" err="1">
                <a:solidFill>
                  <a:srgbClr val="000000"/>
                </a:solidFill>
                <a:effectLst/>
                <a:latin typeface="Noto Sans SC"/>
              </a:rPr>
              <a:t>dữ</a:t>
            </a:r>
            <a:r>
              <a:rPr lang="en-US" sz="2400" dirty="0">
                <a:solidFill>
                  <a:srgbClr val="000000"/>
                </a:solidFill>
                <a:effectLst/>
                <a:latin typeface="Noto Sans SC"/>
              </a:rPr>
              <a:t> </a:t>
            </a:r>
            <a:r>
              <a:rPr lang="en-US" sz="2400" dirty="0" err="1">
                <a:solidFill>
                  <a:srgbClr val="000000"/>
                </a:solidFill>
                <a:effectLst/>
                <a:latin typeface="Noto Sans SC"/>
              </a:rPr>
              <a:t>liệu</a:t>
            </a:r>
            <a:r>
              <a:rPr lang="en-US" sz="2400" dirty="0">
                <a:solidFill>
                  <a:srgbClr val="000000"/>
                </a:solidFill>
                <a:effectLst/>
                <a:latin typeface="Noto Sans SC"/>
              </a:rPr>
              <a:t> </a:t>
            </a:r>
            <a:r>
              <a:rPr lang="en-US" sz="2400" dirty="0" err="1">
                <a:solidFill>
                  <a:srgbClr val="000000"/>
                </a:solidFill>
                <a:effectLst/>
                <a:latin typeface="Noto Sans SC"/>
              </a:rPr>
              <a:t>lớn</a:t>
            </a:r>
            <a:r>
              <a:rPr lang="en-US" sz="2400" dirty="0">
                <a:solidFill>
                  <a:srgbClr val="000000"/>
                </a:solidFill>
                <a:effectLst/>
                <a:latin typeface="Noto Sans SC"/>
              </a:rPr>
              <a:t>.</a:t>
            </a:r>
            <a:endParaRPr lang="en-US" sz="2400" dirty="0">
              <a:effectLst/>
            </a:endParaRPr>
          </a:p>
          <a:p>
            <a:pPr algn="l">
              <a:buNone/>
            </a:pPr>
            <a:endParaRPr lang="en-US" sz="240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90268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Rounded Corners 22">
            <a:extLst>
              <a:ext uri="{FF2B5EF4-FFF2-40B4-BE49-F238E27FC236}">
                <a16:creationId xmlns:a16="http://schemas.microsoft.com/office/drawing/2014/main" id="{404B60D4-C59E-68DD-6DE9-9F85C27398F7}"/>
              </a:ext>
            </a:extLst>
          </p:cNvPr>
          <p:cNvSpPr/>
          <p:nvPr/>
        </p:nvSpPr>
        <p:spPr>
          <a:xfrm>
            <a:off x="1129001" y="5312473"/>
            <a:ext cx="10105053" cy="970383"/>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vi-VN" dirty="0">
              <a:solidFill>
                <a:schemeClr val="tx1"/>
              </a:solidFill>
              <a:effectLst/>
            </a:endParaRPr>
          </a:p>
        </p:txBody>
      </p:sp>
      <p:sp>
        <p:nvSpPr>
          <p:cNvPr id="20" name="Rectangle: Rounded Corners 19">
            <a:extLst>
              <a:ext uri="{FF2B5EF4-FFF2-40B4-BE49-F238E27FC236}">
                <a16:creationId xmlns:a16="http://schemas.microsoft.com/office/drawing/2014/main" id="{49576773-6F86-4ED2-CB4D-AF25A9A5D28C}"/>
              </a:ext>
            </a:extLst>
          </p:cNvPr>
          <p:cNvSpPr/>
          <p:nvPr/>
        </p:nvSpPr>
        <p:spPr>
          <a:xfrm>
            <a:off x="1121224" y="3833006"/>
            <a:ext cx="10105053" cy="970383"/>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	</a:t>
            </a:r>
          </a:p>
        </p:txBody>
      </p:sp>
      <p:sp>
        <p:nvSpPr>
          <p:cNvPr id="15" name="Rectangle: Rounded Corners 14">
            <a:extLst>
              <a:ext uri="{FF2B5EF4-FFF2-40B4-BE49-F238E27FC236}">
                <a16:creationId xmlns:a16="http://schemas.microsoft.com/office/drawing/2014/main" id="{453F1C06-828D-6BD9-7974-E7F1B18556E2}"/>
              </a:ext>
            </a:extLst>
          </p:cNvPr>
          <p:cNvSpPr/>
          <p:nvPr/>
        </p:nvSpPr>
        <p:spPr>
          <a:xfrm>
            <a:off x="1127446" y="2438472"/>
            <a:ext cx="10105053" cy="90002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A79CD4-1678-8AF1-DCC6-A73F3E25A317}"/>
              </a:ext>
            </a:extLst>
          </p:cNvPr>
          <p:cNvSpPr>
            <a:spLocks noGrp="1"/>
          </p:cNvSpPr>
          <p:nvPr>
            <p:ph type="title"/>
          </p:nvPr>
        </p:nvSpPr>
        <p:spPr/>
        <p:txBody>
          <a:bodyPr>
            <a:normAutofit/>
          </a:bodyPr>
          <a:lstStyle/>
          <a:p>
            <a:r>
              <a:rPr lang="en-US" b="1" dirty="0" err="1">
                <a:latin typeface="Times New Roman" panose="02020603050405020304" pitchFamily="18" charset="0"/>
              </a:rPr>
              <a:t>Thách</a:t>
            </a:r>
            <a:r>
              <a:rPr lang="en-US" b="1" dirty="0">
                <a:latin typeface="Times New Roman" panose="02020603050405020304" pitchFamily="18" charset="0"/>
              </a:rPr>
              <a:t> </a:t>
            </a:r>
            <a:r>
              <a:rPr lang="en-US" b="1" dirty="0" err="1">
                <a:latin typeface="Times New Roman" panose="02020603050405020304" pitchFamily="18" charset="0"/>
              </a:rPr>
              <a:t>thức</a:t>
            </a:r>
            <a:r>
              <a:rPr lang="en-US" b="1" dirty="0">
                <a:latin typeface="Times New Roman" panose="02020603050405020304" pitchFamily="18" charset="0"/>
              </a:rPr>
              <a:t> </a:t>
            </a:r>
            <a:r>
              <a:rPr lang="en-US" b="1" dirty="0" err="1">
                <a:latin typeface="Times New Roman" panose="02020603050405020304" pitchFamily="18" charset="0"/>
              </a:rPr>
              <a:t>và</a:t>
            </a:r>
            <a:r>
              <a:rPr lang="en-US" b="1" dirty="0">
                <a:latin typeface="Times New Roman" panose="02020603050405020304" pitchFamily="18" charset="0"/>
              </a:rPr>
              <a:t> </a:t>
            </a:r>
            <a:r>
              <a:rPr lang="en-US" b="1" dirty="0" err="1">
                <a:latin typeface="Times New Roman" panose="02020603050405020304" pitchFamily="18" charset="0"/>
              </a:rPr>
              <a:t>giải</a:t>
            </a:r>
            <a:r>
              <a:rPr lang="en-US" b="1" dirty="0">
                <a:latin typeface="Times New Roman" panose="02020603050405020304" pitchFamily="18" charset="0"/>
              </a:rPr>
              <a:t> </a:t>
            </a:r>
            <a:r>
              <a:rPr lang="en-US" b="1" dirty="0" err="1">
                <a:latin typeface="Times New Roman" panose="02020603050405020304" pitchFamily="18" charset="0"/>
              </a:rPr>
              <a:t>pháp</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7F06F254-EFD5-6E7A-BF09-72A3DF649B90}"/>
              </a:ext>
            </a:extLst>
          </p:cNvPr>
          <p:cNvSpPr>
            <a:spLocks noGrp="1"/>
          </p:cNvSpPr>
          <p:nvPr>
            <p:ph type="sldNum" sz="quarter" idx="12"/>
          </p:nvPr>
        </p:nvSpPr>
        <p:spPr/>
        <p:txBody>
          <a:bodyPr/>
          <a:lstStyle/>
          <a:p>
            <a:fld id="{6C56B8FA-5C00-4693-8C7F-3776FF570F07}" type="slidenum">
              <a:rPr lang="en-US" smtClean="0"/>
              <a:t>14</a:t>
            </a:fld>
            <a:endParaRPr lang="en-US"/>
          </a:p>
        </p:txBody>
      </p:sp>
      <p:sp>
        <p:nvSpPr>
          <p:cNvPr id="8" name="Flowchart: Off-page Connector 7">
            <a:extLst>
              <a:ext uri="{FF2B5EF4-FFF2-40B4-BE49-F238E27FC236}">
                <a16:creationId xmlns:a16="http://schemas.microsoft.com/office/drawing/2014/main" id="{5E88AC4E-FE1F-F5BD-15F1-8600EC3682F6}"/>
              </a:ext>
            </a:extLst>
          </p:cNvPr>
          <p:cNvSpPr/>
          <p:nvPr/>
        </p:nvSpPr>
        <p:spPr>
          <a:xfrm rot="16200000">
            <a:off x="1434208" y="1674510"/>
            <a:ext cx="767409" cy="1380931"/>
          </a:xfrm>
          <a:prstGeom prst="flowChartOffpageConnector">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lumMod val="40000"/>
                  <a:lumOff val="60000"/>
                </a:schemeClr>
              </a:solidFill>
            </a:endParaRPr>
          </a:p>
        </p:txBody>
      </p:sp>
      <p:sp>
        <p:nvSpPr>
          <p:cNvPr id="9" name="TextBox 8">
            <a:extLst>
              <a:ext uri="{FF2B5EF4-FFF2-40B4-BE49-F238E27FC236}">
                <a16:creationId xmlns:a16="http://schemas.microsoft.com/office/drawing/2014/main" id="{1B56219F-02EB-956B-7E39-4DCF3F7234EA}"/>
              </a:ext>
            </a:extLst>
          </p:cNvPr>
          <p:cNvSpPr txBox="1"/>
          <p:nvPr/>
        </p:nvSpPr>
        <p:spPr>
          <a:xfrm>
            <a:off x="1435356" y="2072587"/>
            <a:ext cx="933061" cy="584775"/>
          </a:xfrm>
          <a:prstGeom prst="rect">
            <a:avLst/>
          </a:prstGeom>
          <a:noFill/>
        </p:spPr>
        <p:txBody>
          <a:bodyPr wrap="square" rtlCol="0">
            <a:spAutoFit/>
          </a:bodyPr>
          <a:lstStyle/>
          <a:p>
            <a:r>
              <a:rPr lang="en-US" sz="3200" b="1" dirty="0"/>
              <a:t>01</a:t>
            </a:r>
            <a:endParaRPr lang="en-US" sz="2400" b="1" dirty="0"/>
          </a:p>
        </p:txBody>
      </p:sp>
      <p:sp>
        <p:nvSpPr>
          <p:cNvPr id="11" name="Flowchart: Off-page Connector 10">
            <a:extLst>
              <a:ext uri="{FF2B5EF4-FFF2-40B4-BE49-F238E27FC236}">
                <a16:creationId xmlns:a16="http://schemas.microsoft.com/office/drawing/2014/main" id="{81005EFD-7823-A221-01FD-0B5E6F4E6D2A}"/>
              </a:ext>
            </a:extLst>
          </p:cNvPr>
          <p:cNvSpPr/>
          <p:nvPr/>
        </p:nvSpPr>
        <p:spPr>
          <a:xfrm rot="16200000">
            <a:off x="1434207" y="4562882"/>
            <a:ext cx="767409" cy="1380931"/>
          </a:xfrm>
          <a:prstGeom prst="flowChartOffpageConnector">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lumMod val="40000"/>
                  <a:lumOff val="60000"/>
                </a:schemeClr>
              </a:solidFill>
            </a:endParaRPr>
          </a:p>
        </p:txBody>
      </p:sp>
      <p:sp>
        <p:nvSpPr>
          <p:cNvPr id="12" name="TextBox 11">
            <a:extLst>
              <a:ext uri="{FF2B5EF4-FFF2-40B4-BE49-F238E27FC236}">
                <a16:creationId xmlns:a16="http://schemas.microsoft.com/office/drawing/2014/main" id="{D45E9233-89DA-649F-4BA5-56566A27C006}"/>
              </a:ext>
            </a:extLst>
          </p:cNvPr>
          <p:cNvSpPr txBox="1"/>
          <p:nvPr/>
        </p:nvSpPr>
        <p:spPr>
          <a:xfrm>
            <a:off x="1436911" y="4949383"/>
            <a:ext cx="681138" cy="580435"/>
          </a:xfrm>
          <a:prstGeom prst="rect">
            <a:avLst/>
          </a:prstGeom>
          <a:solidFill>
            <a:srgbClr val="00B0F0"/>
          </a:solidFill>
        </p:spPr>
        <p:txBody>
          <a:bodyPr wrap="square" rtlCol="0">
            <a:spAutoFit/>
          </a:bodyPr>
          <a:lstStyle/>
          <a:p>
            <a:r>
              <a:rPr lang="en-US" sz="3200" b="1" dirty="0"/>
              <a:t>03</a:t>
            </a:r>
            <a:endParaRPr lang="en-US" sz="2400" b="1" dirty="0"/>
          </a:p>
        </p:txBody>
      </p:sp>
      <p:sp>
        <p:nvSpPr>
          <p:cNvPr id="14" name="TextBox 13">
            <a:extLst>
              <a:ext uri="{FF2B5EF4-FFF2-40B4-BE49-F238E27FC236}">
                <a16:creationId xmlns:a16="http://schemas.microsoft.com/office/drawing/2014/main" id="{5030A65F-50A3-CF75-B550-D1A7C5540C43}"/>
              </a:ext>
            </a:extLst>
          </p:cNvPr>
          <p:cNvSpPr txBox="1"/>
          <p:nvPr/>
        </p:nvSpPr>
        <p:spPr>
          <a:xfrm>
            <a:off x="2508378" y="1995642"/>
            <a:ext cx="2493606" cy="369332"/>
          </a:xfrm>
          <a:prstGeom prst="rect">
            <a:avLst/>
          </a:prstGeom>
          <a:noFill/>
        </p:spPr>
        <p:txBody>
          <a:bodyPr wrap="square">
            <a:spAutoFit/>
          </a:bodyPr>
          <a:lstStyle/>
          <a:p>
            <a:pPr algn="l">
              <a:buNone/>
            </a:pPr>
            <a:r>
              <a:rPr lang="en-US" b="1" dirty="0" err="1">
                <a:solidFill>
                  <a:srgbClr val="000000"/>
                </a:solidFill>
                <a:effectLst/>
                <a:latin typeface="Times New Roman" panose="02020603050405020304" pitchFamily="18" charset="0"/>
                <a:cs typeface="Times New Roman" panose="02020603050405020304" pitchFamily="18" charset="0"/>
              </a:rPr>
              <a:t>Đồng</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bộ</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hóa</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mã</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nguồn</a:t>
            </a:r>
            <a:endParaRPr lang="en-US" dirty="0">
              <a:effectLst/>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102F18F9-04FA-AFEC-820A-A2B0E491BFA9}"/>
              </a:ext>
            </a:extLst>
          </p:cNvPr>
          <p:cNvSpPr txBox="1"/>
          <p:nvPr/>
        </p:nvSpPr>
        <p:spPr>
          <a:xfrm>
            <a:off x="2509936" y="2575257"/>
            <a:ext cx="8553061" cy="646331"/>
          </a:xfrm>
          <a:prstGeom prst="rect">
            <a:avLst/>
          </a:prstGeom>
          <a:noFill/>
        </p:spPr>
        <p:txBody>
          <a:bodyPr wrap="square">
            <a:spAutoFit/>
          </a:bodyPr>
          <a:lstStyle/>
          <a:p>
            <a:pPr algn="l">
              <a:buNone/>
            </a:pPr>
            <a:r>
              <a:rPr lang="vi-VN" dirty="0">
                <a:solidFill>
                  <a:srgbClr val="000000"/>
                </a:solidFill>
                <a:effectLst/>
                <a:latin typeface="Times New Roman" panose="02020603050405020304" pitchFamily="18" charset="0"/>
                <a:cs typeface="Times New Roman" panose="02020603050405020304" pitchFamily="18" charset="0"/>
              </a:rPr>
              <a:t>Ban đầu dữ liệu đầu vào không nhất quán gây lỗi, nhưng bằng cách sử dụng lớp `Process`, nhóm đã quản lý dữ liệu tốt hơn và đảm bảo đồng nhất.</a:t>
            </a:r>
            <a:endParaRPr lang="vi-VN" dirty="0">
              <a:effectLst/>
              <a:latin typeface="Times New Roman" panose="02020603050405020304" pitchFamily="18" charset="0"/>
              <a:cs typeface="Times New Roman" panose="02020603050405020304" pitchFamily="18" charset="0"/>
            </a:endParaRPr>
          </a:p>
        </p:txBody>
      </p:sp>
      <p:sp>
        <p:nvSpPr>
          <p:cNvPr id="18" name="Flowchart: Off-page Connector 17">
            <a:extLst>
              <a:ext uri="{FF2B5EF4-FFF2-40B4-BE49-F238E27FC236}">
                <a16:creationId xmlns:a16="http://schemas.microsoft.com/office/drawing/2014/main" id="{3551F6C1-6CC6-CCB6-2657-63E5ADFAD49E}"/>
              </a:ext>
            </a:extLst>
          </p:cNvPr>
          <p:cNvSpPr/>
          <p:nvPr/>
        </p:nvSpPr>
        <p:spPr>
          <a:xfrm rot="5400000">
            <a:off x="10158328" y="3086575"/>
            <a:ext cx="767409" cy="1380926"/>
          </a:xfrm>
          <a:prstGeom prst="flowChartOffpageConnector">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lumMod val="40000"/>
                  <a:lumOff val="60000"/>
                </a:schemeClr>
              </a:solidFill>
            </a:endParaRPr>
          </a:p>
        </p:txBody>
      </p:sp>
      <p:sp>
        <p:nvSpPr>
          <p:cNvPr id="19" name="TextBox 18">
            <a:extLst>
              <a:ext uri="{FF2B5EF4-FFF2-40B4-BE49-F238E27FC236}">
                <a16:creationId xmlns:a16="http://schemas.microsoft.com/office/drawing/2014/main" id="{31095DD1-2ACD-37DF-D32D-D1BBDB21E95A}"/>
              </a:ext>
            </a:extLst>
          </p:cNvPr>
          <p:cNvSpPr txBox="1"/>
          <p:nvPr/>
        </p:nvSpPr>
        <p:spPr>
          <a:xfrm>
            <a:off x="10299438" y="3484649"/>
            <a:ext cx="933061" cy="584775"/>
          </a:xfrm>
          <a:prstGeom prst="rect">
            <a:avLst/>
          </a:prstGeom>
          <a:solidFill>
            <a:srgbClr val="00B0F0"/>
          </a:solidFill>
        </p:spPr>
        <p:txBody>
          <a:bodyPr wrap="square" rtlCol="0">
            <a:spAutoFit/>
          </a:bodyPr>
          <a:lstStyle/>
          <a:p>
            <a:r>
              <a:rPr lang="en-US" sz="3200" b="1" dirty="0"/>
              <a:t>02</a:t>
            </a:r>
            <a:endParaRPr lang="en-US" sz="2400" b="1" dirty="0"/>
          </a:p>
        </p:txBody>
      </p:sp>
      <p:sp>
        <p:nvSpPr>
          <p:cNvPr id="22" name="TextBox 21">
            <a:extLst>
              <a:ext uri="{FF2B5EF4-FFF2-40B4-BE49-F238E27FC236}">
                <a16:creationId xmlns:a16="http://schemas.microsoft.com/office/drawing/2014/main" id="{459F78E5-6E96-35F4-AE5B-F354E4FDC30A}"/>
              </a:ext>
            </a:extLst>
          </p:cNvPr>
          <p:cNvSpPr txBox="1"/>
          <p:nvPr/>
        </p:nvSpPr>
        <p:spPr>
          <a:xfrm>
            <a:off x="7128588" y="3437768"/>
            <a:ext cx="2722978" cy="369332"/>
          </a:xfrm>
          <a:prstGeom prst="rect">
            <a:avLst/>
          </a:prstGeom>
          <a:noFill/>
        </p:spPr>
        <p:txBody>
          <a:bodyPr wrap="square">
            <a:spAutoFit/>
          </a:bodyPr>
          <a:lstStyle/>
          <a:p>
            <a:pPr algn="l">
              <a:buNone/>
            </a:pPr>
            <a:r>
              <a:rPr lang="en-US" b="1" dirty="0" err="1">
                <a:solidFill>
                  <a:srgbClr val="000000"/>
                </a:solidFill>
                <a:effectLst/>
                <a:latin typeface="Times New Roman" panose="02020603050405020304" pitchFamily="18" charset="0"/>
                <a:cs typeface="Times New Roman" panose="02020603050405020304" pitchFamily="18" charset="0"/>
              </a:rPr>
              <a:t>Trực</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quan</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hóa</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dữ</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liệu</a:t>
            </a:r>
            <a:endParaRPr lang="en-US" dirty="0">
              <a:effectLst/>
              <a:latin typeface="Times New Roman" panose="02020603050405020304" pitchFamily="18" charset="0"/>
              <a:cs typeface="Times New Roman" panose="02020603050405020304" pitchFamily="18" charset="0"/>
            </a:endParaRPr>
          </a:p>
        </p:txBody>
      </p:sp>
      <p:sp>
        <p:nvSpPr>
          <p:cNvPr id="26" name="TextBox 25">
            <a:extLst>
              <a:ext uri="{FF2B5EF4-FFF2-40B4-BE49-F238E27FC236}">
                <a16:creationId xmlns:a16="http://schemas.microsoft.com/office/drawing/2014/main" id="{AF6EA0E8-9D14-5ED5-CD36-33BC6C19F46E}"/>
              </a:ext>
            </a:extLst>
          </p:cNvPr>
          <p:cNvSpPr txBox="1"/>
          <p:nvPr/>
        </p:nvSpPr>
        <p:spPr>
          <a:xfrm>
            <a:off x="2508377" y="4908919"/>
            <a:ext cx="2744758" cy="369332"/>
          </a:xfrm>
          <a:prstGeom prst="rect">
            <a:avLst/>
          </a:prstGeom>
          <a:noFill/>
        </p:spPr>
        <p:txBody>
          <a:bodyPr wrap="square">
            <a:spAutoFit/>
          </a:bodyPr>
          <a:lstStyle/>
          <a:p>
            <a:pPr algn="l">
              <a:buNone/>
            </a:pPr>
            <a:r>
              <a:rPr lang="en-US" b="1" dirty="0">
                <a:solidFill>
                  <a:srgbClr val="000000"/>
                </a:solidFill>
                <a:effectLst/>
                <a:latin typeface="Times New Roman" panose="02020603050405020304" pitchFamily="18" charset="0"/>
                <a:cs typeface="Times New Roman" panose="02020603050405020304" pitchFamily="18" charset="0"/>
              </a:rPr>
              <a:t>Giao </a:t>
            </a:r>
            <a:r>
              <a:rPr lang="en-US" b="1" dirty="0" err="1">
                <a:solidFill>
                  <a:srgbClr val="000000"/>
                </a:solidFill>
                <a:effectLst/>
                <a:latin typeface="Times New Roman" panose="02020603050405020304" pitchFamily="18" charset="0"/>
                <a:cs typeface="Times New Roman" panose="02020603050405020304" pitchFamily="18" charset="0"/>
              </a:rPr>
              <a:t>tiếp</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trong</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nhóm</a:t>
            </a:r>
            <a:endParaRPr lang="en-US" dirty="0">
              <a:effectLst/>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889B4BD2-4691-1715-9EA3-EB0CA05BD2C0}"/>
              </a:ext>
            </a:extLst>
          </p:cNvPr>
          <p:cNvSpPr txBox="1"/>
          <p:nvPr/>
        </p:nvSpPr>
        <p:spPr>
          <a:xfrm>
            <a:off x="2508377" y="5459866"/>
            <a:ext cx="8554620" cy="646331"/>
          </a:xfrm>
          <a:prstGeom prst="rect">
            <a:avLst/>
          </a:prstGeom>
          <a:noFill/>
        </p:spPr>
        <p:txBody>
          <a:bodyPr wrap="square">
            <a:spAutoFit/>
          </a:bodyPr>
          <a:lstStyle/>
          <a:p>
            <a:r>
              <a:rPr lang="vi-VN" dirty="0">
                <a:solidFill>
                  <a:schemeClr val="tx1"/>
                </a:solidFill>
                <a:latin typeface="Times New Roman" panose="02020603050405020304" pitchFamily="18" charset="0"/>
                <a:cs typeface="Times New Roman" panose="02020603050405020304" pitchFamily="18" charset="0"/>
              </a:rPr>
              <a:t>Các hiểu nhầm về phạm vi công việc được giải quyết thông qua việc tăng cường trao đổi thường xuyên và thiết lập các buổi họp định kỳ để thống nhất tiến độ.</a:t>
            </a:r>
            <a:endParaRPr lang="vi-VN" dirty="0">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27375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39F20-131D-C72D-992E-777DBC6A680B}"/>
              </a:ext>
            </a:extLst>
          </p:cNvPr>
          <p:cNvSpPr>
            <a:spLocks noGrp="1"/>
          </p:cNvSpPr>
          <p:nvPr>
            <p:ph type="title"/>
          </p:nvPr>
        </p:nvSpPr>
        <p:spPr>
          <a:xfrm>
            <a:off x="1474237" y="1866122"/>
            <a:ext cx="9759820" cy="2500604"/>
          </a:xfrm>
        </p:spPr>
        <p:txBody>
          <a:bodyPr>
            <a:noAutofit/>
          </a:bodyPr>
          <a:lstStyle/>
          <a:p>
            <a:pPr algn="ctr"/>
            <a:r>
              <a:rPr lang="vi-VN" sz="6000" b="1" dirty="0">
                <a:latin typeface="Times New Roman" panose="02020603050405020304" pitchFamily="18" charset="0"/>
              </a:rPr>
              <a:t>05.</a:t>
            </a:r>
            <a:br>
              <a:rPr lang="vi-VN" sz="6000" b="1" dirty="0">
                <a:latin typeface="Times New Roman" panose="02020603050405020304" pitchFamily="18" charset="0"/>
              </a:rPr>
            </a:br>
            <a:r>
              <a:rPr lang="en-US" sz="6000" b="1" dirty="0" err="1">
                <a:latin typeface="Times New Roman" panose="02020603050405020304" pitchFamily="18" charset="0"/>
              </a:rPr>
              <a:t>Những</a:t>
            </a:r>
            <a:r>
              <a:rPr lang="en-US" sz="6000" b="1" dirty="0">
                <a:latin typeface="Times New Roman" panose="02020603050405020304" pitchFamily="18" charset="0"/>
              </a:rPr>
              <a:t> </a:t>
            </a:r>
            <a:r>
              <a:rPr lang="en-US" sz="6000" b="1" dirty="0" err="1">
                <a:latin typeface="Times New Roman" panose="02020603050405020304" pitchFamily="18" charset="0"/>
              </a:rPr>
              <a:t>bài</a:t>
            </a:r>
            <a:r>
              <a:rPr lang="en-US" sz="6000" b="1" dirty="0">
                <a:latin typeface="Times New Roman" panose="02020603050405020304" pitchFamily="18" charset="0"/>
              </a:rPr>
              <a:t> </a:t>
            </a:r>
            <a:r>
              <a:rPr lang="en-US" sz="6000" b="1" dirty="0" err="1">
                <a:latin typeface="Times New Roman" panose="02020603050405020304" pitchFamily="18" charset="0"/>
              </a:rPr>
              <a:t>học</a:t>
            </a:r>
            <a:r>
              <a:rPr lang="en-US" sz="6000" b="1" dirty="0">
                <a:latin typeface="Times New Roman" panose="02020603050405020304" pitchFamily="18" charset="0"/>
              </a:rPr>
              <a:t> </a:t>
            </a:r>
            <a:r>
              <a:rPr lang="en-US" sz="6000" b="1" dirty="0" err="1">
                <a:latin typeface="Times New Roman" panose="02020603050405020304" pitchFamily="18" charset="0"/>
              </a:rPr>
              <a:t>kinh</a:t>
            </a:r>
            <a:r>
              <a:rPr lang="en-US" sz="6000" b="1" dirty="0">
                <a:latin typeface="Times New Roman" panose="02020603050405020304" pitchFamily="18" charset="0"/>
              </a:rPr>
              <a:t> </a:t>
            </a:r>
            <a:r>
              <a:rPr lang="en-US" sz="6000" b="1" dirty="0" err="1">
                <a:latin typeface="Times New Roman" panose="02020603050405020304" pitchFamily="18" charset="0"/>
              </a:rPr>
              <a:t>nghiệm</a:t>
            </a:r>
            <a:r>
              <a:rPr lang="en-US" sz="6000" b="1" dirty="0">
                <a:latin typeface="Times New Roman" panose="02020603050405020304" pitchFamily="18" charset="0"/>
              </a:rPr>
              <a:t> </a:t>
            </a:r>
            <a:r>
              <a:rPr lang="en-US" sz="6000" b="1" dirty="0" err="1">
                <a:latin typeface="Times New Roman" panose="02020603050405020304" pitchFamily="18" charset="0"/>
              </a:rPr>
              <a:t>và</a:t>
            </a:r>
            <a:r>
              <a:rPr lang="en-US" sz="6000" b="1" dirty="0">
                <a:latin typeface="Times New Roman" panose="02020603050405020304" pitchFamily="18" charset="0"/>
              </a:rPr>
              <a:t> </a:t>
            </a:r>
            <a:r>
              <a:rPr lang="en-US" sz="6000" b="1" dirty="0" err="1">
                <a:latin typeface="Times New Roman" panose="02020603050405020304" pitchFamily="18" charset="0"/>
              </a:rPr>
              <a:t>hạn</a:t>
            </a:r>
            <a:r>
              <a:rPr lang="en-US" sz="6000" b="1" dirty="0">
                <a:latin typeface="Times New Roman" panose="02020603050405020304" pitchFamily="18" charset="0"/>
              </a:rPr>
              <a:t> </a:t>
            </a:r>
            <a:r>
              <a:rPr lang="en-US" sz="6000" b="1" dirty="0" err="1">
                <a:latin typeface="Times New Roman" panose="02020603050405020304" pitchFamily="18" charset="0"/>
              </a:rPr>
              <a:t>chế</a:t>
            </a:r>
            <a:endParaRPr lang="en-US" sz="6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D1CC1811-0F39-D0CE-1885-12EA8302820B}"/>
              </a:ext>
            </a:extLst>
          </p:cNvPr>
          <p:cNvSpPr>
            <a:spLocks noGrp="1"/>
          </p:cNvSpPr>
          <p:nvPr>
            <p:ph type="dt" sz="half" idx="10"/>
          </p:nvPr>
        </p:nvSpPr>
        <p:spPr/>
        <p:txBody>
          <a:bodyPr/>
          <a:lstStyle/>
          <a:p>
            <a:fld id="{F96A87E1-9421-4CB4-9C4B-92F8E5D00273}" type="datetime1">
              <a:rPr lang="en-US" smtClean="0"/>
              <a:t>4/14/2026</a:t>
            </a:fld>
            <a:endParaRPr lang="en-US"/>
          </a:p>
        </p:txBody>
      </p:sp>
      <p:sp>
        <p:nvSpPr>
          <p:cNvPr id="6" name="Slide Number Placeholder 5">
            <a:extLst>
              <a:ext uri="{FF2B5EF4-FFF2-40B4-BE49-F238E27FC236}">
                <a16:creationId xmlns:a16="http://schemas.microsoft.com/office/drawing/2014/main" id="{F468DF20-7200-DC62-0E48-5552E263A833}"/>
              </a:ext>
            </a:extLst>
          </p:cNvPr>
          <p:cNvSpPr>
            <a:spLocks noGrp="1"/>
          </p:cNvSpPr>
          <p:nvPr>
            <p:ph type="sldNum" sz="quarter" idx="12"/>
          </p:nvPr>
        </p:nvSpPr>
        <p:spPr/>
        <p:txBody>
          <a:bodyPr/>
          <a:lstStyle/>
          <a:p>
            <a:fld id="{6C56B8FA-5C00-4693-8C7F-3776FF570F07}" type="slidenum">
              <a:rPr lang="en-US" smtClean="0"/>
              <a:t>15</a:t>
            </a:fld>
            <a:endParaRPr lang="en-US"/>
          </a:p>
        </p:txBody>
      </p:sp>
    </p:spTree>
    <p:extLst>
      <p:ext uri="{BB962C8B-B14F-4D97-AF65-F5344CB8AC3E}">
        <p14:creationId xmlns:p14="http://schemas.microsoft.com/office/powerpoint/2010/main" val="22841789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lowchart: Alternate Process 7">
            <a:extLst>
              <a:ext uri="{FF2B5EF4-FFF2-40B4-BE49-F238E27FC236}">
                <a16:creationId xmlns:a16="http://schemas.microsoft.com/office/drawing/2014/main" id="{11CB4A26-12F6-6CCB-ABA6-78A4C99F2F8C}"/>
              </a:ext>
            </a:extLst>
          </p:cNvPr>
          <p:cNvSpPr/>
          <p:nvPr/>
        </p:nvSpPr>
        <p:spPr>
          <a:xfrm>
            <a:off x="1091682" y="2188578"/>
            <a:ext cx="9486900" cy="1147598"/>
          </a:xfrm>
          <a:prstGeom prst="flowChartAlternateProcess">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615F2C6-DD9A-3359-3DA9-173D8DE545FD}"/>
              </a:ext>
            </a:extLst>
          </p:cNvPr>
          <p:cNvSpPr>
            <a:spLocks noGrp="1"/>
          </p:cNvSpPr>
          <p:nvPr>
            <p:ph type="title"/>
          </p:nvPr>
        </p:nvSpPr>
        <p:spPr/>
        <p:txBody>
          <a:bodyPr>
            <a:normAutofit/>
          </a:bodyPr>
          <a:lstStyle/>
          <a:p>
            <a:r>
              <a:rPr lang="en-US" b="1" dirty="0" err="1">
                <a:latin typeface="Times New Roman" panose="02020603050405020304" pitchFamily="18" charset="0"/>
              </a:rPr>
              <a:t>Những</a:t>
            </a:r>
            <a:r>
              <a:rPr lang="en-US" b="1" dirty="0">
                <a:latin typeface="Times New Roman" panose="02020603050405020304" pitchFamily="18" charset="0"/>
              </a:rPr>
              <a:t> </a:t>
            </a:r>
            <a:r>
              <a:rPr lang="en-US" b="1" dirty="0" err="1">
                <a:latin typeface="Times New Roman" panose="02020603050405020304" pitchFamily="18" charset="0"/>
              </a:rPr>
              <a:t>bài</a:t>
            </a:r>
            <a:r>
              <a:rPr lang="en-US" b="1" dirty="0">
                <a:latin typeface="Times New Roman" panose="02020603050405020304" pitchFamily="18" charset="0"/>
              </a:rPr>
              <a:t> </a:t>
            </a:r>
            <a:r>
              <a:rPr lang="en-US" b="1" dirty="0" err="1">
                <a:latin typeface="Times New Roman" panose="02020603050405020304" pitchFamily="18" charset="0"/>
              </a:rPr>
              <a:t>học</a:t>
            </a:r>
            <a:r>
              <a:rPr lang="en-US" b="1" dirty="0">
                <a:latin typeface="Times New Roman" panose="02020603050405020304" pitchFamily="18" charset="0"/>
              </a:rPr>
              <a:t> </a:t>
            </a:r>
            <a:r>
              <a:rPr lang="en-US" b="1" dirty="0" err="1">
                <a:latin typeface="Times New Roman" panose="02020603050405020304" pitchFamily="18" charset="0"/>
              </a:rPr>
              <a:t>kinh</a:t>
            </a:r>
            <a:r>
              <a:rPr lang="en-US" b="1" dirty="0">
                <a:latin typeface="Times New Roman" panose="02020603050405020304" pitchFamily="18" charset="0"/>
              </a:rPr>
              <a:t> </a:t>
            </a:r>
            <a:r>
              <a:rPr lang="en-US" b="1" dirty="0" err="1">
                <a:latin typeface="Times New Roman" panose="02020603050405020304" pitchFamily="18" charset="0"/>
              </a:rPr>
              <a:t>nghiệm</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C2F1655E-CEA5-BD40-34B3-401B600015BD}"/>
              </a:ext>
            </a:extLst>
          </p:cNvPr>
          <p:cNvSpPr>
            <a:spLocks noGrp="1"/>
          </p:cNvSpPr>
          <p:nvPr>
            <p:ph type="sldNum" sz="quarter" idx="12"/>
          </p:nvPr>
        </p:nvSpPr>
        <p:spPr/>
        <p:txBody>
          <a:bodyPr/>
          <a:lstStyle/>
          <a:p>
            <a:fld id="{6C56B8FA-5C00-4693-8C7F-3776FF570F07}" type="slidenum">
              <a:rPr lang="en-US" smtClean="0"/>
              <a:t>16</a:t>
            </a:fld>
            <a:endParaRPr lang="en-US"/>
          </a:p>
        </p:txBody>
      </p:sp>
      <p:sp>
        <p:nvSpPr>
          <p:cNvPr id="9" name="Pentagon 8">
            <a:extLst>
              <a:ext uri="{FF2B5EF4-FFF2-40B4-BE49-F238E27FC236}">
                <a16:creationId xmlns:a16="http://schemas.microsoft.com/office/drawing/2014/main" id="{B6459E37-25AE-3A2B-A432-B0CB2AD0B33E}"/>
              </a:ext>
            </a:extLst>
          </p:cNvPr>
          <p:cNvSpPr/>
          <p:nvPr/>
        </p:nvSpPr>
        <p:spPr>
          <a:xfrm>
            <a:off x="662474" y="2378672"/>
            <a:ext cx="858416" cy="767410"/>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rPr>
              <a:t>01</a:t>
            </a:r>
            <a:endParaRPr lang="en-US" b="1" dirty="0">
              <a:solidFill>
                <a:schemeClr val="tx1"/>
              </a:solidFill>
            </a:endParaRPr>
          </a:p>
        </p:txBody>
      </p:sp>
      <p:sp>
        <p:nvSpPr>
          <p:cNvPr id="11" name="TextBox 10">
            <a:extLst>
              <a:ext uri="{FF2B5EF4-FFF2-40B4-BE49-F238E27FC236}">
                <a16:creationId xmlns:a16="http://schemas.microsoft.com/office/drawing/2014/main" id="{77863AB9-ADE5-A976-99A9-B6D1BE3B9526}"/>
              </a:ext>
            </a:extLst>
          </p:cNvPr>
          <p:cNvSpPr txBox="1"/>
          <p:nvPr/>
        </p:nvSpPr>
        <p:spPr>
          <a:xfrm>
            <a:off x="1908111" y="2189270"/>
            <a:ext cx="8836090" cy="400110"/>
          </a:xfrm>
          <a:prstGeom prst="rect">
            <a:avLst/>
          </a:prstGeom>
          <a:noFill/>
        </p:spPr>
        <p:txBody>
          <a:bodyPr wrap="square">
            <a:spAutoFit/>
          </a:bodyPr>
          <a:lstStyle/>
          <a:p>
            <a:pPr>
              <a:buNone/>
            </a:pPr>
            <a:r>
              <a:rPr lang="en-US" sz="2000" b="1" dirty="0" err="1">
                <a:effectLst/>
                <a:latin typeface="Times New Roman" panose="02020603050405020304" pitchFamily="18" charset="0"/>
                <a:cs typeface="Times New Roman" panose="02020603050405020304" pitchFamily="18" charset="0"/>
              </a:rPr>
              <a:t>Nâng</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cao</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hiểu</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biết</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về</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thuật</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toán</a:t>
            </a:r>
            <a:endParaRPr lang="en-US" sz="2000" dirty="0">
              <a:effectLst/>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3BAB4C0C-5414-88C0-200D-AD3C86E6C6BB}"/>
              </a:ext>
            </a:extLst>
          </p:cNvPr>
          <p:cNvSpPr txBox="1"/>
          <p:nvPr/>
        </p:nvSpPr>
        <p:spPr>
          <a:xfrm>
            <a:off x="1727330" y="2523047"/>
            <a:ext cx="8836090" cy="646331"/>
          </a:xfrm>
          <a:prstGeom prst="rect">
            <a:avLst/>
          </a:prstGeom>
          <a:noFill/>
        </p:spPr>
        <p:txBody>
          <a:bodyPr wrap="square">
            <a:spAutoFit/>
          </a:bodyPr>
          <a:lstStyle/>
          <a:p>
            <a:pPr algn="just">
              <a:buNone/>
            </a:pPr>
            <a:r>
              <a:rPr lang="vi-VN" dirty="0">
                <a:solidFill>
                  <a:srgbClr val="000000"/>
                </a:solidFill>
                <a:effectLst/>
                <a:latin typeface="Times New Roman" panose="02020603050405020304" pitchFamily="18" charset="0"/>
                <a:cs typeface="Times New Roman" panose="02020603050405020304" pitchFamily="18" charset="0"/>
              </a:rPr>
              <a:t>Dự án giúp nhóm hiểu rõ hơn cách hoạt động của các thuật toán SJF và Priority, cũng như cách hệ điều hành sử dụng chúng để quản lý tài nguyên CPU.</a:t>
            </a:r>
            <a:endParaRPr lang="vi-VN" dirty="0">
              <a:effectLst/>
              <a:latin typeface="Times New Roman" panose="02020603050405020304" pitchFamily="18" charset="0"/>
              <a:cs typeface="Times New Roman" panose="02020603050405020304" pitchFamily="18" charset="0"/>
            </a:endParaRPr>
          </a:p>
        </p:txBody>
      </p:sp>
      <p:sp>
        <p:nvSpPr>
          <p:cNvPr id="14" name="Flowchart: Alternate Process 13">
            <a:extLst>
              <a:ext uri="{FF2B5EF4-FFF2-40B4-BE49-F238E27FC236}">
                <a16:creationId xmlns:a16="http://schemas.microsoft.com/office/drawing/2014/main" id="{5ACFA830-A177-FD5C-9545-27E74AEE8B2D}"/>
              </a:ext>
            </a:extLst>
          </p:cNvPr>
          <p:cNvSpPr/>
          <p:nvPr/>
        </p:nvSpPr>
        <p:spPr>
          <a:xfrm>
            <a:off x="1441581" y="3521825"/>
            <a:ext cx="9559211" cy="1140544"/>
          </a:xfrm>
          <a:prstGeom prst="flowChartAlternateProcess">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Pentagon 14">
            <a:extLst>
              <a:ext uri="{FF2B5EF4-FFF2-40B4-BE49-F238E27FC236}">
                <a16:creationId xmlns:a16="http://schemas.microsoft.com/office/drawing/2014/main" id="{2C3913A8-7994-87B8-5E4B-E227CA005EF6}"/>
              </a:ext>
            </a:extLst>
          </p:cNvPr>
          <p:cNvSpPr/>
          <p:nvPr/>
        </p:nvSpPr>
        <p:spPr>
          <a:xfrm>
            <a:off x="1012373" y="3717855"/>
            <a:ext cx="858416" cy="767410"/>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rPr>
              <a:t>02</a:t>
            </a:r>
            <a:endParaRPr lang="en-US" b="1" dirty="0">
              <a:solidFill>
                <a:schemeClr val="tx1"/>
              </a:solidFill>
            </a:endParaRPr>
          </a:p>
        </p:txBody>
      </p:sp>
      <p:sp>
        <p:nvSpPr>
          <p:cNvPr id="17" name="TextBox 16">
            <a:extLst>
              <a:ext uri="{FF2B5EF4-FFF2-40B4-BE49-F238E27FC236}">
                <a16:creationId xmlns:a16="http://schemas.microsoft.com/office/drawing/2014/main" id="{B90CCC9A-4AAE-B560-603A-5EA217B76DE1}"/>
              </a:ext>
            </a:extLst>
          </p:cNvPr>
          <p:cNvSpPr txBox="1"/>
          <p:nvPr/>
        </p:nvSpPr>
        <p:spPr>
          <a:xfrm>
            <a:off x="2087725" y="3593485"/>
            <a:ext cx="6097554" cy="400110"/>
          </a:xfrm>
          <a:prstGeom prst="rect">
            <a:avLst/>
          </a:prstGeom>
          <a:noFill/>
        </p:spPr>
        <p:txBody>
          <a:bodyPr wrap="square">
            <a:spAutoFit/>
          </a:bodyPr>
          <a:lstStyle/>
          <a:p>
            <a:pPr>
              <a:buNone/>
            </a:pPr>
            <a:r>
              <a:rPr lang="en-US" sz="2000" b="1" dirty="0" err="1">
                <a:effectLst/>
                <a:latin typeface="Times New Roman" panose="02020603050405020304" pitchFamily="18" charset="0"/>
                <a:cs typeface="Times New Roman" panose="02020603050405020304" pitchFamily="18" charset="0"/>
              </a:rPr>
              <a:t>Tiêu</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chuẩn</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hóa</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mã</a:t>
            </a:r>
            <a:endParaRPr lang="en-US" sz="2000" dirty="0">
              <a:effectLst/>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05C4CBD7-EB9C-EA8F-DE75-7C3E35028FFE}"/>
              </a:ext>
            </a:extLst>
          </p:cNvPr>
          <p:cNvSpPr txBox="1"/>
          <p:nvPr/>
        </p:nvSpPr>
        <p:spPr>
          <a:xfrm>
            <a:off x="1929882" y="3927924"/>
            <a:ext cx="9011817" cy="646331"/>
          </a:xfrm>
          <a:prstGeom prst="rect">
            <a:avLst/>
          </a:prstGeom>
          <a:noFill/>
        </p:spPr>
        <p:txBody>
          <a:bodyPr wrap="square">
            <a:spAutoFit/>
          </a:bodyPr>
          <a:lstStyle/>
          <a:p>
            <a:pPr algn="just">
              <a:buNone/>
            </a:pPr>
            <a:r>
              <a:rPr lang="vi-VN" dirty="0">
                <a:solidFill>
                  <a:srgbClr val="000000"/>
                </a:solidFill>
                <a:effectLst/>
                <a:latin typeface="Times New Roman" panose="02020603050405020304" pitchFamily="18" charset="0"/>
                <a:cs typeface="Times New Roman" panose="02020603050405020304" pitchFamily="18" charset="0"/>
              </a:rPr>
              <a:t>Việc sử dụng lớp `Process` và chia chương trình thành các module đã giúp tiêu chuẩn hóa và tối ưu hóa mã nguồn, cải thiện khả năng bảo trì và mở rộng của ứng dụng.</a:t>
            </a:r>
            <a:endParaRPr lang="vi-VN" dirty="0">
              <a:effectLst/>
              <a:latin typeface="Times New Roman" panose="02020603050405020304" pitchFamily="18" charset="0"/>
              <a:cs typeface="Times New Roman" panose="02020603050405020304" pitchFamily="18" charset="0"/>
            </a:endParaRPr>
          </a:p>
        </p:txBody>
      </p:sp>
      <p:sp>
        <p:nvSpPr>
          <p:cNvPr id="20" name="Flowchart: Alternate Process 19">
            <a:extLst>
              <a:ext uri="{FF2B5EF4-FFF2-40B4-BE49-F238E27FC236}">
                <a16:creationId xmlns:a16="http://schemas.microsoft.com/office/drawing/2014/main" id="{70544A09-0215-4997-A1F3-14778B578394}"/>
              </a:ext>
            </a:extLst>
          </p:cNvPr>
          <p:cNvSpPr/>
          <p:nvPr/>
        </p:nvSpPr>
        <p:spPr>
          <a:xfrm>
            <a:off x="1950098" y="4819704"/>
            <a:ext cx="9559211" cy="1140545"/>
          </a:xfrm>
          <a:prstGeom prst="flowChartAlternateProcess">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Pentagon 20">
            <a:extLst>
              <a:ext uri="{FF2B5EF4-FFF2-40B4-BE49-F238E27FC236}">
                <a16:creationId xmlns:a16="http://schemas.microsoft.com/office/drawing/2014/main" id="{5453D483-AC19-1F80-078E-4236F1643488}"/>
              </a:ext>
            </a:extLst>
          </p:cNvPr>
          <p:cNvSpPr/>
          <p:nvPr/>
        </p:nvSpPr>
        <p:spPr>
          <a:xfrm>
            <a:off x="1520890" y="5040467"/>
            <a:ext cx="858416" cy="732025"/>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rPr>
              <a:t>03</a:t>
            </a:r>
            <a:endParaRPr lang="en-US" b="1" dirty="0">
              <a:solidFill>
                <a:schemeClr val="tx1"/>
              </a:solidFill>
            </a:endParaRPr>
          </a:p>
        </p:txBody>
      </p:sp>
      <p:sp>
        <p:nvSpPr>
          <p:cNvPr id="23" name="TextBox 22">
            <a:extLst>
              <a:ext uri="{FF2B5EF4-FFF2-40B4-BE49-F238E27FC236}">
                <a16:creationId xmlns:a16="http://schemas.microsoft.com/office/drawing/2014/main" id="{06188308-E540-5866-0CA4-81E5319E8DFA}"/>
              </a:ext>
            </a:extLst>
          </p:cNvPr>
          <p:cNvSpPr txBox="1"/>
          <p:nvPr/>
        </p:nvSpPr>
        <p:spPr>
          <a:xfrm>
            <a:off x="2619570" y="4868341"/>
            <a:ext cx="6097554" cy="400110"/>
          </a:xfrm>
          <a:prstGeom prst="rect">
            <a:avLst/>
          </a:prstGeom>
          <a:noFill/>
        </p:spPr>
        <p:txBody>
          <a:bodyPr wrap="square">
            <a:spAutoFit/>
          </a:bodyPr>
          <a:lstStyle/>
          <a:p>
            <a:pPr>
              <a:buNone/>
            </a:pPr>
            <a:r>
              <a:rPr lang="en-US" sz="2000" b="1" dirty="0">
                <a:effectLst/>
                <a:latin typeface="Times New Roman" panose="02020603050405020304" pitchFamily="18" charset="0"/>
                <a:cs typeface="Times New Roman" panose="02020603050405020304" pitchFamily="18" charset="0"/>
              </a:rPr>
              <a:t>Giao </a:t>
            </a:r>
            <a:r>
              <a:rPr lang="en-US" sz="2000" b="1" dirty="0" err="1">
                <a:effectLst/>
                <a:latin typeface="Times New Roman" panose="02020603050405020304" pitchFamily="18" charset="0"/>
                <a:cs typeface="Times New Roman" panose="02020603050405020304" pitchFamily="18" charset="0"/>
              </a:rPr>
              <a:t>tiếp</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cộng</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tác</a:t>
            </a:r>
            <a:endParaRPr lang="en-US" sz="2000" dirty="0">
              <a:effectLst/>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D156E7AD-3798-574D-AE2D-AA01C399298B}"/>
              </a:ext>
            </a:extLst>
          </p:cNvPr>
          <p:cNvSpPr txBox="1"/>
          <p:nvPr/>
        </p:nvSpPr>
        <p:spPr>
          <a:xfrm>
            <a:off x="2446176" y="5188805"/>
            <a:ext cx="8996263" cy="646331"/>
          </a:xfrm>
          <a:prstGeom prst="rect">
            <a:avLst/>
          </a:prstGeom>
          <a:noFill/>
        </p:spPr>
        <p:txBody>
          <a:bodyPr wrap="square">
            <a:spAutoFit/>
          </a:bodyPr>
          <a:lstStyle/>
          <a:p>
            <a:pPr algn="just">
              <a:buNone/>
            </a:pPr>
            <a:r>
              <a:rPr lang="en-US" dirty="0" err="1">
                <a:solidFill>
                  <a:srgbClr val="000000"/>
                </a:solidFill>
                <a:effectLst/>
                <a:latin typeface="Times New Roman" panose="02020603050405020304" pitchFamily="18" charset="0"/>
                <a:cs typeface="Times New Roman" panose="02020603050405020304" pitchFamily="18" charset="0"/>
              </a:rPr>
              <a:t>Nhóm</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đã</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cải</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thiện</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kỹ</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năng</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giao</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tiếp</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thông</a:t>
            </a:r>
            <a:r>
              <a:rPr lang="en-US" dirty="0">
                <a:solidFill>
                  <a:srgbClr val="000000"/>
                </a:solidFill>
                <a:effectLst/>
                <a:latin typeface="Times New Roman" panose="02020603050405020304" pitchFamily="18" charset="0"/>
                <a:cs typeface="Times New Roman" panose="02020603050405020304" pitchFamily="18" charset="0"/>
              </a:rPr>
              <a:t> qua </a:t>
            </a:r>
            <a:r>
              <a:rPr lang="en-US" dirty="0" err="1">
                <a:solidFill>
                  <a:srgbClr val="000000"/>
                </a:solidFill>
                <a:effectLst/>
                <a:latin typeface="Times New Roman" panose="02020603050405020304" pitchFamily="18" charset="0"/>
                <a:cs typeface="Times New Roman" panose="02020603050405020304" pitchFamily="18" charset="0"/>
              </a:rPr>
              <a:t>việc</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thảo</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luận</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giải</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quyết</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hiểu</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nhầm</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về</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phạm</a:t>
            </a:r>
            <a:r>
              <a:rPr lang="en-US" dirty="0">
                <a:solidFill>
                  <a:srgbClr val="000000"/>
                </a:solidFill>
                <a:effectLst/>
                <a:latin typeface="Times New Roman" panose="02020603050405020304" pitchFamily="18" charset="0"/>
                <a:cs typeface="Times New Roman" panose="02020603050405020304" pitchFamily="18" charset="0"/>
              </a:rPr>
              <a:t> vi </a:t>
            </a:r>
            <a:r>
              <a:rPr lang="en-US" dirty="0" err="1">
                <a:solidFill>
                  <a:srgbClr val="000000"/>
                </a:solidFill>
                <a:effectLst/>
                <a:latin typeface="Times New Roman" panose="02020603050405020304" pitchFamily="18" charset="0"/>
                <a:cs typeface="Times New Roman" panose="02020603050405020304" pitchFamily="18" charset="0"/>
              </a:rPr>
              <a:t>công</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việc</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và</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cùng</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thống</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nhất</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tiến</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độ</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thực</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hiện</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dự</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án</a:t>
            </a:r>
            <a:r>
              <a:rPr lang="en-US" dirty="0">
                <a:solidFill>
                  <a:srgbClr val="000000"/>
                </a:solidFill>
                <a:effectLst/>
                <a:latin typeface="Times New Roman" panose="02020603050405020304" pitchFamily="18" charset="0"/>
                <a:cs typeface="Times New Roman" panose="02020603050405020304" pitchFamily="18" charset="0"/>
              </a:rPr>
              <a:t>.</a:t>
            </a:r>
            <a:endParaRPr lang="en-US"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02842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C728B9-2466-581E-13F5-0D1F47C3849F}"/>
              </a:ext>
            </a:extLst>
          </p:cNvPr>
          <p:cNvSpPr>
            <a:spLocks noGrp="1"/>
          </p:cNvSpPr>
          <p:nvPr>
            <p:ph type="title"/>
          </p:nvPr>
        </p:nvSpPr>
        <p:spPr/>
        <p:txBody>
          <a:bodyPr>
            <a:normAutofit/>
          </a:bodyPr>
          <a:lstStyle/>
          <a:p>
            <a:r>
              <a:rPr lang="en-US" b="1" dirty="0" err="1">
                <a:latin typeface="Times New Roman" panose="02020603050405020304" pitchFamily="18" charset="0"/>
              </a:rPr>
              <a:t>Hạn</a:t>
            </a:r>
            <a:r>
              <a:rPr lang="en-US" b="1" dirty="0">
                <a:latin typeface="Times New Roman" panose="02020603050405020304" pitchFamily="18" charset="0"/>
              </a:rPr>
              <a:t> </a:t>
            </a:r>
            <a:r>
              <a:rPr lang="en-US" b="1" dirty="0" err="1">
                <a:latin typeface="Times New Roman" panose="02020603050405020304" pitchFamily="18" charset="0"/>
              </a:rPr>
              <a:t>chế</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0064E301-7F53-257D-E3F9-4323CC61DD1D}"/>
              </a:ext>
            </a:extLst>
          </p:cNvPr>
          <p:cNvSpPr>
            <a:spLocks noGrp="1"/>
          </p:cNvSpPr>
          <p:nvPr>
            <p:ph type="sldNum" sz="quarter" idx="12"/>
          </p:nvPr>
        </p:nvSpPr>
        <p:spPr/>
        <p:txBody>
          <a:bodyPr/>
          <a:lstStyle/>
          <a:p>
            <a:fld id="{6C56B8FA-5C00-4693-8C7F-3776FF570F07}" type="slidenum">
              <a:rPr lang="en-US" smtClean="0"/>
              <a:t>17</a:t>
            </a:fld>
            <a:endParaRPr lang="en-US"/>
          </a:p>
        </p:txBody>
      </p:sp>
      <p:sp>
        <p:nvSpPr>
          <p:cNvPr id="8" name="TextBox 7">
            <a:extLst>
              <a:ext uri="{FF2B5EF4-FFF2-40B4-BE49-F238E27FC236}">
                <a16:creationId xmlns:a16="http://schemas.microsoft.com/office/drawing/2014/main" id="{40B593A4-423D-0529-6F80-A35F3F6CA1E9}"/>
              </a:ext>
            </a:extLst>
          </p:cNvPr>
          <p:cNvSpPr txBox="1"/>
          <p:nvPr/>
        </p:nvSpPr>
        <p:spPr>
          <a:xfrm>
            <a:off x="929169" y="2204945"/>
            <a:ext cx="9187543" cy="461665"/>
          </a:xfrm>
          <a:prstGeom prst="rect">
            <a:avLst/>
          </a:prstGeom>
          <a:noFill/>
        </p:spPr>
        <p:txBody>
          <a:bodyPr wrap="square">
            <a:spAutoFit/>
          </a:bodyPr>
          <a:lstStyle/>
          <a:p>
            <a:pPr>
              <a:buNone/>
            </a:pPr>
            <a:r>
              <a:rPr lang="en-US" sz="2400" b="1" dirty="0" err="1">
                <a:effectLst/>
                <a:latin typeface="Times New Roman" panose="02020603050405020304" pitchFamily="18" charset="0"/>
                <a:cs typeface="Times New Roman" panose="02020603050405020304" pitchFamily="18" charset="0"/>
              </a:rPr>
              <a:t>Thiếu</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sự</a:t>
            </a:r>
            <a:r>
              <a:rPr lang="en-US" sz="2400" b="1" dirty="0">
                <a:effectLst/>
                <a:latin typeface="Times New Roman" panose="02020603050405020304" pitchFamily="18" charset="0"/>
                <a:cs typeface="Times New Roman" panose="02020603050405020304" pitchFamily="18" charset="0"/>
              </a:rPr>
              <a:t> so </a:t>
            </a:r>
            <a:r>
              <a:rPr lang="en-US" sz="2400" b="1" dirty="0" err="1">
                <a:effectLst/>
                <a:latin typeface="Times New Roman" panose="02020603050405020304" pitchFamily="18" charset="0"/>
                <a:cs typeface="Times New Roman" panose="02020603050405020304" pitchFamily="18" charset="0"/>
              </a:rPr>
              <a:t>sánh</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trực</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tiếp</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giữa</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các</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thuật</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toán</a:t>
            </a:r>
            <a:endParaRPr lang="en-US" sz="2400" dirty="0">
              <a:effectLst/>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96FC0D71-8399-4A3C-C9AB-595EB316382F}"/>
              </a:ext>
            </a:extLst>
          </p:cNvPr>
          <p:cNvSpPr txBox="1"/>
          <p:nvPr/>
        </p:nvSpPr>
        <p:spPr>
          <a:xfrm>
            <a:off x="929170" y="2715409"/>
            <a:ext cx="8455868" cy="646331"/>
          </a:xfrm>
          <a:prstGeom prst="rect">
            <a:avLst/>
          </a:prstGeom>
          <a:noFill/>
        </p:spPr>
        <p:txBody>
          <a:bodyPr wrap="square">
            <a:spAutoFit/>
          </a:bodyPr>
          <a:lstStyle/>
          <a:p>
            <a:pPr algn="just">
              <a:buNone/>
            </a:pPr>
            <a:r>
              <a:rPr lang="vi-VN" dirty="0">
                <a:solidFill>
                  <a:srgbClr val="000000"/>
                </a:solidFill>
                <a:effectLst/>
                <a:latin typeface="Times New Roman" panose="02020603050405020304" pitchFamily="18" charset="0"/>
                <a:cs typeface="Times New Roman" panose="02020603050405020304" pitchFamily="18" charset="0"/>
              </a:rPr>
              <a:t>Ứng dụng hiện tại chưa cung cấp tính năng để trực tiếp so sánh hiệu suất và ưu nhược điểm giữa thuật toán SJF và Priority, gây hạn chế trong việc phân tích chi tiết.</a:t>
            </a:r>
            <a:endParaRPr lang="vi-VN" dirty="0">
              <a:effectLst/>
              <a:latin typeface="Times New Roman" panose="02020603050405020304" pitchFamily="18" charset="0"/>
              <a:cs typeface="Times New Roman" panose="02020603050405020304" pitchFamily="18" charset="0"/>
            </a:endParaRPr>
          </a:p>
        </p:txBody>
      </p:sp>
      <p:cxnSp>
        <p:nvCxnSpPr>
          <p:cNvPr id="12" name="Straight Connector 11">
            <a:extLst>
              <a:ext uri="{FF2B5EF4-FFF2-40B4-BE49-F238E27FC236}">
                <a16:creationId xmlns:a16="http://schemas.microsoft.com/office/drawing/2014/main" id="{E50D4FD3-84EF-CE9A-09F0-B11EFE0ABE63}"/>
              </a:ext>
            </a:extLst>
          </p:cNvPr>
          <p:cNvCxnSpPr>
            <a:cxnSpLocks/>
          </p:cNvCxnSpPr>
          <p:nvPr/>
        </p:nvCxnSpPr>
        <p:spPr>
          <a:xfrm>
            <a:off x="1035695" y="3694923"/>
            <a:ext cx="9187543" cy="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F174B653-D49B-6EE9-B497-A62F8C2526FE}"/>
              </a:ext>
            </a:extLst>
          </p:cNvPr>
          <p:cNvSpPr txBox="1"/>
          <p:nvPr/>
        </p:nvSpPr>
        <p:spPr>
          <a:xfrm>
            <a:off x="996817" y="4105669"/>
            <a:ext cx="6097554" cy="461665"/>
          </a:xfrm>
          <a:prstGeom prst="rect">
            <a:avLst/>
          </a:prstGeom>
          <a:noFill/>
        </p:spPr>
        <p:txBody>
          <a:bodyPr wrap="square">
            <a:spAutoFit/>
          </a:bodyPr>
          <a:lstStyle/>
          <a:p>
            <a:pPr>
              <a:buNone/>
            </a:pPr>
            <a:r>
              <a:rPr lang="vi-VN" sz="2400" b="1" dirty="0">
                <a:effectLst/>
                <a:latin typeface="Times New Roman" panose="02020603050405020304" pitchFamily="18" charset="0"/>
                <a:cs typeface="Times New Roman" panose="02020603050405020304" pitchFamily="18" charset="0"/>
              </a:rPr>
              <a:t>Các tính năng giao diện người dùng nâng cao</a:t>
            </a:r>
            <a:endParaRPr lang="vi-VN" sz="2400" dirty="0">
              <a:effectLst/>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BFFD7632-A1EC-EEF3-C309-6B2594AB0289}"/>
              </a:ext>
            </a:extLst>
          </p:cNvPr>
          <p:cNvSpPr txBox="1"/>
          <p:nvPr/>
        </p:nvSpPr>
        <p:spPr>
          <a:xfrm>
            <a:off x="996816" y="4567334"/>
            <a:ext cx="8445759" cy="923330"/>
          </a:xfrm>
          <a:prstGeom prst="rect">
            <a:avLst/>
          </a:prstGeom>
          <a:noFill/>
        </p:spPr>
        <p:txBody>
          <a:bodyPr wrap="square">
            <a:spAutoFit/>
          </a:bodyPr>
          <a:lstStyle/>
          <a:p>
            <a:pPr algn="just">
              <a:buNone/>
            </a:pPr>
            <a:r>
              <a:rPr lang="vi-VN" dirty="0">
                <a:solidFill>
                  <a:srgbClr val="000000"/>
                </a:solidFill>
                <a:effectLst/>
                <a:latin typeface="Times New Roman" panose="02020603050405020304" pitchFamily="18" charset="0"/>
                <a:cs typeface="Times New Roman" panose="02020603050405020304" pitchFamily="18" charset="0"/>
              </a:rPr>
              <a:t>Giao diện người dùng của ứng dụng còn đơn giản, chưa tích hợp các tính năng như tùy chỉnh tham số thuật toán, hiển thị so sánh bằng biểu đồ nâng cao hoặc sửa đổi trực tiếp từ giao diện.</a:t>
            </a:r>
            <a:endParaRPr lang="vi-VN" dirty="0">
              <a:effectLst/>
              <a:latin typeface="Times New Roman" panose="02020603050405020304" pitchFamily="18" charset="0"/>
              <a:cs typeface="Times New Roman" panose="02020603050405020304" pitchFamily="18" charset="0"/>
            </a:endParaRPr>
          </a:p>
        </p:txBody>
      </p:sp>
      <p:cxnSp>
        <p:nvCxnSpPr>
          <p:cNvPr id="17" name="Straight Connector 16">
            <a:extLst>
              <a:ext uri="{FF2B5EF4-FFF2-40B4-BE49-F238E27FC236}">
                <a16:creationId xmlns:a16="http://schemas.microsoft.com/office/drawing/2014/main" id="{6661574D-39E1-066A-9B0D-2125F1ED202A}"/>
              </a:ext>
            </a:extLst>
          </p:cNvPr>
          <p:cNvCxnSpPr>
            <a:cxnSpLocks/>
          </p:cNvCxnSpPr>
          <p:nvPr/>
        </p:nvCxnSpPr>
        <p:spPr>
          <a:xfrm>
            <a:off x="1104119" y="5607634"/>
            <a:ext cx="10901266" cy="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4922265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39F20-131D-C72D-992E-777DBC6A680B}"/>
              </a:ext>
            </a:extLst>
          </p:cNvPr>
          <p:cNvSpPr>
            <a:spLocks noGrp="1"/>
          </p:cNvSpPr>
          <p:nvPr>
            <p:ph type="title"/>
          </p:nvPr>
        </p:nvSpPr>
        <p:spPr>
          <a:xfrm>
            <a:off x="1474237" y="1866122"/>
            <a:ext cx="9759820" cy="2500604"/>
          </a:xfrm>
        </p:spPr>
        <p:txBody>
          <a:bodyPr>
            <a:noAutofit/>
          </a:bodyPr>
          <a:lstStyle/>
          <a:p>
            <a:pPr algn="ctr"/>
            <a:r>
              <a:rPr lang="vi-VN" sz="6000" b="1" dirty="0">
                <a:latin typeface="Times New Roman" panose="02020603050405020304" pitchFamily="18" charset="0"/>
              </a:rPr>
              <a:t>06.</a:t>
            </a:r>
            <a:br>
              <a:rPr lang="vi-VN" sz="6000" b="1" dirty="0">
                <a:latin typeface="Times New Roman" panose="02020603050405020304" pitchFamily="18" charset="0"/>
              </a:rPr>
            </a:br>
            <a:r>
              <a:rPr lang="en-US" sz="6000" b="1" dirty="0" err="1">
                <a:latin typeface="Times New Roman" panose="02020603050405020304" pitchFamily="18" charset="0"/>
              </a:rPr>
              <a:t>Phần</a:t>
            </a:r>
            <a:r>
              <a:rPr lang="en-US" sz="6000" b="1" dirty="0">
                <a:latin typeface="Times New Roman" panose="02020603050405020304" pitchFamily="18" charset="0"/>
              </a:rPr>
              <a:t> </a:t>
            </a:r>
            <a:r>
              <a:rPr lang="en-US" sz="6000" b="1" dirty="0" err="1">
                <a:latin typeface="Times New Roman" panose="02020603050405020304" pitchFamily="18" charset="0"/>
              </a:rPr>
              <a:t>kết</a:t>
            </a:r>
            <a:r>
              <a:rPr lang="en-US" sz="6000" b="1" dirty="0">
                <a:latin typeface="Times New Roman" panose="02020603050405020304" pitchFamily="18" charset="0"/>
              </a:rPr>
              <a:t> </a:t>
            </a:r>
            <a:r>
              <a:rPr lang="en-US" sz="6000" b="1" dirty="0" err="1">
                <a:latin typeface="Times New Roman" panose="02020603050405020304" pitchFamily="18" charset="0"/>
              </a:rPr>
              <a:t>luận</a:t>
            </a:r>
            <a:endParaRPr lang="en-US" sz="6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D1CC1811-0F39-D0CE-1885-12EA8302820B}"/>
              </a:ext>
            </a:extLst>
          </p:cNvPr>
          <p:cNvSpPr>
            <a:spLocks noGrp="1"/>
          </p:cNvSpPr>
          <p:nvPr>
            <p:ph type="dt" sz="half" idx="10"/>
          </p:nvPr>
        </p:nvSpPr>
        <p:spPr/>
        <p:txBody>
          <a:bodyPr/>
          <a:lstStyle/>
          <a:p>
            <a:fld id="{F96A87E1-9421-4CB4-9C4B-92F8E5D00273}" type="datetime1">
              <a:rPr lang="en-US" smtClean="0"/>
              <a:t>4/14/2026</a:t>
            </a:fld>
            <a:endParaRPr lang="en-US"/>
          </a:p>
        </p:txBody>
      </p:sp>
      <p:sp>
        <p:nvSpPr>
          <p:cNvPr id="6" name="Slide Number Placeholder 5">
            <a:extLst>
              <a:ext uri="{FF2B5EF4-FFF2-40B4-BE49-F238E27FC236}">
                <a16:creationId xmlns:a16="http://schemas.microsoft.com/office/drawing/2014/main" id="{F468DF20-7200-DC62-0E48-5552E263A833}"/>
              </a:ext>
            </a:extLst>
          </p:cNvPr>
          <p:cNvSpPr>
            <a:spLocks noGrp="1"/>
          </p:cNvSpPr>
          <p:nvPr>
            <p:ph type="sldNum" sz="quarter" idx="12"/>
          </p:nvPr>
        </p:nvSpPr>
        <p:spPr/>
        <p:txBody>
          <a:bodyPr/>
          <a:lstStyle/>
          <a:p>
            <a:fld id="{6C56B8FA-5C00-4693-8C7F-3776FF570F07}" type="slidenum">
              <a:rPr lang="en-US" smtClean="0"/>
              <a:t>18</a:t>
            </a:fld>
            <a:endParaRPr lang="en-US"/>
          </a:p>
        </p:txBody>
      </p:sp>
    </p:spTree>
    <p:extLst>
      <p:ext uri="{BB962C8B-B14F-4D97-AF65-F5344CB8AC3E}">
        <p14:creationId xmlns:p14="http://schemas.microsoft.com/office/powerpoint/2010/main" val="11255822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A6450-E410-0636-9744-E9012F8C722E}"/>
              </a:ext>
            </a:extLst>
          </p:cNvPr>
          <p:cNvSpPr>
            <a:spLocks noGrp="1"/>
          </p:cNvSpPr>
          <p:nvPr>
            <p:ph type="title"/>
          </p:nvPr>
        </p:nvSpPr>
        <p:spPr>
          <a:xfrm>
            <a:off x="838200" y="1088268"/>
            <a:ext cx="10515600" cy="767410"/>
          </a:xfrm>
        </p:spPr>
        <p:txBody>
          <a:bodyPr>
            <a:normAutofit/>
          </a:bodyPr>
          <a:lstStyle/>
          <a:p>
            <a:r>
              <a:rPr lang="en-US" b="1" dirty="0" err="1">
                <a:latin typeface="Times New Roman" panose="02020603050405020304" pitchFamily="18" charset="0"/>
              </a:rPr>
              <a:t>Phần</a:t>
            </a:r>
            <a:r>
              <a:rPr lang="en-US" b="1" dirty="0">
                <a:latin typeface="Times New Roman" panose="02020603050405020304" pitchFamily="18" charset="0"/>
              </a:rPr>
              <a:t> </a:t>
            </a:r>
            <a:r>
              <a:rPr lang="en-US" b="1" dirty="0" err="1">
                <a:latin typeface="Times New Roman" panose="02020603050405020304" pitchFamily="18" charset="0"/>
              </a:rPr>
              <a:t>kết</a:t>
            </a:r>
            <a:r>
              <a:rPr lang="en-US" b="1" dirty="0">
                <a:latin typeface="Times New Roman" panose="02020603050405020304" pitchFamily="18" charset="0"/>
              </a:rPr>
              <a:t> </a:t>
            </a:r>
            <a:r>
              <a:rPr lang="en-US" b="1" dirty="0" err="1">
                <a:latin typeface="Times New Roman" panose="02020603050405020304" pitchFamily="18" charset="0"/>
              </a:rPr>
              <a:t>luận</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76116EED-950B-1E8F-2DEA-B015B93C8909}"/>
              </a:ext>
            </a:extLst>
          </p:cNvPr>
          <p:cNvSpPr>
            <a:spLocks noGrp="1"/>
          </p:cNvSpPr>
          <p:nvPr>
            <p:ph type="sldNum" sz="quarter" idx="12"/>
          </p:nvPr>
        </p:nvSpPr>
        <p:spPr/>
        <p:txBody>
          <a:bodyPr/>
          <a:lstStyle/>
          <a:p>
            <a:fld id="{6C56B8FA-5C00-4693-8C7F-3776FF570F07}" type="slidenum">
              <a:rPr lang="en-US" smtClean="0"/>
              <a:t>19</a:t>
            </a:fld>
            <a:endParaRPr lang="en-US"/>
          </a:p>
        </p:txBody>
      </p:sp>
      <p:pic>
        <p:nvPicPr>
          <p:cNvPr id="2050" name="Picture 2" descr="CPU Scheduling Algorithms. By: Archis Khuspe, Agnibha Sarkar… | by Archis  Khuspe | Medium">
            <a:extLst>
              <a:ext uri="{FF2B5EF4-FFF2-40B4-BE49-F238E27FC236}">
                <a16:creationId xmlns:a16="http://schemas.microsoft.com/office/drawing/2014/main" id="{5D4ACD26-B108-2D1A-9594-E0C69A69F8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53400" y="1814748"/>
            <a:ext cx="3335207" cy="3502729"/>
          </a:xfrm>
          <a:prstGeom prst="rect">
            <a:avLst/>
          </a:prstGeom>
          <a:noFill/>
          <a:extLst>
            <a:ext uri="{909E8E84-426E-40DD-AFC4-6F175D3DCCD1}">
              <a14:hiddenFill xmlns:a14="http://schemas.microsoft.com/office/drawing/2010/main">
                <a:solidFill>
                  <a:srgbClr val="FFFFFF"/>
                </a:solidFill>
              </a14:hiddenFill>
            </a:ext>
          </a:extLst>
        </p:spPr>
      </p:pic>
      <p:sp>
        <p:nvSpPr>
          <p:cNvPr id="7" name="Flowchart: Connector 6">
            <a:extLst>
              <a:ext uri="{FF2B5EF4-FFF2-40B4-BE49-F238E27FC236}">
                <a16:creationId xmlns:a16="http://schemas.microsoft.com/office/drawing/2014/main" id="{05F650D2-D16A-F9A1-16C5-A07BDD945DD6}"/>
              </a:ext>
            </a:extLst>
          </p:cNvPr>
          <p:cNvSpPr/>
          <p:nvPr/>
        </p:nvSpPr>
        <p:spPr>
          <a:xfrm>
            <a:off x="597159" y="1977105"/>
            <a:ext cx="793102" cy="767410"/>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1</a:t>
            </a:r>
          </a:p>
        </p:txBody>
      </p:sp>
      <p:sp>
        <p:nvSpPr>
          <p:cNvPr id="9" name="TextBox 8">
            <a:extLst>
              <a:ext uri="{FF2B5EF4-FFF2-40B4-BE49-F238E27FC236}">
                <a16:creationId xmlns:a16="http://schemas.microsoft.com/office/drawing/2014/main" id="{6F3DD5B6-ACAD-A6ED-4475-9453851CC4BB}"/>
              </a:ext>
            </a:extLst>
          </p:cNvPr>
          <p:cNvSpPr txBox="1"/>
          <p:nvPr/>
        </p:nvSpPr>
        <p:spPr>
          <a:xfrm>
            <a:off x="1390261" y="1938534"/>
            <a:ext cx="6097554" cy="461665"/>
          </a:xfrm>
          <a:prstGeom prst="rect">
            <a:avLst/>
          </a:prstGeom>
          <a:noFill/>
        </p:spPr>
        <p:txBody>
          <a:bodyPr wrap="square">
            <a:spAutoFit/>
          </a:bodyPr>
          <a:lstStyle/>
          <a:p>
            <a:pPr>
              <a:buNone/>
            </a:pPr>
            <a:r>
              <a:rPr lang="vi-VN" sz="2000" b="1" dirty="0">
                <a:effectLst/>
                <a:latin typeface="Times New Roman" panose="02020603050405020304" pitchFamily="18" charset="0"/>
                <a:cs typeface="Times New Roman" panose="02020603050405020304" pitchFamily="18" charset="0"/>
              </a:rPr>
              <a:t>Tóm tắt sự thành công của </a:t>
            </a:r>
            <a:r>
              <a:rPr lang="vi-VN" sz="2400" b="1" dirty="0">
                <a:effectLst/>
                <a:latin typeface="Times New Roman" panose="02020603050405020304" pitchFamily="18" charset="0"/>
                <a:cs typeface="Times New Roman" panose="02020603050405020304" pitchFamily="18" charset="0"/>
              </a:rPr>
              <a:t>chương</a:t>
            </a:r>
            <a:r>
              <a:rPr lang="vi-VN" sz="2000" b="1" dirty="0">
                <a:effectLst/>
                <a:latin typeface="Times New Roman" panose="02020603050405020304" pitchFamily="18" charset="0"/>
                <a:cs typeface="Times New Roman" panose="02020603050405020304" pitchFamily="18" charset="0"/>
              </a:rPr>
              <a:t> trình</a:t>
            </a:r>
            <a:endParaRPr lang="vi-VN" sz="2000" dirty="0">
              <a:effectLst/>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9E23D37E-FF63-9AEF-FB4C-E4CA5D748A5C}"/>
              </a:ext>
            </a:extLst>
          </p:cNvPr>
          <p:cNvSpPr txBox="1"/>
          <p:nvPr/>
        </p:nvSpPr>
        <p:spPr>
          <a:xfrm>
            <a:off x="1447023" y="2307866"/>
            <a:ext cx="6577304" cy="830997"/>
          </a:xfrm>
          <a:prstGeom prst="rect">
            <a:avLst/>
          </a:prstGeom>
          <a:noFill/>
        </p:spPr>
        <p:txBody>
          <a:bodyPr wrap="square">
            <a:spAutoFit/>
          </a:bodyPr>
          <a:lstStyle/>
          <a:p>
            <a:pPr algn="just">
              <a:buNone/>
            </a:pPr>
            <a:r>
              <a:rPr lang="en-US" sz="1600" dirty="0" err="1">
                <a:solidFill>
                  <a:srgbClr val="000000"/>
                </a:solidFill>
                <a:effectLst/>
                <a:latin typeface="Times New Roman" panose="02020603050405020304" pitchFamily="18" charset="0"/>
                <a:cs typeface="Times New Roman" panose="02020603050405020304" pitchFamily="18" charset="0"/>
              </a:rPr>
              <a:t>Ứng</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dụng</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đã</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thực</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hiện</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thành</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công</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việc</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mô</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phỏng</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hai</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thuật</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toán</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lập</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lịch</a:t>
            </a:r>
            <a:r>
              <a:rPr lang="en-US" sz="1600" dirty="0">
                <a:solidFill>
                  <a:srgbClr val="000000"/>
                </a:solidFill>
                <a:effectLst/>
                <a:latin typeface="Times New Roman" panose="02020603050405020304" pitchFamily="18" charset="0"/>
                <a:cs typeface="Times New Roman" panose="02020603050405020304" pitchFamily="18" charset="0"/>
              </a:rPr>
              <a:t> CPU, </a:t>
            </a:r>
            <a:r>
              <a:rPr lang="en-US" sz="1600" dirty="0" err="1">
                <a:solidFill>
                  <a:srgbClr val="000000"/>
                </a:solidFill>
                <a:effectLst/>
                <a:latin typeface="Times New Roman" panose="02020603050405020304" pitchFamily="18" charset="0"/>
                <a:cs typeface="Times New Roman" panose="02020603050405020304" pitchFamily="18" charset="0"/>
              </a:rPr>
              <a:t>đáp</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ứng</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các</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mục</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tiêu</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đã</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đề</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ra</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và</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cung</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cấp</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dữ</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liệu</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kết</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quả</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rõ</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ràng</a:t>
            </a:r>
            <a:r>
              <a:rPr lang="en-US" sz="1600" dirty="0">
                <a:solidFill>
                  <a:srgbClr val="000000"/>
                </a:solidFill>
                <a:effectLst/>
                <a:latin typeface="Times New Roman" panose="02020603050405020304" pitchFamily="18" charset="0"/>
                <a:cs typeface="Times New Roman" panose="02020603050405020304" pitchFamily="18" charset="0"/>
              </a:rPr>
              <a:t> qua </a:t>
            </a:r>
            <a:r>
              <a:rPr lang="en-US" sz="1600" dirty="0" err="1">
                <a:solidFill>
                  <a:srgbClr val="000000"/>
                </a:solidFill>
                <a:effectLst/>
                <a:latin typeface="Times New Roman" panose="02020603050405020304" pitchFamily="18" charset="0"/>
                <a:cs typeface="Times New Roman" panose="02020603050405020304" pitchFamily="18" charset="0"/>
              </a:rPr>
              <a:t>biểu</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đồ</a:t>
            </a:r>
            <a:r>
              <a:rPr lang="en-US" sz="1600" dirty="0">
                <a:solidFill>
                  <a:srgbClr val="000000"/>
                </a:solidFill>
                <a:effectLst/>
                <a:latin typeface="Times New Roman" panose="02020603050405020304" pitchFamily="18" charset="0"/>
                <a:cs typeface="Times New Roman" panose="02020603050405020304" pitchFamily="18" charset="0"/>
              </a:rPr>
              <a:t> Gantt </a:t>
            </a:r>
            <a:r>
              <a:rPr lang="en-US" sz="1600" dirty="0" err="1">
                <a:solidFill>
                  <a:srgbClr val="000000"/>
                </a:solidFill>
                <a:effectLst/>
                <a:latin typeface="Times New Roman" panose="02020603050405020304" pitchFamily="18" charset="0"/>
                <a:cs typeface="Times New Roman" panose="02020603050405020304" pitchFamily="18" charset="0"/>
              </a:rPr>
              <a:t>trực</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quan</a:t>
            </a:r>
            <a:r>
              <a:rPr lang="en-US" sz="1600" dirty="0">
                <a:solidFill>
                  <a:srgbClr val="000000"/>
                </a:solidFill>
                <a:effectLst/>
                <a:latin typeface="Times New Roman" panose="02020603050405020304" pitchFamily="18" charset="0"/>
                <a:cs typeface="Times New Roman" panose="02020603050405020304" pitchFamily="18" charset="0"/>
              </a:rPr>
              <a:t>.</a:t>
            </a:r>
            <a:endParaRPr lang="en-US" sz="1600" dirty="0">
              <a:effectLst/>
              <a:latin typeface="Times New Roman" panose="02020603050405020304" pitchFamily="18" charset="0"/>
              <a:cs typeface="Times New Roman" panose="02020603050405020304" pitchFamily="18" charset="0"/>
            </a:endParaRPr>
          </a:p>
        </p:txBody>
      </p:sp>
      <p:sp>
        <p:nvSpPr>
          <p:cNvPr id="14" name="Flowchart: Connector 13">
            <a:extLst>
              <a:ext uri="{FF2B5EF4-FFF2-40B4-BE49-F238E27FC236}">
                <a16:creationId xmlns:a16="http://schemas.microsoft.com/office/drawing/2014/main" id="{55C0370A-E77D-825E-958C-438D6A6641DA}"/>
              </a:ext>
            </a:extLst>
          </p:cNvPr>
          <p:cNvSpPr/>
          <p:nvPr/>
        </p:nvSpPr>
        <p:spPr>
          <a:xfrm>
            <a:off x="597159" y="3414399"/>
            <a:ext cx="793102" cy="767410"/>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2</a:t>
            </a:r>
          </a:p>
        </p:txBody>
      </p:sp>
      <p:sp>
        <p:nvSpPr>
          <p:cNvPr id="15" name="Flowchart: Connector 14">
            <a:extLst>
              <a:ext uri="{FF2B5EF4-FFF2-40B4-BE49-F238E27FC236}">
                <a16:creationId xmlns:a16="http://schemas.microsoft.com/office/drawing/2014/main" id="{6869D01D-0906-5383-3499-B2B43FBF5EDE}"/>
              </a:ext>
            </a:extLst>
          </p:cNvPr>
          <p:cNvSpPr/>
          <p:nvPr/>
        </p:nvSpPr>
        <p:spPr>
          <a:xfrm>
            <a:off x="597159" y="4722394"/>
            <a:ext cx="793102" cy="767410"/>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3</a:t>
            </a:r>
          </a:p>
        </p:txBody>
      </p:sp>
      <p:sp>
        <p:nvSpPr>
          <p:cNvPr id="17" name="TextBox 16">
            <a:extLst>
              <a:ext uri="{FF2B5EF4-FFF2-40B4-BE49-F238E27FC236}">
                <a16:creationId xmlns:a16="http://schemas.microsoft.com/office/drawing/2014/main" id="{D54ED15E-7A4C-A85B-4773-8720BD8F57C5}"/>
              </a:ext>
            </a:extLst>
          </p:cNvPr>
          <p:cNvSpPr txBox="1"/>
          <p:nvPr/>
        </p:nvSpPr>
        <p:spPr>
          <a:xfrm>
            <a:off x="1390261" y="3287171"/>
            <a:ext cx="6097554" cy="400110"/>
          </a:xfrm>
          <a:prstGeom prst="rect">
            <a:avLst/>
          </a:prstGeom>
          <a:noFill/>
        </p:spPr>
        <p:txBody>
          <a:bodyPr wrap="square">
            <a:spAutoFit/>
          </a:bodyPr>
          <a:lstStyle/>
          <a:p>
            <a:pPr>
              <a:buNone/>
            </a:pPr>
            <a:r>
              <a:rPr lang="en-US" sz="2000" b="1" dirty="0">
                <a:effectLst/>
                <a:latin typeface="Times New Roman" panose="02020603050405020304" pitchFamily="18" charset="0"/>
                <a:cs typeface="Times New Roman" panose="02020603050405020304" pitchFamily="18" charset="0"/>
              </a:rPr>
              <a:t>Minh </a:t>
            </a:r>
            <a:r>
              <a:rPr lang="en-US" sz="2000" b="1" dirty="0" err="1">
                <a:effectLst/>
                <a:latin typeface="Times New Roman" panose="02020603050405020304" pitchFamily="18" charset="0"/>
                <a:cs typeface="Times New Roman" panose="02020603050405020304" pitchFamily="18" charset="0"/>
              </a:rPr>
              <a:t>họa</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trực</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quan</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bằng</a:t>
            </a:r>
            <a:r>
              <a:rPr lang="en-US" sz="2000" b="1" dirty="0">
                <a:effectLst/>
                <a:latin typeface="Times New Roman" panose="02020603050405020304" pitchFamily="18" charset="0"/>
                <a:cs typeface="Times New Roman" panose="02020603050405020304" pitchFamily="18" charset="0"/>
              </a:rPr>
              <a:t> Gantt Chart</a:t>
            </a:r>
            <a:endParaRPr lang="en-US" sz="2000" dirty="0">
              <a:effectLst/>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12DEC1BE-334C-F3A0-E701-F237DEA1DB3E}"/>
              </a:ext>
            </a:extLst>
          </p:cNvPr>
          <p:cNvSpPr txBox="1"/>
          <p:nvPr/>
        </p:nvSpPr>
        <p:spPr>
          <a:xfrm>
            <a:off x="1447022" y="3650923"/>
            <a:ext cx="6511989" cy="830997"/>
          </a:xfrm>
          <a:prstGeom prst="rect">
            <a:avLst/>
          </a:prstGeom>
          <a:noFill/>
        </p:spPr>
        <p:txBody>
          <a:bodyPr wrap="square">
            <a:spAutoFit/>
          </a:bodyPr>
          <a:lstStyle/>
          <a:p>
            <a:pPr algn="just">
              <a:buNone/>
            </a:pPr>
            <a:r>
              <a:rPr lang="vi-VN" sz="1600" dirty="0">
                <a:solidFill>
                  <a:srgbClr val="000000"/>
                </a:solidFill>
                <a:effectLst/>
                <a:latin typeface="Times New Roman" panose="02020603050405020304" pitchFamily="18" charset="0"/>
                <a:cs typeface="Times New Roman" panose="02020603050405020304" pitchFamily="18" charset="0"/>
              </a:rPr>
              <a:t>Biểu đồ Gantt được xây dựng không chỉ giúp người dùng hiểu rõ thứ tự xử lý tiến trình mà còn minh họa toàn bộ chuỗi hoạt động của thuật toán một cách sinh động và trực quan.</a:t>
            </a:r>
            <a:endParaRPr lang="vi-VN" sz="1600" dirty="0">
              <a:effectLst/>
              <a:latin typeface="Times New Roman" panose="02020603050405020304" pitchFamily="18" charset="0"/>
              <a:cs typeface="Times New Roman" panose="02020603050405020304" pitchFamily="18" charset="0"/>
            </a:endParaRPr>
          </a:p>
        </p:txBody>
      </p:sp>
      <p:sp>
        <p:nvSpPr>
          <p:cNvPr id="21" name="TextBox 20">
            <a:extLst>
              <a:ext uri="{FF2B5EF4-FFF2-40B4-BE49-F238E27FC236}">
                <a16:creationId xmlns:a16="http://schemas.microsoft.com/office/drawing/2014/main" id="{280B009A-A23A-855A-154B-5D8341D88446}"/>
              </a:ext>
            </a:extLst>
          </p:cNvPr>
          <p:cNvSpPr txBox="1"/>
          <p:nvPr/>
        </p:nvSpPr>
        <p:spPr>
          <a:xfrm>
            <a:off x="1447021" y="4661006"/>
            <a:ext cx="5271019" cy="400110"/>
          </a:xfrm>
          <a:prstGeom prst="rect">
            <a:avLst/>
          </a:prstGeom>
          <a:noFill/>
        </p:spPr>
        <p:txBody>
          <a:bodyPr wrap="square">
            <a:spAutoFit/>
          </a:bodyPr>
          <a:lstStyle/>
          <a:p>
            <a:pPr>
              <a:buNone/>
            </a:pPr>
            <a:r>
              <a:rPr lang="en-US" sz="2000" b="1" dirty="0" err="1">
                <a:effectLst/>
                <a:latin typeface="Times New Roman" panose="02020603050405020304" pitchFamily="18" charset="0"/>
                <a:cs typeface="Times New Roman" panose="02020603050405020304" pitchFamily="18" charset="0"/>
              </a:rPr>
              <a:t>Đánh</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giá</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tính</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chính</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xác</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và</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hiệu</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quả</a:t>
            </a:r>
            <a:endParaRPr lang="en-US" sz="2000" dirty="0">
              <a:effectLst/>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00E7B3C1-9837-C02D-64D1-28A8C913843F}"/>
              </a:ext>
            </a:extLst>
          </p:cNvPr>
          <p:cNvSpPr txBox="1"/>
          <p:nvPr/>
        </p:nvSpPr>
        <p:spPr>
          <a:xfrm>
            <a:off x="1453632" y="5061116"/>
            <a:ext cx="6577304" cy="830997"/>
          </a:xfrm>
          <a:prstGeom prst="rect">
            <a:avLst/>
          </a:prstGeom>
          <a:noFill/>
        </p:spPr>
        <p:txBody>
          <a:bodyPr wrap="square">
            <a:spAutoFit/>
          </a:bodyPr>
          <a:lstStyle/>
          <a:p>
            <a:pPr algn="just">
              <a:buNone/>
            </a:pPr>
            <a:r>
              <a:rPr lang="vi-VN" sz="1600" dirty="0">
                <a:solidFill>
                  <a:srgbClr val="000000"/>
                </a:solidFill>
                <a:effectLst/>
                <a:latin typeface="Times New Roman" panose="02020603050405020304" pitchFamily="18" charset="0"/>
                <a:cs typeface="Times New Roman" panose="02020603050405020304" pitchFamily="18" charset="0"/>
              </a:rPr>
              <a:t>Thông qua kiểm thử với nhiều trường hợp dữ liệu khác nhau, chương trình hoạt động ổn định, thể hiện tính chính xác của thuật toán SJF và Priority cũng như sự hiệu quả trong xử lý tài nguyên CPU.</a:t>
            </a:r>
            <a:endParaRPr lang="vi-VN" sz="160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544241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DE1AA-6FAD-191D-D895-B9E8B0BC25ED}"/>
              </a:ext>
            </a:extLst>
          </p:cNvPr>
          <p:cNvSpPr>
            <a:spLocks noGrp="1"/>
          </p:cNvSpPr>
          <p:nvPr>
            <p:ph type="title"/>
          </p:nvPr>
        </p:nvSpPr>
        <p:spPr>
          <a:xfrm>
            <a:off x="0" y="1228232"/>
            <a:ext cx="12192000" cy="767410"/>
          </a:xfrm>
        </p:spPr>
        <p:txBody>
          <a:bodyPr>
            <a:normAutofit/>
          </a:bodyPr>
          <a:lstStyle/>
          <a:p>
            <a:pPr algn="ctr"/>
            <a:r>
              <a:rPr lang="en-US" b="1" dirty="0" err="1">
                <a:latin typeface="Times New Roman" panose="02020603050405020304" pitchFamily="18" charset="0"/>
              </a:rPr>
              <a:t>Phần</a:t>
            </a:r>
            <a:r>
              <a:rPr lang="en-US" b="1" dirty="0">
                <a:latin typeface="Times New Roman" panose="02020603050405020304" pitchFamily="18" charset="0"/>
              </a:rPr>
              <a:t> </a:t>
            </a:r>
            <a:r>
              <a:rPr lang="en-US" b="1" dirty="0" err="1">
                <a:latin typeface="Times New Roman" panose="02020603050405020304" pitchFamily="18" charset="0"/>
              </a:rPr>
              <a:t>kết</a:t>
            </a:r>
            <a:r>
              <a:rPr lang="en-US" b="1" dirty="0">
                <a:latin typeface="Times New Roman" panose="02020603050405020304" pitchFamily="18" charset="0"/>
              </a:rPr>
              <a:t> </a:t>
            </a:r>
            <a:r>
              <a:rPr lang="en-US" b="1" dirty="0" err="1">
                <a:latin typeface="Times New Roman" panose="02020603050405020304" pitchFamily="18" charset="0"/>
              </a:rPr>
              <a:t>luận</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32B718FC-FA73-F42D-A3F5-13BC3CF0D4E3}"/>
              </a:ext>
            </a:extLst>
          </p:cNvPr>
          <p:cNvSpPr>
            <a:spLocks noGrp="1"/>
          </p:cNvSpPr>
          <p:nvPr>
            <p:ph type="sldNum" sz="quarter" idx="12"/>
          </p:nvPr>
        </p:nvSpPr>
        <p:spPr/>
        <p:txBody>
          <a:bodyPr/>
          <a:lstStyle/>
          <a:p>
            <a:fld id="{6C56B8FA-5C00-4693-8C7F-3776FF570F07}" type="slidenum">
              <a:rPr lang="en-US" smtClean="0"/>
              <a:t>20</a:t>
            </a:fld>
            <a:endParaRPr lang="en-US"/>
          </a:p>
        </p:txBody>
      </p:sp>
      <p:sp>
        <p:nvSpPr>
          <p:cNvPr id="7" name="Rectangle: Rounded Corners 6">
            <a:extLst>
              <a:ext uri="{FF2B5EF4-FFF2-40B4-BE49-F238E27FC236}">
                <a16:creationId xmlns:a16="http://schemas.microsoft.com/office/drawing/2014/main" id="{4F9A054E-4B71-A421-07D6-6E48F8BD8B6E}"/>
              </a:ext>
            </a:extLst>
          </p:cNvPr>
          <p:cNvSpPr/>
          <p:nvPr/>
        </p:nvSpPr>
        <p:spPr>
          <a:xfrm>
            <a:off x="838198" y="2216466"/>
            <a:ext cx="10731759" cy="156488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Rounded Corners 7">
            <a:extLst>
              <a:ext uri="{FF2B5EF4-FFF2-40B4-BE49-F238E27FC236}">
                <a16:creationId xmlns:a16="http://schemas.microsoft.com/office/drawing/2014/main" id="{8C841358-AF98-05D9-D929-28EE44B25C52}"/>
              </a:ext>
            </a:extLst>
          </p:cNvPr>
          <p:cNvSpPr/>
          <p:nvPr/>
        </p:nvSpPr>
        <p:spPr>
          <a:xfrm>
            <a:off x="838198" y="4197674"/>
            <a:ext cx="10731759" cy="1530520"/>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A75DFC9-64FE-0C37-ACB0-0CC8E4891FA9}"/>
              </a:ext>
            </a:extLst>
          </p:cNvPr>
          <p:cNvSpPr txBox="1"/>
          <p:nvPr/>
        </p:nvSpPr>
        <p:spPr>
          <a:xfrm>
            <a:off x="1145333" y="2352864"/>
            <a:ext cx="6097554" cy="461665"/>
          </a:xfrm>
          <a:prstGeom prst="rect">
            <a:avLst/>
          </a:prstGeom>
          <a:noFill/>
        </p:spPr>
        <p:txBody>
          <a:bodyPr wrap="square">
            <a:spAutoFit/>
          </a:bodyPr>
          <a:lstStyle/>
          <a:p>
            <a:pPr>
              <a:buNone/>
            </a:pPr>
            <a:r>
              <a:rPr lang="vi-VN" sz="2400" b="1" dirty="0">
                <a:effectLst/>
                <a:latin typeface="Times New Roman" panose="02020603050405020304" pitchFamily="18" charset="0"/>
                <a:cs typeface="Times New Roman" panose="02020603050405020304" pitchFamily="18" charset="0"/>
              </a:rPr>
              <a:t>Tổng kết bài học và kết quả đạt được</a:t>
            </a:r>
            <a:endParaRPr lang="vi-VN" sz="2400" dirty="0">
              <a:effectLst/>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8D7B983-E741-BA57-FEA2-6304885B1438}"/>
              </a:ext>
            </a:extLst>
          </p:cNvPr>
          <p:cNvSpPr txBox="1"/>
          <p:nvPr/>
        </p:nvSpPr>
        <p:spPr>
          <a:xfrm>
            <a:off x="1140279" y="2846582"/>
            <a:ext cx="9911442" cy="646331"/>
          </a:xfrm>
          <a:prstGeom prst="rect">
            <a:avLst/>
          </a:prstGeom>
          <a:noFill/>
        </p:spPr>
        <p:txBody>
          <a:bodyPr wrap="square">
            <a:spAutoFit/>
          </a:bodyPr>
          <a:lstStyle/>
          <a:p>
            <a:pPr algn="just">
              <a:buNone/>
            </a:pPr>
            <a:r>
              <a:rPr lang="en-US" dirty="0" err="1">
                <a:effectLst/>
                <a:latin typeface="Times New Roman" panose="02020603050405020304" pitchFamily="18" charset="0"/>
                <a:cs typeface="Times New Roman" panose="02020603050405020304" pitchFamily="18" charset="0"/>
              </a:rPr>
              <a:t>Đội</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ngũ</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phát</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triển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đã</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nâng</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cao</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kiến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thức</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về</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thuật</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toán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lập</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lịch</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cải</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tiến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kỹ</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năng</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thực</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hiện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dự</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án</a:t>
            </a:r>
            <a:r>
              <a:rPr lang="en-US" dirty="0">
                <a:effectLst/>
                <a:latin typeface="Times New Roman" panose="02020603050405020304" pitchFamily="18" charset="0"/>
                <a:cs typeface="Times New Roman" panose="02020603050405020304" pitchFamily="18" charset="0"/>
              </a:rPr>
              <a:t> group, </a:t>
            </a:r>
            <a:r>
              <a:rPr lang="en-US" dirty="0" err="1">
                <a:effectLst/>
                <a:latin typeface="Times New Roman" panose="02020603050405020304" pitchFamily="18" charset="0"/>
                <a:cs typeface="Times New Roman" panose="02020603050405020304" pitchFamily="18" charset="0"/>
              </a:rPr>
              <a:t>đồng</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thời</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hoàn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thiện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một</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ứng</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dụng</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có</a:t>
            </a:r>
            <a:r>
              <a:rPr lang="en-US" dirty="0">
                <a:effectLst/>
                <a:latin typeface="Times New Roman" panose="02020603050405020304" pitchFamily="18" charset="0"/>
                <a:cs typeface="Times New Roman" panose="02020603050405020304" pitchFamily="18" charset="0"/>
              </a:rPr>
              <a:t> ý </a:t>
            </a:r>
            <a:r>
              <a:rPr lang="en-US" dirty="0" err="1">
                <a:effectLst/>
                <a:latin typeface="Times New Roman" panose="02020603050405020304" pitchFamily="18" charset="0"/>
                <a:cs typeface="Times New Roman" panose="02020603050405020304" pitchFamily="18" charset="0"/>
              </a:rPr>
              <a:t>nghĩa</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giáo</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dục</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và</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thực</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tiễn</a:t>
            </a:r>
            <a:r>
              <a:rPr lang="en-US" dirty="0">
                <a:effectLst/>
                <a:latin typeface="Times New Roman" panose="02020603050405020304" pitchFamily="18" charset="0"/>
                <a:cs typeface="Times New Roman" panose="02020603050405020304" pitchFamily="18" charset="0"/>
              </a:rPr>
              <a:t>.</a:t>
            </a:r>
          </a:p>
        </p:txBody>
      </p:sp>
      <p:sp>
        <p:nvSpPr>
          <p:cNvPr id="14" name="TextBox 13">
            <a:extLst>
              <a:ext uri="{FF2B5EF4-FFF2-40B4-BE49-F238E27FC236}">
                <a16:creationId xmlns:a16="http://schemas.microsoft.com/office/drawing/2014/main" id="{59FD75A5-EA43-063F-FBE6-B7640FF0DFD4}"/>
              </a:ext>
            </a:extLst>
          </p:cNvPr>
          <p:cNvSpPr txBox="1"/>
          <p:nvPr/>
        </p:nvSpPr>
        <p:spPr>
          <a:xfrm>
            <a:off x="1140279" y="4341939"/>
            <a:ext cx="6097554" cy="461665"/>
          </a:xfrm>
          <a:prstGeom prst="rect">
            <a:avLst/>
          </a:prstGeom>
          <a:noFill/>
        </p:spPr>
        <p:txBody>
          <a:bodyPr wrap="square">
            <a:spAutoFit/>
          </a:bodyPr>
          <a:lstStyle/>
          <a:p>
            <a:pPr>
              <a:buNone/>
            </a:pPr>
            <a:r>
              <a:rPr lang="vi-VN" sz="2400" b="1" dirty="0">
                <a:effectLst/>
                <a:latin typeface="Times New Roman" panose="02020603050405020304" pitchFamily="18" charset="0"/>
                <a:cs typeface="Times New Roman" panose="02020603050405020304" pitchFamily="18" charset="0"/>
              </a:rPr>
              <a:t>Định hướng phát triển tương lai</a:t>
            </a:r>
            <a:endParaRPr lang="vi-VN" sz="2400" dirty="0">
              <a:effectLst/>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27092E6D-EA73-83DE-16B7-6CDCCAC21D6C}"/>
              </a:ext>
            </a:extLst>
          </p:cNvPr>
          <p:cNvSpPr txBox="1"/>
          <p:nvPr/>
        </p:nvSpPr>
        <p:spPr>
          <a:xfrm>
            <a:off x="1140279" y="4798338"/>
            <a:ext cx="10213522" cy="646331"/>
          </a:xfrm>
          <a:prstGeom prst="rect">
            <a:avLst/>
          </a:prstGeom>
          <a:noFill/>
        </p:spPr>
        <p:txBody>
          <a:bodyPr wrap="square">
            <a:spAutoFit/>
          </a:bodyPr>
          <a:lstStyle/>
          <a:p>
            <a:pPr algn="just">
              <a:buNone/>
            </a:pPr>
            <a:r>
              <a:rPr lang="vi-VN" dirty="0">
                <a:effectLst/>
                <a:latin typeface="Times New Roman" panose="02020603050405020304" pitchFamily="18" charset="0"/>
                <a:cs typeface="Times New Roman" panose="02020603050405020304" pitchFamily="18" charset="0"/>
              </a:rPr>
              <a:t>Dù đạt được mục tiêu đề ra, nhóm nhận thấy tiềm năng mở rộng ứng dụng với giao diện trực quan hơn, cũng như bổ sung chức năng so sánh hiệu quả giữa các thuật toán để phục vụ nhu cầu nghiên cứu sâu hơn.</a:t>
            </a:r>
          </a:p>
        </p:txBody>
      </p:sp>
    </p:spTree>
    <p:extLst>
      <p:ext uri="{BB962C8B-B14F-4D97-AF65-F5344CB8AC3E}">
        <p14:creationId xmlns:p14="http://schemas.microsoft.com/office/powerpoint/2010/main" val="32322308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65C4B8D-18EE-878F-ADD3-1D6861041442}"/>
              </a:ext>
            </a:extLst>
          </p:cNvPr>
          <p:cNvSpPr>
            <a:spLocks noGrp="1"/>
          </p:cNvSpPr>
          <p:nvPr>
            <p:ph type="sldNum" sz="quarter" idx="12"/>
          </p:nvPr>
        </p:nvSpPr>
        <p:spPr/>
        <p:txBody>
          <a:bodyPr/>
          <a:lstStyle/>
          <a:p>
            <a:fld id="{6C56B8FA-5C00-4693-8C7F-3776FF570F07}" type="slidenum">
              <a:rPr lang="en-US" smtClean="0"/>
              <a:t>21</a:t>
            </a:fld>
            <a:endParaRPr lang="en-US"/>
          </a:p>
        </p:txBody>
      </p:sp>
      <p:sp>
        <p:nvSpPr>
          <p:cNvPr id="8" name="TextBox 7">
            <a:extLst>
              <a:ext uri="{FF2B5EF4-FFF2-40B4-BE49-F238E27FC236}">
                <a16:creationId xmlns:a16="http://schemas.microsoft.com/office/drawing/2014/main" id="{0DF82221-5C54-2CF5-1A01-09FF67A430EC}"/>
              </a:ext>
            </a:extLst>
          </p:cNvPr>
          <p:cNvSpPr txBox="1"/>
          <p:nvPr/>
        </p:nvSpPr>
        <p:spPr>
          <a:xfrm>
            <a:off x="0" y="2329934"/>
            <a:ext cx="12191999" cy="1862048"/>
          </a:xfrm>
          <a:prstGeom prst="rect">
            <a:avLst/>
          </a:prstGeom>
          <a:noFill/>
        </p:spPr>
        <p:txBody>
          <a:bodyPr wrap="square">
            <a:spAutoFit/>
          </a:bodyPr>
          <a:lstStyle/>
          <a:p>
            <a:pPr algn="ctr">
              <a:buNone/>
            </a:pPr>
            <a:r>
              <a:rPr lang="en-US" sz="11500" b="1" dirty="0">
                <a:effectLst/>
                <a:latin typeface="Times New Roman" panose="02020603050405020304" pitchFamily="18" charset="0"/>
                <a:cs typeface="Times New Roman" panose="02020603050405020304" pitchFamily="18" charset="0"/>
              </a:rPr>
              <a:t>Thank </a:t>
            </a:r>
            <a:r>
              <a:rPr lang="vi-VN" sz="11500" b="1" dirty="0" err="1">
                <a:effectLst/>
                <a:latin typeface="Times New Roman" panose="02020603050405020304" pitchFamily="18" charset="0"/>
                <a:cs typeface="Times New Roman" panose="02020603050405020304" pitchFamily="18" charset="0"/>
              </a:rPr>
              <a:t>you</a:t>
            </a:r>
            <a:r>
              <a:rPr lang="vi-VN" sz="11500" b="1" dirty="0">
                <a:effectLst/>
                <a:latin typeface="Times New Roman" panose="02020603050405020304" pitchFamily="18" charset="0"/>
                <a:cs typeface="Times New Roman" panose="02020603050405020304" pitchFamily="18" charset="0"/>
              </a:rPr>
              <a:t>!</a:t>
            </a:r>
            <a:endParaRPr lang="en-US" sz="1150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08222317"/>
      </p:ext>
    </p:extLst>
  </p:cSld>
  <p:clrMapOvr>
    <a:masterClrMapping/>
  </p:clrMapOvr>
</p:sld>
</file>

<file path=ppt/theme/theme1.xml><?xml version="1.0" encoding="utf-8"?>
<a:theme xmlns:a="http://schemas.openxmlformats.org/drawingml/2006/main" name="UTH-Slide-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TH-Slide-Theme" id="{2763F190-FCB6-4FC7-BA38-A1E39173AA87}" vid="{E1D9DFA4-F8AD-4E2F-9982-D367BC00A6B9}"/>
    </a:ext>
  </a:extLst>
</a:theme>
</file>

<file path=docProps/app.xml><?xml version="1.0" encoding="utf-8"?>
<Properties xmlns="http://schemas.openxmlformats.org/officeDocument/2006/extended-properties" xmlns:vt="http://schemas.openxmlformats.org/officeDocument/2006/docPropsVTypes">
  <Template>UTH-Slide-Theme (1)</Template>
  <TotalTime>1579</TotalTime>
  <Words>1535</Words>
  <Application>Microsoft Office PowerPoint</Application>
  <PresentationFormat>Widescreen</PresentationFormat>
  <Paragraphs>142</Paragraphs>
  <Slides>21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Arial</vt:lpstr>
      <vt:lpstr>Calibri</vt:lpstr>
      <vt:lpstr>Noto Sans SC</vt:lpstr>
      <vt:lpstr>Segoe UI Black</vt:lpstr>
      <vt:lpstr>Times New Roman</vt:lpstr>
      <vt:lpstr>UTH-Slide-Theme</vt:lpstr>
      <vt:lpstr>OS_SCH_04: Build an APP for demonstration CPU Scheduling algorithm: SJF (non-preemptive) and Priority (non-preemptive)</vt:lpstr>
      <vt:lpstr>MỤC LỤC</vt:lpstr>
      <vt:lpstr>01. Giới thiệu</vt:lpstr>
      <vt:lpstr>Mục tiêu</vt:lpstr>
      <vt:lpstr>Phạm vi</vt:lpstr>
      <vt:lpstr>02. Cấu trúc và triển khai chương trình</vt:lpstr>
      <vt:lpstr>Các mô-đun chương trình</vt:lpstr>
      <vt:lpstr>Sử dụng lớp quy trình</vt:lpstr>
      <vt:lpstr>Triển khai thuật toán SJF và thuật toán ưu tiên</vt:lpstr>
      <vt:lpstr>03. Xử lý và trực quan hóa dữ liệu</vt:lpstr>
      <vt:lpstr>Xử lý dữ liệu</vt:lpstr>
      <vt:lpstr>04. Thử nghiệm và Thách thức</vt:lpstr>
      <vt:lpstr>Các trường hợp thử nghiệm</vt:lpstr>
      <vt:lpstr>Thách thức và giải pháp</vt:lpstr>
      <vt:lpstr>05. Những bài học kinh nghiệm và hạn chế</vt:lpstr>
      <vt:lpstr>Những bài học kinh nghiệm</vt:lpstr>
      <vt:lpstr>Hạn chế</vt:lpstr>
      <vt:lpstr>06. Phần kết luận</vt:lpstr>
      <vt:lpstr>Phần kết luận</vt:lpstr>
      <vt:lpstr>Phần kết luận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Yui Karamy</dc:creator>
  <cp:lastModifiedBy>Yui Karamy</cp:lastModifiedBy>
  <cp:revision>17</cp:revision>
  <dcterms:created xsi:type="dcterms:W3CDTF">2026-04-09T14:51:15Z</dcterms:created>
  <dcterms:modified xsi:type="dcterms:W3CDTF">2026-04-14T15:39:46Z</dcterms:modified>
</cp:coreProperties>
</file>